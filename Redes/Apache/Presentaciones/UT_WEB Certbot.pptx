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9144000"/>
  <p:notesSz cx="6858000" cy="9144000"/>
  <p:embeddedFontLst>
    <p:embeddedFont>
      <p:font typeface="Ubuntu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Ubuntu-regular.fntdata"/><Relationship Id="rId14" Type="http://schemas.openxmlformats.org/officeDocument/2006/relationships/slide" Target="slides/slide10.xml"/><Relationship Id="rId17" Type="http://schemas.openxmlformats.org/officeDocument/2006/relationships/font" Target="fonts/Ubuntu-italic.fntdata"/><Relationship Id="rId16" Type="http://schemas.openxmlformats.org/officeDocument/2006/relationships/font" Target="fonts/Ubuntu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Ubuntu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9efa48570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39efa485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efa485706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9efa4857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efa485706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efa4857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efa485706_1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efa48570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efa485706_1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efa48570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efa485706_1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efa48570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fa485706_1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efa48570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efa485706_1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efa48570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efa485706_1_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efa485706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142079"/>
            <a:ext cx="82296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1907190"/>
            <a:ext cx="82296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914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13393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066150"/>
            <a:ext cx="8229600" cy="55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9906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-301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0668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-30162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Ubuntu"/>
              <a:buNone/>
              <a:defRPr b="1" sz="30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69450"/>
            <a:ext cx="8229600" cy="53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Char char="●"/>
              <a:defRPr sz="3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Char char="○"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Ubuntu"/>
              <a:buChar char="■"/>
              <a:defRPr sz="24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  <a:defRPr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○"/>
              <a:defRPr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■"/>
              <a:defRPr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  <a:defRPr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○"/>
              <a:defRPr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■"/>
              <a:defRPr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n.wikipedia.org/wiki/Certificate_authority" TargetMode="External"/><Relationship Id="rId4" Type="http://schemas.openxmlformats.org/officeDocument/2006/relationships/hyperlink" Target="https://es.wikipedia.org/wiki/Let's_Encrypt" TargetMode="External"/><Relationship Id="rId5" Type="http://schemas.openxmlformats.org/officeDocument/2006/relationships/hyperlink" Target="https://www.certsuperior.com/guia-certbot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Certificate_authorit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es.wikipedia.org/wiki/Let%27s_Encrypt" TargetMode="External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ctrTitle"/>
          </p:nvPr>
        </p:nvSpPr>
        <p:spPr>
          <a:xfrm>
            <a:off x="457200" y="142079"/>
            <a:ext cx="82296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WEB. Let’s Encrypt. </a:t>
            </a:r>
            <a:r>
              <a:rPr lang="es">
                <a:solidFill>
                  <a:schemeClr val="dk1"/>
                </a:solidFill>
              </a:rPr>
              <a:t>cert</a:t>
            </a:r>
            <a:r>
              <a:rPr lang="es"/>
              <a:t>bot.</a:t>
            </a:r>
            <a:endParaRPr/>
          </a:p>
        </p:txBody>
      </p:sp>
      <p:sp>
        <p:nvSpPr>
          <p:cNvPr id="36" name="Google Shape;36;p8"/>
          <p:cNvSpPr txBox="1"/>
          <p:nvPr/>
        </p:nvSpPr>
        <p:spPr>
          <a:xfrm>
            <a:off x="2140350" y="2683488"/>
            <a:ext cx="58161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5B595A"/>
                </a:solidFill>
                <a:latin typeface="Ubuntu"/>
                <a:ea typeface="Ubuntu"/>
                <a:cs typeface="Ubuntu"/>
                <a:sym typeface="Ubuntu"/>
              </a:rPr>
              <a:t>Servicios de Red e Internet</a:t>
            </a:r>
            <a:endParaRPr b="1" sz="2200">
              <a:solidFill>
                <a:srgbClr val="5B595A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5B595A"/>
                </a:solidFill>
                <a:latin typeface="Ubuntu"/>
                <a:ea typeface="Ubuntu"/>
                <a:cs typeface="Ubuntu"/>
                <a:sym typeface="Ubuntu"/>
              </a:rPr>
              <a:t>Prof. Diego J. Fernández Raposo</a:t>
            </a:r>
            <a:endParaRPr sz="2200">
              <a:solidFill>
                <a:srgbClr val="5B595A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5B595A"/>
                </a:solidFill>
                <a:latin typeface="Ubuntu"/>
                <a:ea typeface="Ubuntu"/>
                <a:cs typeface="Ubuntu"/>
                <a:sym typeface="Ubuntu"/>
              </a:rPr>
              <a:t>DPTO. INFORMÁTICA</a:t>
            </a:r>
            <a:endParaRPr sz="2200">
              <a:solidFill>
                <a:srgbClr val="5B595A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5B595A"/>
                </a:solidFill>
                <a:latin typeface="Ubuntu"/>
                <a:ea typeface="Ubuntu"/>
                <a:cs typeface="Ubuntu"/>
                <a:sym typeface="Ubuntu"/>
              </a:rPr>
              <a:t>IES DELGADO HERNÁNDEZ (HUELVA)</a:t>
            </a:r>
            <a:endParaRPr sz="2200">
              <a:solidFill>
                <a:srgbClr val="5B595A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25" y="2873768"/>
            <a:ext cx="1632375" cy="1110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Enlaces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066150"/>
            <a:ext cx="8229600" cy="55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600"/>
              </a:spcBef>
              <a:spcAft>
                <a:spcPts val="0"/>
              </a:spcAft>
              <a:buSzPts val="2500"/>
              <a:buChar char="●"/>
            </a:pPr>
            <a:r>
              <a:rPr lang="es" sz="2500" u="sng">
                <a:solidFill>
                  <a:schemeClr val="hlink"/>
                </a:solidFill>
                <a:hlinkClick r:id="rId3"/>
              </a:rPr>
              <a:t>Certificate authority - Wikipedia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s" sz="2500" u="sng">
                <a:solidFill>
                  <a:schemeClr val="hlink"/>
                </a:solidFill>
                <a:hlinkClick r:id="rId4"/>
              </a:rPr>
              <a:t>Let's Encrypt - Wikipedia, la enciclopedia libre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s" sz="2500" u="sng">
                <a:solidFill>
                  <a:schemeClr val="hlink"/>
                </a:solidFill>
                <a:hlinkClick r:id="rId5"/>
              </a:rPr>
              <a:t>Guía Certbot: ¿Qué es y para qué sirve?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Autoridad de Certificaci</a:t>
            </a:r>
            <a:r>
              <a:rPr lang="es"/>
              <a:t>ón (CA)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 Certificados Digitales</a:t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57200" y="1066150"/>
            <a:ext cx="8229600" cy="55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/>
              <a:t>¿Qué es una Autoridad de Certificación?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000"/>
              <a:t>Una </a:t>
            </a:r>
            <a:r>
              <a:rPr b="1" lang="es" sz="2000"/>
              <a:t>Autoridad de Certificación</a:t>
            </a:r>
            <a:r>
              <a:rPr lang="es" sz="2000"/>
              <a:t> (AC, en inglés CA) es una entidad de confianza del emisor y del receptor del mensaje. Esta confianza de ambos en una 'tercera parte confiable' permite que cualquiera de los dos confíe a su vez en los documentos firmados por la Autoridad de Certificación, en particular, en los documentos que identifican cada </a:t>
            </a:r>
            <a:r>
              <a:rPr b="1" lang="es" sz="2000"/>
              <a:t>clave pública</a:t>
            </a:r>
            <a:r>
              <a:rPr lang="es" sz="2000"/>
              <a:t> con su propietario correspondiente, en nuestro contexto el </a:t>
            </a:r>
            <a:r>
              <a:rPr b="1" lang="es" sz="2000"/>
              <a:t>propietario del Dominio</a:t>
            </a:r>
            <a:r>
              <a:rPr lang="es" sz="2000"/>
              <a:t> que se está </a:t>
            </a:r>
            <a:r>
              <a:rPr lang="es" sz="2000"/>
              <a:t>visitando</a:t>
            </a:r>
            <a:r>
              <a:rPr lang="es" sz="2000"/>
              <a:t>. </a:t>
            </a:r>
            <a:endParaRPr sz="20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300"/>
              <a:t>Se denominan </a:t>
            </a:r>
            <a:r>
              <a:rPr b="1" lang="es" sz="2300" u="sng"/>
              <a:t>certificados digitales</a:t>
            </a:r>
            <a:r>
              <a:rPr b="1" lang="es" sz="2300"/>
              <a:t> a la clave pública del Dominio firmada por la CA</a:t>
            </a:r>
            <a:r>
              <a:rPr lang="es" sz="2300"/>
              <a:t>.</a:t>
            </a:r>
            <a:endParaRPr sz="23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500"/>
              <a:t>Ver estadísticas en: </a:t>
            </a:r>
            <a:r>
              <a:rPr lang="es" sz="1500" u="sng">
                <a:solidFill>
                  <a:schemeClr val="hlink"/>
                </a:solidFill>
                <a:hlinkClick r:id="rId3"/>
              </a:rPr>
              <a:t>https://en.wikipedia.org/wiki/Certificate_authority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26" y="1177051"/>
            <a:ext cx="7999350" cy="49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funcionan los Certificados Digitales?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3927407"/>
            <a:ext cx="8229600" cy="26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/>
              <a:t>	     </a:t>
            </a:r>
            <a:r>
              <a:rPr lang="es">
                <a:highlight>
                  <a:schemeClr val="lt1"/>
                </a:highlight>
              </a:rPr>
              <a:t>Tu Navegador								       Sitio Web Seguro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-294299" lvl="0" marL="6300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s" sz="1800">
                <a:highlight>
                  <a:schemeClr val="lt1"/>
                </a:highlight>
              </a:rPr>
              <a:t>El sitio Web Seguro envía el certificado.</a:t>
            </a:r>
            <a:endParaRPr sz="1800">
              <a:highlight>
                <a:schemeClr val="lt1"/>
              </a:highlight>
            </a:endParaRPr>
          </a:p>
          <a:p>
            <a:pPr indent="-294299" lvl="0" marL="6300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s" sz="1800">
                <a:highlight>
                  <a:schemeClr val="lt1"/>
                </a:highlight>
              </a:rPr>
              <a:t>El Navegador comprueba que es válido.</a:t>
            </a:r>
            <a:endParaRPr sz="1800">
              <a:highlight>
                <a:schemeClr val="lt1"/>
              </a:highlight>
            </a:endParaRPr>
          </a:p>
          <a:p>
            <a:pPr indent="-294299" lvl="0" marL="6300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s" sz="1800">
                <a:highlight>
                  <a:schemeClr val="lt1"/>
                </a:highlight>
              </a:rPr>
              <a:t>Si es válido, la conexión cifrada comienza.</a:t>
            </a:r>
            <a:endParaRPr sz="18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0" y="1167125"/>
            <a:ext cx="4762500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Let’s Encrypt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066150"/>
            <a:ext cx="3924300" cy="55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200"/>
              <a:t>Let's Encrypt</a:t>
            </a:r>
            <a:r>
              <a:rPr lang="es" sz="2200"/>
              <a:t> es una </a:t>
            </a:r>
            <a:r>
              <a:rPr b="1" lang="es" sz="2200"/>
              <a:t>autoridad de certificación</a:t>
            </a:r>
            <a:r>
              <a:rPr lang="es" sz="2200"/>
              <a:t> (CA) que se puso en marcha en 2016 y que proporciona certificados X.509 </a:t>
            </a:r>
            <a:r>
              <a:rPr b="1" lang="es" sz="2200"/>
              <a:t>gratuitos </a:t>
            </a:r>
            <a:r>
              <a:rPr lang="es" sz="2200"/>
              <a:t>a través de un proceso automatizado.</a:t>
            </a:r>
            <a:endParaRPr sz="22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200"/>
              <a:t>¡Hasta esa fecha sólo se podían obtener pagando!</a:t>
            </a:r>
            <a:endParaRPr sz="22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200"/>
              <a:t>Hoy en día más del 60% de los certificados se obtienen de </a:t>
            </a:r>
            <a:r>
              <a:rPr lang="es" sz="2200" u="sng">
                <a:solidFill>
                  <a:schemeClr val="hlink"/>
                </a:solidFill>
                <a:hlinkClick r:id="rId4"/>
              </a:rPr>
              <a:t>Let’s Encrypt</a:t>
            </a:r>
            <a:r>
              <a:rPr lang="es" sz="2200"/>
              <a:t>.</a:t>
            </a:r>
            <a:endParaRPr sz="2200"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7325" y="1899475"/>
            <a:ext cx="1786925" cy="17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5575" y="159500"/>
            <a:ext cx="756450" cy="75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</a:t>
            </a:r>
            <a:r>
              <a:rPr lang="es">
                <a:solidFill>
                  <a:schemeClr val="dk1"/>
                </a:solidFill>
              </a:rPr>
              <a:t>cert</a:t>
            </a:r>
            <a:r>
              <a:rPr lang="es"/>
              <a:t>bot?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066150"/>
            <a:ext cx="82296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100"/>
              <a:t>Certbot </a:t>
            </a:r>
            <a:r>
              <a:rPr lang="es" sz="2100"/>
              <a:t>es una </a:t>
            </a:r>
            <a:r>
              <a:rPr b="1" lang="es" sz="2100"/>
              <a:t>herramienta sencilla</a:t>
            </a:r>
            <a:r>
              <a:rPr lang="es" sz="2100"/>
              <a:t> de software libre y de código abierto para obtener y renovar automáticamente los certificados de </a:t>
            </a:r>
            <a:r>
              <a:rPr b="1" lang="es" sz="2100"/>
              <a:t>Let's Encrypt </a:t>
            </a:r>
            <a:r>
              <a:rPr lang="es" sz="2100"/>
              <a:t>para asegurar sitios web seguros u otros servicios cifrados (mensajería, mail, ...). Simplifica el proceso automatizando la emisión, renovación e instalación de certificados con sólo unos pocos comandos. </a:t>
            </a:r>
            <a:r>
              <a:rPr b="1" lang="es" sz="2100"/>
              <a:t>Certbot</a:t>
            </a:r>
            <a:r>
              <a:rPr lang="es" sz="2100"/>
              <a:t> es compatible con muchos servidores web y sistemas operativos, por ello, es una opción muy popular para los administradores de sitios web.</a:t>
            </a:r>
            <a:endParaRPr sz="2100"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913" y="4106150"/>
            <a:ext cx="5806175" cy="198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 de </a:t>
            </a:r>
            <a:r>
              <a:rPr lang="es">
                <a:solidFill>
                  <a:schemeClr val="dk1"/>
                </a:solidFill>
              </a:rPr>
              <a:t>cert</a:t>
            </a:r>
            <a:r>
              <a:rPr lang="es"/>
              <a:t>bot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066150"/>
            <a:ext cx="8229600" cy="30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just">
              <a:spcBef>
                <a:spcPts val="60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Acceso de Administrador.</a:t>
            </a: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Servidor Web instalado: Apache, Nginx, IIS, etc...</a:t>
            </a: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S.O. compatible: Linux, Windows, MacOS, etc...</a:t>
            </a: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s" sz="2100"/>
              <a:t>Dominio asociado a la IP pública del servidor Web.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100"/>
              <a:t>Certbot validará tu control sobre el dominio y configurará automáticamente tu servidor para usar el certificado SSL/TLS.</a:t>
            </a:r>
            <a:endParaRPr sz="2100"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913" y="4106150"/>
            <a:ext cx="5806175" cy="198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de </a:t>
            </a:r>
            <a:r>
              <a:rPr lang="es">
                <a:solidFill>
                  <a:schemeClr val="dk1"/>
                </a:solidFill>
              </a:rPr>
              <a:t>cert</a:t>
            </a:r>
            <a:r>
              <a:rPr lang="es"/>
              <a:t>bot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57200" y="1294750"/>
            <a:ext cx="8229600" cy="1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100"/>
              <a:t>Instalar cert</a:t>
            </a:r>
            <a:r>
              <a:rPr lang="es" sz="2100">
                <a:solidFill>
                  <a:srgbClr val="DA0002"/>
                </a:solidFill>
              </a:rPr>
              <a:t>bot</a:t>
            </a:r>
            <a:r>
              <a:rPr lang="es" sz="2100"/>
              <a:t> en Ubuntu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177" y="1932529"/>
            <a:ext cx="7825424" cy="13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60080" y="3653184"/>
            <a:ext cx="8229600" cy="1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100"/>
              <a:t>Instalar cert</a:t>
            </a:r>
            <a:r>
              <a:rPr lang="es" sz="2100">
                <a:solidFill>
                  <a:srgbClr val="DA0002"/>
                </a:solidFill>
              </a:rPr>
              <a:t>bot</a:t>
            </a:r>
            <a:r>
              <a:rPr lang="es" sz="2100"/>
              <a:t> en CentOS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250" y="4347869"/>
            <a:ext cx="7363500" cy="155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 usar </a:t>
            </a:r>
            <a:r>
              <a:rPr lang="es">
                <a:solidFill>
                  <a:schemeClr val="dk1"/>
                </a:solidFill>
              </a:rPr>
              <a:t>c</a:t>
            </a:r>
            <a:r>
              <a:rPr lang="es">
                <a:solidFill>
                  <a:schemeClr val="dk1"/>
                </a:solidFill>
              </a:rPr>
              <a:t>ert</a:t>
            </a:r>
            <a:r>
              <a:rPr lang="es"/>
              <a:t>bot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457200" y="1294750"/>
            <a:ext cx="8229600" cy="1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100"/>
              <a:t>Uso de c</a:t>
            </a:r>
            <a:r>
              <a:rPr lang="es" sz="2100"/>
              <a:t>ertbot con Apache: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60080" y="2967384"/>
            <a:ext cx="8229600" cy="1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100"/>
              <a:t>Uso de certbot con Nginx: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10112" t="0"/>
          <a:stretch/>
        </p:blipFill>
        <p:spPr>
          <a:xfrm>
            <a:off x="933450" y="1881200"/>
            <a:ext cx="7362826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788" y="3619500"/>
            <a:ext cx="736282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60080" y="4789760"/>
            <a:ext cx="8229600" cy="1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" sz="2100"/>
              <a:t>Estos comandos solicitarán un certificado SSL/TLS para tu dominio especificado y configurarán automáticamente el servidor web para usarlo.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457200" y="-106362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Renovación Automática de Certificados</a:t>
            </a:r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457200" y="1294750"/>
            <a:ext cx="8229600" cy="27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100"/>
              <a:t>Cert</a:t>
            </a:r>
            <a:r>
              <a:rPr b="1" lang="es" sz="2100">
                <a:solidFill>
                  <a:srgbClr val="DA0002"/>
                </a:solidFill>
              </a:rPr>
              <a:t>bot</a:t>
            </a:r>
            <a:r>
              <a:rPr lang="es" sz="2100"/>
              <a:t> incluye un servicio de renovación automática para asegurarse de que tus certificados nunca caduquen. Los certificados de Let's Encrypt tienen una </a:t>
            </a:r>
            <a:r>
              <a:rPr lang="es" sz="2100" u="sng"/>
              <a:t>validez de 90 días</a:t>
            </a:r>
            <a:r>
              <a:rPr lang="es" sz="2100"/>
              <a:t>, por lo que es esencial configurar la renovación automática.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100"/>
              <a:t>Cert</a:t>
            </a:r>
            <a:r>
              <a:rPr b="1" lang="es" sz="2100">
                <a:solidFill>
                  <a:srgbClr val="DA0002"/>
                </a:solidFill>
              </a:rPr>
              <a:t>bot</a:t>
            </a:r>
            <a:r>
              <a:rPr b="1" lang="es" sz="2100"/>
              <a:t> actualmente NO añade automáticamente una tarea cron</a:t>
            </a:r>
            <a:r>
              <a:rPr lang="es" sz="2100"/>
              <a:t> al instalar un certificado, debe añadir al cron:</a:t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188" y="4229272"/>
            <a:ext cx="5381625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4059938" y="4716835"/>
            <a:ext cx="1298400" cy="64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