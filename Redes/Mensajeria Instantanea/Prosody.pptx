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9" r:id="rId12"/>
    <p:sldId id="270" r:id="rId13"/>
    <p:sldId id="271" r:id="rId14"/>
    <p:sldId id="264" r:id="rId15"/>
    <p:sldId id="265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6A15-6E39-4FFA-B5DC-89EB633E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1371600"/>
            <a:ext cx="8127574" cy="2736443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169311-3201-45EC-B973-82EC27DA5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300" y="4299358"/>
            <a:ext cx="8127574" cy="1187042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2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AE4B9-EDEF-4A2C-B464-332C5C624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4C951-4861-4549-8E72-CEECA89E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E1401-5637-41BC-AC21-89105645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60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3747-9ADB-4FCC-89CE-6E84D134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EC9C6-5D7D-4249-8820-D4C99D0AE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F35F7-46A1-40A9-ACD7-C4923992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45637-B780-4999-A87D-0039BC5A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9777F-E471-4CC5-B27B-137CB061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361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DCB1D-064E-46DE-B533-7CDA331EE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2748406"/>
            <a:ext cx="8115300" cy="273799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222C0-D002-4A94-BAFF-FD1A1CCA6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1371600"/>
            <a:ext cx="8115300" cy="133327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E7D7E-EC9F-4AA5-A559-EF556C6A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7A8EE-88C1-400C-A23F-656DC76B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245A4-F9C6-44E9-929F-78C657C8B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870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F34F-B65E-4FA0-87E8-8890F482B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9382348" cy="1371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25A67-10CA-4531-93E1-39892C087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8297" y="2057400"/>
            <a:ext cx="4553103" cy="41250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2BE36-0CAF-4D92-9AC2-9249276B9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000" y="2057400"/>
            <a:ext cx="4543647" cy="4125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36479-3B04-43BD-9B59-DBF6CA2B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D4449-57DB-41D2-B49E-694E7C13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0CC2C-E50B-47D2-B62F-D5C4C9CD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208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8530B-D0F2-4FC4-A10F-1E54EF82C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755118"/>
            <a:ext cx="9378304" cy="122276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8865C-9D06-4FA3-BA3D-7187BB41B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56570-8F97-4B7E-A805-96925AC47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8300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57EF54-F63F-4730-99EE-0E472578F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87213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08453E-B012-4889-9F49-E1351532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87213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FC47A-8514-4C98-B1BE-FF6CC666C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D4301A-D375-4163-9488-27A9CDC6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ED6105-4A37-4D4B-9BE8-715FB732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668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007F-6649-4D23-8869-C1CC29D00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B85A1-41F9-4BC1-9C40-3E5D5C04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23774-EAA9-47ED-87EF-EE2B29A25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26550-DD4D-45E2-8916-8314C5D0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166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5FACD-1A4D-49F3-8EA8-21B5C1A6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FD9DD-0E4E-4C36-AF85-B3EAD7FE6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6F4C8-14FA-4405-85EE-ABF53FB0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59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7C28-5DEE-493D-ABAD-38E4F2D75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621" y="1085481"/>
            <a:ext cx="365118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E79C5-E567-4F12-96B8-8BBEAE3D8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6900" y="1132676"/>
            <a:ext cx="5289480" cy="4728374"/>
          </a:xfrm>
        </p:spPr>
        <p:txBody>
          <a:bodyPr/>
          <a:lstStyle>
            <a:lvl1pPr>
              <a:lnSpc>
                <a:spcPct val="110000"/>
              </a:lnSpc>
              <a:defRPr sz="3200"/>
            </a:lvl1pPr>
            <a:lvl2pPr>
              <a:lnSpc>
                <a:spcPct val="110000"/>
              </a:lnSpc>
              <a:defRPr sz="2800"/>
            </a:lvl2pPr>
            <a:lvl3pPr>
              <a:lnSpc>
                <a:spcPct val="110000"/>
              </a:lnSpc>
              <a:defRPr sz="2400"/>
            </a:lvl3pPr>
            <a:lvl4pPr>
              <a:lnSpc>
                <a:spcPct val="110000"/>
              </a:lnSpc>
              <a:defRPr sz="2000"/>
            </a:lvl4pPr>
            <a:lvl5pPr>
              <a:lnSpc>
                <a:spcPct val="11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3DF7F-0B5C-40CE-A65F-779FA7EFB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5621" y="2748406"/>
            <a:ext cx="365118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2248C-1826-4833-9592-383B5873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219DC-2646-42AD-897A-EB765DCBE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238D7-4EEA-475B-B1CA-C44B89BEA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328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65BE-C907-4660-A586-71C6A1D1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085481"/>
            <a:ext cx="365760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4C8A9-67DF-419C-B2FC-3A879CCEF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6900" y="1061885"/>
            <a:ext cx="5331069" cy="47755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A94A1-3058-402A-9C3F-2F210D91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2748406"/>
            <a:ext cx="365760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3CA50-C8D8-4F83-B2F6-BCE825866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E5BE3-7B02-4281-BD90-C1FAAF63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E256D-ACD5-438F-BA6F-605E5260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58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D0E6-AD36-493C-9DC3-5ACC2059E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B8558-FA83-4F6C-A6D1-2DF9D3F74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38299" y="2057399"/>
            <a:ext cx="8915401" cy="41148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DE619-0CC6-4480-ABDE-277D36BD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791E6-BE35-4ECA-8AD1-E8EC09B85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94606-B928-42D6-85CC-9576F60E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87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F18D8A-5002-491C-922A-E9624E2DB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882C6-2BE9-4E25-B8BB-A2346A2B0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BEFF9-B3BC-4C07-BF6C-2E3C91B5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F4CF6-CDF1-4AFD-8319-71FD4FED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1A026-57F4-47F7-B4F0-E0D48E012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595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1A689-589E-4A73-9313-EF44F7E4E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B11B8-9E77-4144-B9C1-FD164D9A1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57400"/>
            <a:ext cx="8915402" cy="4137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6E4CC-CF79-4C8D-9E5F-1BB517435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1001475" y="1517536"/>
            <a:ext cx="28011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B6D41BCC-AD73-4203-A5A6-E62EB28B0FE6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79449-05F6-4BC7-95DF-F04E1F161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118764" y="4237870"/>
            <a:ext cx="33440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17FE5-2D1F-4ECC-9460-08145C3BB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8877" y="6319138"/>
            <a:ext cx="7106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066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794" r:id="rId6"/>
    <p:sldLayoutId id="2147483790" r:id="rId7"/>
    <p:sldLayoutId id="2147483791" r:id="rId8"/>
    <p:sldLayoutId id="2147483792" r:id="rId9"/>
    <p:sldLayoutId id="2147483793" r:id="rId10"/>
    <p:sldLayoutId id="214748379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prosody.im/doc/console" TargetMode="External"/><Relationship Id="rId3" Type="http://schemas.openxmlformats.org/officeDocument/2006/relationships/hyperlink" Target="https://prosody.im/doc/modules/mod_c2s" TargetMode="External"/><Relationship Id="rId7" Type="http://schemas.openxmlformats.org/officeDocument/2006/relationships/hyperlink" Target="https://prosody.im/doc/components" TargetMode="External"/><Relationship Id="rId2" Type="http://schemas.openxmlformats.org/officeDocument/2006/relationships/hyperlink" Target="https://prosody.im/doc/modules/mod_proxy6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osody.im/doc/http" TargetMode="External"/><Relationship Id="rId5" Type="http://schemas.openxmlformats.org/officeDocument/2006/relationships/hyperlink" Target="https://prosody.im/doc/ports#fn1" TargetMode="External"/><Relationship Id="rId4" Type="http://schemas.openxmlformats.org/officeDocument/2006/relationships/hyperlink" Target="https://prosody.im/doc/modules/mod_s2s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im07.institutodh.net:5281/admi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mailto:sergio@im07.institutodh.net" TargetMode="External"/><Relationship Id="rId13" Type="http://schemas.openxmlformats.org/officeDocument/2006/relationships/hyperlink" Target="mailto:solo_socios@conference.im07.institutodh.net" TargetMode="External"/><Relationship Id="rId3" Type="http://schemas.openxmlformats.org/officeDocument/2006/relationships/hyperlink" Target="mailto:pablo@im07.institutodh.net" TargetMode="External"/><Relationship Id="rId7" Type="http://schemas.openxmlformats.org/officeDocument/2006/relationships/hyperlink" Target="mailto:gonzalo@im07.institutodh.net" TargetMode="External"/><Relationship Id="rId12" Type="http://schemas.openxmlformats.org/officeDocument/2006/relationships/hyperlink" Target="mailto:sala_cerrada@conference.im07.institutodh.net" TargetMode="External"/><Relationship Id="rId2" Type="http://schemas.openxmlformats.org/officeDocument/2006/relationships/hyperlink" Target="mailto:cepeda@im07.institutodh.ne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mario@im07.institutodh.net" TargetMode="External"/><Relationship Id="rId11" Type="http://schemas.openxmlformats.org/officeDocument/2006/relationships/hyperlink" Target="mailto:sala_muy_cerrada@conference.im07.institutodh.net" TargetMode="External"/><Relationship Id="rId5" Type="http://schemas.openxmlformats.org/officeDocument/2006/relationships/hyperlink" Target="mailto:armando@im07.institutodh.net" TargetMode="External"/><Relationship Id="rId10" Type="http://schemas.openxmlformats.org/officeDocument/2006/relationships/hyperlink" Target="mailto:half-life_3@conference.im07.institutodh.net" TargetMode="External"/><Relationship Id="rId4" Type="http://schemas.openxmlformats.org/officeDocument/2006/relationships/hyperlink" Target="mailto:andres@im07.institutodh.net" TargetMode="External"/><Relationship Id="rId9" Type="http://schemas.openxmlformats.org/officeDocument/2006/relationships/hyperlink" Target="mailto:musho_betis@conference.im07.institutodh.net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44DFB53-C7FE-4BC7-BA96-83262BE09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3A1BC-FBDB-71E3-C509-EA0456456E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461823"/>
            <a:ext cx="9334500" cy="771845"/>
          </a:xfrm>
        </p:spPr>
        <p:txBody>
          <a:bodyPr>
            <a:normAutofit/>
          </a:bodyPr>
          <a:lstStyle/>
          <a:p>
            <a:r>
              <a:rPr lang="es-ES" sz="3200"/>
              <a:t>Prosody</a:t>
            </a:r>
            <a:endParaRPr lang="en-US" sz="32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B365FB-F9E1-16D9-D81A-BCFBFEC13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1306948"/>
            <a:ext cx="9334500" cy="1301341"/>
          </a:xfrm>
        </p:spPr>
        <p:txBody>
          <a:bodyPr>
            <a:normAutofit/>
          </a:bodyPr>
          <a:lstStyle/>
          <a:p>
            <a:r>
              <a:rPr lang="es-ES" sz="1600" b="1" dirty="0"/>
              <a:t>Mensajería instantánea</a:t>
            </a:r>
          </a:p>
          <a:p>
            <a:r>
              <a:rPr lang="en-US" sz="1600" b="1" dirty="0"/>
              <a:t>Prosody </a:t>
            </a:r>
            <a:r>
              <a:rPr lang="en-US" sz="1600" b="1" dirty="0" err="1"/>
              <a:t>sobre</a:t>
            </a:r>
            <a:r>
              <a:rPr lang="en-US" sz="1600" b="1" dirty="0"/>
              <a:t> AWS EC2</a:t>
            </a:r>
            <a:endParaRPr lang="es-ES" sz="1600" b="1" dirty="0"/>
          </a:p>
          <a:p>
            <a:endParaRPr lang="en-US" sz="16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E0CED92-0087-5973-B3FE-036AEB518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475" y="461823"/>
            <a:ext cx="6048375" cy="604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ítulo 2">
            <a:extLst>
              <a:ext uri="{FF2B5EF4-FFF2-40B4-BE49-F238E27FC236}">
                <a16:creationId xmlns:a16="http://schemas.microsoft.com/office/drawing/2014/main" id="{6E939959-A323-57A3-48AB-4DD5F9C9EC5F}"/>
              </a:ext>
            </a:extLst>
          </p:cNvPr>
          <p:cNvSpPr txBox="1">
            <a:spLocks/>
          </p:cNvSpPr>
          <p:nvPr/>
        </p:nvSpPr>
        <p:spPr>
          <a:xfrm>
            <a:off x="1219200" y="5059373"/>
            <a:ext cx="9334500" cy="10831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 cap="all" spc="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b="1" dirty="0"/>
              <a:t>Servicios de red e internet</a:t>
            </a:r>
          </a:p>
          <a:p>
            <a:r>
              <a:rPr lang="es-ES" sz="1600" b="1" dirty="0"/>
              <a:t>Cristóbal Suárez abad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3647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8F337A-C5F5-07CE-0E2B-68ED0C362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</a:t>
            </a:r>
            <a:r>
              <a:rPr lang="en-US" dirty="0" err="1"/>
              <a:t>uertos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AWS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310B53-CEAE-8BA8-B775-266532E70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2057400"/>
            <a:ext cx="9350266" cy="4137259"/>
          </a:xfrm>
        </p:spPr>
        <p:txBody>
          <a:bodyPr/>
          <a:lstStyle/>
          <a:p>
            <a:r>
              <a:rPr lang="es-ES" b="1" dirty="0"/>
              <a:t>EC2 </a:t>
            </a:r>
            <a:r>
              <a:rPr lang="es-ES" b="1" dirty="0">
                <a:sym typeface="Wingdings" panose="05000000000000000000" pitchFamily="2" charset="2"/>
              </a:rPr>
              <a:t></a:t>
            </a:r>
            <a:r>
              <a:rPr lang="es-ES" b="1" dirty="0"/>
              <a:t> Selecciona la instancia </a:t>
            </a:r>
            <a:r>
              <a:rPr lang="es-ES" b="1" dirty="0">
                <a:sym typeface="Wingdings" panose="05000000000000000000" pitchFamily="2" charset="2"/>
              </a:rPr>
              <a:t></a:t>
            </a:r>
            <a:r>
              <a:rPr lang="es-ES" b="1" dirty="0"/>
              <a:t> Security </a:t>
            </a:r>
            <a:r>
              <a:rPr lang="es-ES" b="1" dirty="0">
                <a:sym typeface="Wingdings" panose="05000000000000000000" pitchFamily="2" charset="2"/>
              </a:rPr>
              <a:t></a:t>
            </a:r>
            <a:r>
              <a:rPr lang="es-ES" b="1" dirty="0"/>
              <a:t> Security </a:t>
            </a:r>
            <a:r>
              <a:rPr lang="es-ES" b="1" dirty="0" err="1"/>
              <a:t>Groups</a:t>
            </a:r>
            <a:r>
              <a:rPr lang="es-ES" b="1" dirty="0"/>
              <a:t> </a:t>
            </a:r>
            <a:r>
              <a:rPr lang="es-ES" b="1" dirty="0">
                <a:sym typeface="Wingdings" panose="05000000000000000000" pitchFamily="2" charset="2"/>
              </a:rPr>
              <a:t></a:t>
            </a:r>
            <a:r>
              <a:rPr lang="es-ES" b="1" dirty="0"/>
              <a:t> </a:t>
            </a:r>
            <a:r>
              <a:rPr lang="es-ES" b="1" dirty="0" err="1"/>
              <a:t>Inbound</a:t>
            </a:r>
            <a:r>
              <a:rPr lang="es-ES" b="1" dirty="0"/>
              <a:t>/</a:t>
            </a:r>
            <a:r>
              <a:rPr lang="es-ES" b="1" dirty="0" err="1"/>
              <a:t>Outbound</a:t>
            </a:r>
            <a:r>
              <a:rPr lang="es-ES" b="1" dirty="0"/>
              <a:t> Rules.</a:t>
            </a:r>
            <a:endParaRPr lang="en-US" b="1" dirty="0"/>
          </a:p>
          <a:p>
            <a:endParaRPr lang="en-US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A608187-1852-4058-DB6F-E1758928C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181130"/>
              </p:ext>
            </p:extLst>
          </p:nvPr>
        </p:nvGraphicFramePr>
        <p:xfrm>
          <a:off x="1790699" y="2971800"/>
          <a:ext cx="8630307" cy="3200400"/>
        </p:xfrm>
        <a:graphic>
          <a:graphicData uri="http://schemas.openxmlformats.org/drawingml/2006/table">
            <a:tbl>
              <a:tblPr/>
              <a:tblGrid>
                <a:gridCol w="2876769">
                  <a:extLst>
                    <a:ext uri="{9D8B030D-6E8A-4147-A177-3AD203B41FA5}">
                      <a16:colId xmlns:a16="http://schemas.microsoft.com/office/drawing/2014/main" val="1335331175"/>
                    </a:ext>
                  </a:extLst>
                </a:gridCol>
                <a:gridCol w="2876769">
                  <a:extLst>
                    <a:ext uri="{9D8B030D-6E8A-4147-A177-3AD203B41FA5}">
                      <a16:colId xmlns:a16="http://schemas.microsoft.com/office/drawing/2014/main" val="3600619523"/>
                    </a:ext>
                  </a:extLst>
                </a:gridCol>
                <a:gridCol w="2876769">
                  <a:extLst>
                    <a:ext uri="{9D8B030D-6E8A-4147-A177-3AD203B41FA5}">
                      <a16:colId xmlns:a16="http://schemas.microsoft.com/office/drawing/2014/main" val="1584452085"/>
                    </a:ext>
                  </a:extLst>
                </a:gridCol>
              </a:tblGrid>
              <a:tr h="358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interfaces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5415460"/>
                  </a:ext>
                </a:extLst>
              </a:tr>
              <a:tr h="358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5000/</a:t>
                      </a:r>
                      <a:r>
                        <a:rPr lang="en-US" b="1" dirty="0" err="1"/>
                        <a:t>tcp</a:t>
                      </a: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public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hlinkClick r:id="rId2"/>
                        </a:rPr>
                        <a:t>File transfer proxy</a:t>
                      </a:r>
                      <a:endParaRPr lang="en-US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710740"/>
                  </a:ext>
                </a:extLst>
              </a:tr>
              <a:tr h="358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5222/</a:t>
                      </a:r>
                      <a:r>
                        <a:rPr lang="en-US" b="1" dirty="0" err="1"/>
                        <a:t>tcp</a:t>
                      </a: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public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hlinkClick r:id="rId3"/>
                        </a:rPr>
                        <a:t>Client connections</a:t>
                      </a:r>
                      <a:endParaRPr lang="en-US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923713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5269/</a:t>
                      </a:r>
                      <a:r>
                        <a:rPr lang="en-US" b="1" dirty="0" err="1"/>
                        <a:t>tcp</a:t>
                      </a: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public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hlinkClick r:id="rId4"/>
                        </a:rPr>
                        <a:t>Server-to-server connections</a:t>
                      </a:r>
                      <a:endParaRPr lang="en-US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942504"/>
                  </a:ext>
                </a:extLst>
              </a:tr>
              <a:tr h="358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5280/</a:t>
                      </a:r>
                      <a:r>
                        <a:rPr lang="en-US" b="1" dirty="0" err="1"/>
                        <a:t>tcp</a:t>
                      </a: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private</a:t>
                      </a:r>
                      <a:r>
                        <a:rPr lang="en-US" b="1" baseline="30000">
                          <a:hlinkClick r:id="rId5"/>
                        </a:rPr>
                        <a:t>1</a:t>
                      </a:r>
                      <a:endParaRPr lang="en-US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hlinkClick r:id="rId6"/>
                        </a:rPr>
                        <a:t>HTTP</a:t>
                      </a:r>
                      <a:endParaRPr lang="en-US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630951"/>
                  </a:ext>
                </a:extLst>
              </a:tr>
              <a:tr h="358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5281/</a:t>
                      </a:r>
                      <a:r>
                        <a:rPr lang="en-US" b="1" dirty="0" err="1"/>
                        <a:t>tcp</a:t>
                      </a: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public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hlinkClick r:id="rId6"/>
                        </a:rPr>
                        <a:t>HTTPS</a:t>
                      </a:r>
                      <a:endParaRPr lang="en-US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077029"/>
                  </a:ext>
                </a:extLst>
              </a:tr>
              <a:tr h="358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5347/</a:t>
                      </a:r>
                      <a:r>
                        <a:rPr lang="en-US" b="1" dirty="0" err="1"/>
                        <a:t>tcp</a:t>
                      </a: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private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hlinkClick r:id="rId7"/>
                        </a:rPr>
                        <a:t>External components</a:t>
                      </a:r>
                      <a:endParaRPr lang="en-US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967796"/>
                  </a:ext>
                </a:extLst>
              </a:tr>
              <a:tr h="358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5582/</a:t>
                      </a:r>
                      <a:r>
                        <a:rPr lang="en-US" b="1" dirty="0" err="1"/>
                        <a:t>tcp</a:t>
                      </a: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private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hlinkClick r:id="rId8"/>
                        </a:rPr>
                        <a:t>Telnet console</a:t>
                      </a: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50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8488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271405-D057-19AB-8341-B8A024BD6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Instalación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DBACAF-288B-8EB8-1D0A-871670BBF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988" y="1752600"/>
            <a:ext cx="8008620" cy="1569720"/>
          </a:xfrm>
        </p:spPr>
        <p:txBody>
          <a:bodyPr/>
          <a:lstStyle/>
          <a:p>
            <a:r>
              <a:rPr lang="es-ES" b="1" dirty="0" err="1"/>
              <a:t>apt</a:t>
            </a:r>
            <a:r>
              <a:rPr lang="es-ES" b="1" dirty="0"/>
              <a:t> </a:t>
            </a:r>
            <a:r>
              <a:rPr lang="es-ES" b="1" dirty="0" err="1"/>
              <a:t>install</a:t>
            </a:r>
            <a:r>
              <a:rPr lang="es-ES" b="1" dirty="0"/>
              <a:t> </a:t>
            </a:r>
            <a:r>
              <a:rPr lang="es-ES" b="1" dirty="0" err="1"/>
              <a:t>prosody</a:t>
            </a:r>
            <a:endParaRPr lang="es-ES" b="1" dirty="0"/>
          </a:p>
          <a:p>
            <a:r>
              <a:rPr lang="es-ES" b="1" dirty="0"/>
              <a:t>Edición de nombres: sudo </a:t>
            </a:r>
            <a:r>
              <a:rPr lang="es-ES" b="1" dirty="0" err="1"/>
              <a:t>hostnamectl</a:t>
            </a:r>
            <a:r>
              <a:rPr lang="es-ES" b="1" dirty="0"/>
              <a:t> set-</a:t>
            </a:r>
            <a:r>
              <a:rPr lang="es-ES" b="1" dirty="0" err="1"/>
              <a:t>hostname</a:t>
            </a:r>
            <a:r>
              <a:rPr lang="es-ES" b="1" dirty="0"/>
              <a:t> im07</a:t>
            </a:r>
            <a:endParaRPr lang="en-US" b="1" dirty="0"/>
          </a:p>
          <a:p>
            <a:r>
              <a:rPr lang="en-US" b="1" dirty="0" err="1"/>
              <a:t>Archivo</a:t>
            </a:r>
            <a:r>
              <a:rPr lang="en-US" b="1" dirty="0"/>
              <a:t> “</a:t>
            </a:r>
            <a:r>
              <a:rPr lang="es-ES" b="1" dirty="0"/>
              <a:t>/</a:t>
            </a:r>
            <a:r>
              <a:rPr lang="es-ES" b="1" dirty="0" err="1"/>
              <a:t>etc</a:t>
            </a:r>
            <a:r>
              <a:rPr lang="es-ES" b="1" dirty="0"/>
              <a:t>/hosts”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7FAB2D8-10F1-33A1-730C-C8CB43C12BB5}"/>
              </a:ext>
            </a:extLst>
          </p:cNvPr>
          <p:cNvSpPr txBox="1">
            <a:spLocks/>
          </p:cNvSpPr>
          <p:nvPr/>
        </p:nvSpPr>
        <p:spPr>
          <a:xfrm>
            <a:off x="1638299" y="3017520"/>
            <a:ext cx="891540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Certificados</a:t>
            </a:r>
            <a:endParaRPr lang="en-US" dirty="0"/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62DA9E8B-9572-A4CF-3B1B-B63883D0BB99}"/>
              </a:ext>
            </a:extLst>
          </p:cNvPr>
          <p:cNvSpPr txBox="1">
            <a:spLocks/>
          </p:cNvSpPr>
          <p:nvPr/>
        </p:nvSpPr>
        <p:spPr>
          <a:xfrm>
            <a:off x="1443987" y="4069079"/>
            <a:ext cx="4911843" cy="227175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Instalar </a:t>
            </a:r>
            <a:r>
              <a:rPr lang="es-ES" dirty="0" err="1"/>
              <a:t>Certbot</a:t>
            </a:r>
            <a:r>
              <a:rPr lang="es-ES" dirty="0"/>
              <a:t>: </a:t>
            </a:r>
            <a:r>
              <a:rPr lang="es-ES" b="1" dirty="0"/>
              <a:t>sudo </a:t>
            </a:r>
            <a:r>
              <a:rPr lang="es-ES" b="1" dirty="0" err="1"/>
              <a:t>snap</a:t>
            </a:r>
            <a:r>
              <a:rPr lang="es-ES" b="1" dirty="0"/>
              <a:t> </a:t>
            </a:r>
            <a:r>
              <a:rPr lang="es-ES" b="1" dirty="0" err="1"/>
              <a:t>install</a:t>
            </a:r>
            <a:r>
              <a:rPr lang="es-ES" b="1" dirty="0"/>
              <a:t> --</a:t>
            </a:r>
            <a:r>
              <a:rPr lang="es-ES" b="1" dirty="0" err="1"/>
              <a:t>classic</a:t>
            </a:r>
            <a:r>
              <a:rPr lang="es-ES" b="1" dirty="0"/>
              <a:t> </a:t>
            </a:r>
            <a:r>
              <a:rPr lang="es-ES" b="1" dirty="0" err="1"/>
              <a:t>certbot</a:t>
            </a:r>
            <a:endParaRPr lang="en-US" dirty="0"/>
          </a:p>
          <a:p>
            <a:r>
              <a:rPr lang="es-ES" dirty="0"/>
              <a:t>Generar certificados: </a:t>
            </a:r>
            <a:r>
              <a:rPr lang="es-ES" b="1" dirty="0"/>
              <a:t>sudo </a:t>
            </a:r>
            <a:r>
              <a:rPr lang="es-ES" b="1" dirty="0" err="1"/>
              <a:t>certbot</a:t>
            </a:r>
            <a:r>
              <a:rPr lang="es-ES" b="1" dirty="0"/>
              <a:t> </a:t>
            </a:r>
            <a:r>
              <a:rPr lang="es-ES" b="1" dirty="0" err="1"/>
              <a:t>certonly</a:t>
            </a:r>
            <a:r>
              <a:rPr lang="es-ES" b="1" dirty="0"/>
              <a:t> –</a:t>
            </a:r>
            <a:r>
              <a:rPr lang="es-ES" b="1" dirty="0" err="1"/>
              <a:t>standalone</a:t>
            </a:r>
            <a:endParaRPr lang="en-US" dirty="0"/>
          </a:p>
          <a:p>
            <a:r>
              <a:rPr lang="es-ES" dirty="0"/>
              <a:t>Importar certificados: </a:t>
            </a:r>
            <a:r>
              <a:rPr lang="es-ES" b="1" dirty="0"/>
              <a:t>/</a:t>
            </a:r>
            <a:r>
              <a:rPr lang="es-ES" b="1" dirty="0" err="1"/>
              <a:t>usr</a:t>
            </a:r>
            <a:r>
              <a:rPr lang="es-ES" b="1" dirty="0"/>
              <a:t>/</a:t>
            </a:r>
            <a:r>
              <a:rPr lang="es-ES" b="1" dirty="0" err="1"/>
              <a:t>bin</a:t>
            </a:r>
            <a:r>
              <a:rPr lang="es-ES" b="1" dirty="0"/>
              <a:t>/</a:t>
            </a:r>
            <a:r>
              <a:rPr lang="es-ES" b="1" dirty="0" err="1"/>
              <a:t>prosodyctl</a:t>
            </a:r>
            <a:r>
              <a:rPr lang="es-ES" b="1" dirty="0"/>
              <a:t> --</a:t>
            </a:r>
            <a:r>
              <a:rPr lang="es-ES" b="1" dirty="0" err="1"/>
              <a:t>root</a:t>
            </a:r>
            <a:r>
              <a:rPr lang="es-ES" b="1" dirty="0"/>
              <a:t> </a:t>
            </a:r>
            <a:r>
              <a:rPr lang="es-ES" b="1" dirty="0" err="1"/>
              <a:t>cert</a:t>
            </a:r>
            <a:r>
              <a:rPr lang="es-ES" b="1" dirty="0"/>
              <a:t> </a:t>
            </a:r>
            <a:r>
              <a:rPr lang="es-ES" b="1" dirty="0" err="1"/>
              <a:t>import</a:t>
            </a:r>
            <a:r>
              <a:rPr lang="es-ES" b="1" dirty="0"/>
              <a:t> /</a:t>
            </a:r>
            <a:r>
              <a:rPr lang="es-ES" b="1" dirty="0" err="1"/>
              <a:t>etc</a:t>
            </a:r>
            <a:r>
              <a:rPr lang="es-ES" b="1" dirty="0"/>
              <a:t>/</a:t>
            </a:r>
            <a:r>
              <a:rPr lang="es-ES" b="1" dirty="0" err="1"/>
              <a:t>letsencrypt</a:t>
            </a:r>
            <a:r>
              <a:rPr lang="es-ES" b="1" dirty="0"/>
              <a:t>/</a:t>
            </a:r>
            <a:r>
              <a:rPr lang="es-ES" b="1" dirty="0" err="1"/>
              <a:t>live</a:t>
            </a:r>
            <a:endParaRPr lang="en-US" dirty="0"/>
          </a:p>
          <a:p>
            <a:endParaRPr lang="es-E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97BBEA2-4D9B-CC13-5412-27B374380BC8}"/>
              </a:ext>
            </a:extLst>
          </p:cNvPr>
          <p:cNvSpPr txBox="1"/>
          <p:nvPr/>
        </p:nvSpPr>
        <p:spPr>
          <a:xfrm>
            <a:off x="6767433" y="4069080"/>
            <a:ext cx="6093500" cy="1658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dirty="0"/>
              <a:t>Si queremos usar “</a:t>
            </a:r>
            <a:r>
              <a:rPr lang="es-ES" dirty="0" err="1"/>
              <a:t>mod_http_file_share</a:t>
            </a:r>
            <a:r>
              <a:rPr lang="es-ES" dirty="0"/>
              <a:t>”:</a:t>
            </a:r>
            <a:endParaRPr lang="es-ES" sz="1800" b="1" i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sudo </a:t>
            </a:r>
            <a:r>
              <a:rPr lang="es-ES" sz="1800" b="1" i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certbot</a:t>
            </a:r>
            <a:r>
              <a:rPr lang="es-ES" sz="1800" b="1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1800" b="1" i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certonly</a:t>
            </a:r>
            <a:r>
              <a:rPr lang="es-ES" sz="1800" b="1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--</a:t>
            </a:r>
            <a:r>
              <a:rPr lang="es-ES" sz="1800" b="1" i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standalone</a:t>
            </a:r>
            <a:r>
              <a:rPr lang="es-ES" sz="1800" b="1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\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-d im07.institutodh.net \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-d upload.im07.institutodh.net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223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49BAE2-8384-26EC-B57B-75FD1A4E5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prosody.cfg.lua</a:t>
            </a:r>
            <a:r>
              <a:rPr lang="es-ES" dirty="0"/>
              <a:t> </a:t>
            </a:r>
            <a:r>
              <a:rPr lang="es-ES" dirty="0">
                <a:sym typeface="Wingdings" panose="05000000000000000000" pitchFamily="2" charset="2"/>
              </a:rPr>
              <a:t> Directorios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C39922-789F-9AB2-7BB9-3C91AB7FD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299" y="1817558"/>
            <a:ext cx="9754226" cy="4137259"/>
          </a:xfrm>
        </p:spPr>
        <p:txBody>
          <a:bodyPr/>
          <a:lstStyle/>
          <a:p>
            <a:pPr marL="0" indent="0">
              <a:buNone/>
            </a:pPr>
            <a:r>
              <a:rPr lang="es-ES" b="1" dirty="0" err="1"/>
              <a:t>admins</a:t>
            </a:r>
            <a:r>
              <a:rPr lang="es-ES" b="1" dirty="0"/>
              <a:t> = { "admin@im07.institutodh.net" } </a:t>
            </a:r>
            <a:r>
              <a:rPr lang="es-ES" b="1" dirty="0">
                <a:sym typeface="Wingdings" panose="05000000000000000000" pitchFamily="2" charset="2"/>
              </a:rPr>
              <a:t> Administradores</a:t>
            </a:r>
            <a:endParaRPr lang="en-US" b="1" dirty="0"/>
          </a:p>
          <a:p>
            <a:pPr marL="0" indent="0">
              <a:buNone/>
            </a:pPr>
            <a:r>
              <a:rPr lang="es-ES" b="1" dirty="0" err="1"/>
              <a:t>plugin_paths</a:t>
            </a:r>
            <a:r>
              <a:rPr lang="es-ES" b="1" dirty="0"/>
              <a:t> = {				</a:t>
            </a:r>
            <a:r>
              <a:rPr lang="es-ES" b="1" dirty="0">
                <a:sym typeface="Wingdings" panose="05000000000000000000" pitchFamily="2" charset="2"/>
              </a:rPr>
              <a:t> Directorios de </a:t>
            </a:r>
            <a:r>
              <a:rPr lang="es-ES" b="1" dirty="0" err="1">
                <a:sym typeface="Wingdings" panose="05000000000000000000" pitchFamily="2" charset="2"/>
              </a:rPr>
              <a:t>Plugins</a:t>
            </a:r>
            <a:endParaRPr lang="en-US" b="1" dirty="0"/>
          </a:p>
          <a:p>
            <a:pPr marL="0" indent="0">
              <a:buNone/>
            </a:pPr>
            <a:r>
              <a:rPr lang="es-ES" b="1" dirty="0"/>
              <a:t>    "/</a:t>
            </a:r>
            <a:r>
              <a:rPr lang="es-ES" b="1" dirty="0" err="1"/>
              <a:t>usr</a:t>
            </a:r>
            <a:r>
              <a:rPr lang="es-ES" b="1" dirty="0"/>
              <a:t>/</a:t>
            </a:r>
            <a:r>
              <a:rPr lang="es-ES" b="1" dirty="0" err="1"/>
              <a:t>lib</a:t>
            </a:r>
            <a:r>
              <a:rPr lang="es-ES" b="1" dirty="0"/>
              <a:t>/</a:t>
            </a:r>
            <a:r>
              <a:rPr lang="es-ES" b="1" dirty="0" err="1"/>
              <a:t>prosody</a:t>
            </a:r>
            <a:r>
              <a:rPr lang="es-ES" b="1" dirty="0"/>
              <a:t>/modules",</a:t>
            </a:r>
            <a:endParaRPr lang="en-US" b="1" dirty="0"/>
          </a:p>
          <a:p>
            <a:pPr marL="0" indent="0">
              <a:buNone/>
            </a:pPr>
            <a:r>
              <a:rPr lang="es-ES" b="1" dirty="0"/>
              <a:t>    "/</a:t>
            </a:r>
            <a:r>
              <a:rPr lang="es-ES" b="1" dirty="0" err="1"/>
              <a:t>var</a:t>
            </a:r>
            <a:r>
              <a:rPr lang="es-ES" b="1" dirty="0"/>
              <a:t>/</a:t>
            </a:r>
            <a:r>
              <a:rPr lang="es-ES" b="1" dirty="0" err="1"/>
              <a:t>lib</a:t>
            </a:r>
            <a:r>
              <a:rPr lang="es-ES" b="1" dirty="0"/>
              <a:t>/</a:t>
            </a:r>
            <a:r>
              <a:rPr lang="es-ES" b="1" dirty="0" err="1"/>
              <a:t>prosody</a:t>
            </a:r>
            <a:r>
              <a:rPr lang="es-ES" b="1" dirty="0"/>
              <a:t>/</a:t>
            </a:r>
            <a:r>
              <a:rPr lang="es-ES" b="1" dirty="0" err="1"/>
              <a:t>custom_plugins</a:t>
            </a:r>
            <a:r>
              <a:rPr lang="es-ES" b="1" dirty="0"/>
              <a:t>"</a:t>
            </a:r>
            <a:endParaRPr lang="en-US" b="1" dirty="0"/>
          </a:p>
          <a:p>
            <a:pPr marL="0" indent="0">
              <a:buNone/>
            </a:pPr>
            <a:r>
              <a:rPr lang="es-ES" b="1" dirty="0"/>
              <a:t>}</a:t>
            </a:r>
            <a:endParaRPr lang="en-US" b="1" dirty="0"/>
          </a:p>
          <a:p>
            <a:pPr marL="0" indent="0">
              <a:buNone/>
            </a:pPr>
            <a:r>
              <a:rPr lang="es-ES" b="1" dirty="0" err="1"/>
              <a:t>plugin_server</a:t>
            </a:r>
            <a:r>
              <a:rPr lang="es-ES" b="1" dirty="0"/>
              <a:t> = "https://modules.prosody.im/</a:t>
            </a:r>
            <a:r>
              <a:rPr lang="es-ES" b="1" dirty="0" err="1"/>
              <a:t>rocks</a:t>
            </a:r>
            <a:r>
              <a:rPr lang="es-ES" b="1" dirty="0"/>
              <a:t>/" </a:t>
            </a:r>
            <a:r>
              <a:rPr lang="es-ES" b="1" dirty="0">
                <a:sym typeface="Wingdings" panose="05000000000000000000" pitchFamily="2" charset="2"/>
              </a:rPr>
              <a:t> Servidor </a:t>
            </a:r>
            <a:r>
              <a:rPr lang="es-ES" b="1" dirty="0" err="1">
                <a:sym typeface="Wingdings" panose="05000000000000000000" pitchFamily="2" charset="2"/>
              </a:rPr>
              <a:t>Plugins</a:t>
            </a:r>
            <a:r>
              <a:rPr lang="es-ES" b="1" dirty="0">
                <a:sym typeface="Wingdings" panose="05000000000000000000" pitchFamily="2" charset="2"/>
              </a:rPr>
              <a:t> Predeterminado</a:t>
            </a:r>
            <a:endParaRPr lang="en-US" b="1" dirty="0"/>
          </a:p>
          <a:p>
            <a:pPr marL="0" indent="0">
              <a:buNone/>
            </a:pPr>
            <a:r>
              <a:rPr lang="es-ES" b="1" dirty="0" err="1"/>
              <a:t>installer_plugin_path</a:t>
            </a:r>
            <a:r>
              <a:rPr lang="es-ES" b="1" dirty="0"/>
              <a:t> = "/</a:t>
            </a:r>
            <a:r>
              <a:rPr lang="es-ES" b="1" dirty="0" err="1"/>
              <a:t>var</a:t>
            </a:r>
            <a:r>
              <a:rPr lang="es-ES" b="1" dirty="0"/>
              <a:t>/</a:t>
            </a:r>
            <a:r>
              <a:rPr lang="es-ES" b="1" dirty="0" err="1"/>
              <a:t>lib</a:t>
            </a:r>
            <a:r>
              <a:rPr lang="es-ES" b="1" dirty="0"/>
              <a:t>/</a:t>
            </a:r>
            <a:r>
              <a:rPr lang="es-ES" b="1" dirty="0" err="1"/>
              <a:t>prosody</a:t>
            </a:r>
            <a:r>
              <a:rPr lang="es-ES" b="1" dirty="0"/>
              <a:t>/</a:t>
            </a:r>
            <a:r>
              <a:rPr lang="es-ES" b="1" dirty="0" err="1"/>
              <a:t>custom_plugins</a:t>
            </a:r>
            <a:r>
              <a:rPr lang="es-ES" b="1" dirty="0"/>
              <a:t>“ </a:t>
            </a:r>
            <a:r>
              <a:rPr lang="es-ES" b="1" dirty="0">
                <a:sym typeface="Wingdings" panose="05000000000000000000" pitchFamily="2" charset="2"/>
              </a:rPr>
              <a:t> Directorio instalación </a:t>
            </a:r>
            <a:r>
              <a:rPr lang="es-ES" b="1" dirty="0" err="1">
                <a:sym typeface="Wingdings" panose="05000000000000000000" pitchFamily="2" charset="2"/>
              </a:rPr>
              <a:t>Plugins</a:t>
            </a:r>
            <a:endParaRPr lang="es-ES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b="1" dirty="0" err="1"/>
              <a:t>daemonize</a:t>
            </a:r>
            <a:r>
              <a:rPr lang="en-US" b="1" dirty="0"/>
              <a:t> = true; </a:t>
            </a: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b="1" dirty="0" err="1">
                <a:sym typeface="Wingdings" panose="05000000000000000000" pitchFamily="2" charset="2"/>
              </a:rPr>
              <a:t>Ejecuta</a:t>
            </a:r>
            <a:r>
              <a:rPr lang="en-US" b="1" dirty="0">
                <a:sym typeface="Wingdings" panose="05000000000000000000" pitchFamily="2" charset="2"/>
              </a:rPr>
              <a:t> Prosody </a:t>
            </a:r>
            <a:r>
              <a:rPr lang="en-US" b="1" dirty="0" err="1">
                <a:sym typeface="Wingdings" panose="05000000000000000000" pitchFamily="2" charset="2"/>
              </a:rPr>
              <a:t>en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dirty="0" err="1">
                <a:sym typeface="Wingdings" panose="05000000000000000000" pitchFamily="2" charset="2"/>
              </a:rPr>
              <a:t>segundo</a:t>
            </a:r>
            <a:r>
              <a:rPr lang="en-US" b="1" dirty="0">
                <a:sym typeface="Wingdings" panose="05000000000000000000" pitchFamily="2" charset="2"/>
              </a:rPr>
              <a:t> plano. No </a:t>
            </a:r>
            <a:r>
              <a:rPr lang="en-US" b="1" dirty="0" err="1">
                <a:sym typeface="Wingdings" panose="05000000000000000000" pitchFamily="2" charset="2"/>
              </a:rPr>
              <a:t>poner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dirty="0" err="1">
                <a:sym typeface="Wingdings" panose="05000000000000000000" pitchFamily="2" charset="2"/>
              </a:rPr>
              <a:t>en</a:t>
            </a:r>
            <a:r>
              <a:rPr lang="en-US" b="1" dirty="0">
                <a:sym typeface="Wingdings" panose="05000000000000000000" pitchFamily="2" charset="2"/>
              </a:rPr>
              <a:t> false.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192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296E1-3813-397A-CBA1-418E380E6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prosody.cfg.lua</a:t>
            </a:r>
            <a:r>
              <a:rPr lang="es-ES" dirty="0"/>
              <a:t> </a:t>
            </a:r>
            <a:r>
              <a:rPr lang="es-ES" dirty="0">
                <a:sym typeface="Wingdings" panose="05000000000000000000" pitchFamily="2" charset="2"/>
              </a:rPr>
              <a:t> Seguridad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F60FA5-17B8-4F8F-ED1B-E88FF5E2A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299" y="2057400"/>
            <a:ext cx="9409451" cy="4137259"/>
          </a:xfrm>
        </p:spPr>
        <p:txBody>
          <a:bodyPr/>
          <a:lstStyle/>
          <a:p>
            <a:pPr marL="0" indent="0">
              <a:buNone/>
            </a:pPr>
            <a:r>
              <a:rPr lang="es-ES" b="1" dirty="0" err="1"/>
              <a:t>allow_registration</a:t>
            </a:r>
            <a:r>
              <a:rPr lang="es-ES" b="1" dirty="0"/>
              <a:t> = false </a:t>
            </a:r>
            <a:r>
              <a:rPr lang="es-ES" b="1" dirty="0">
                <a:sym typeface="Wingdings" panose="05000000000000000000" pitchFamily="2" charset="2"/>
              </a:rPr>
              <a:t> Permite que cualquiera registre un nuevo usuario.</a:t>
            </a:r>
            <a:endParaRPr lang="en-US" b="1" dirty="0"/>
          </a:p>
          <a:p>
            <a:pPr marL="0" indent="0">
              <a:buNone/>
            </a:pPr>
            <a:r>
              <a:rPr lang="es-ES" b="1" dirty="0"/>
              <a:t>c2s_require_encryption = true </a:t>
            </a:r>
            <a:r>
              <a:rPr lang="es-ES" b="1" dirty="0">
                <a:sym typeface="Wingdings" panose="05000000000000000000" pitchFamily="2" charset="2"/>
              </a:rPr>
              <a:t> Obliga al uso de TLS entre cliente y servidor</a:t>
            </a:r>
          </a:p>
          <a:p>
            <a:pPr marL="0" indent="0">
              <a:buNone/>
            </a:pPr>
            <a:r>
              <a:rPr lang="es-ES" b="1" dirty="0"/>
              <a:t>s2s_require_encryption = true </a:t>
            </a:r>
            <a:r>
              <a:rPr lang="es-ES" b="1" dirty="0">
                <a:sym typeface="Wingdings" panose="05000000000000000000" pitchFamily="2" charset="2"/>
              </a:rPr>
              <a:t> Obliga al uso de TLS entre servidor y servidor</a:t>
            </a:r>
          </a:p>
          <a:p>
            <a:pPr marL="0" indent="0">
              <a:buNone/>
            </a:pPr>
            <a:r>
              <a:rPr lang="es-ES" b="1" dirty="0"/>
              <a:t>s2s_secure_auth = true </a:t>
            </a:r>
            <a:r>
              <a:rPr lang="es-ES" b="1" dirty="0">
                <a:sym typeface="Wingdings" panose="05000000000000000000" pitchFamily="2" charset="2"/>
              </a:rPr>
              <a:t> </a:t>
            </a:r>
            <a:r>
              <a:rPr lang="en-US" b="1" dirty="0"/>
              <a:t>Exige </a:t>
            </a:r>
            <a:r>
              <a:rPr lang="en-US" b="1" dirty="0" err="1"/>
              <a:t>métodos</a:t>
            </a:r>
            <a:r>
              <a:rPr lang="en-US" b="1" dirty="0"/>
              <a:t> de </a:t>
            </a:r>
            <a:r>
              <a:rPr lang="en-US" b="1" dirty="0" err="1"/>
              <a:t>autenticación</a:t>
            </a:r>
            <a:r>
              <a:rPr lang="en-US" b="1" dirty="0"/>
              <a:t> </a:t>
            </a:r>
            <a:r>
              <a:rPr lang="en-US" b="1" dirty="0" err="1"/>
              <a:t>seguros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S2S</a:t>
            </a:r>
          </a:p>
          <a:p>
            <a:pPr marL="0" indent="0">
              <a:buNone/>
            </a:pPr>
            <a:r>
              <a:rPr lang="en-US" b="1" dirty="0" err="1"/>
              <a:t>allow_unencrypted_plain_auth</a:t>
            </a:r>
            <a:r>
              <a:rPr lang="en-US" b="1" dirty="0"/>
              <a:t> = false </a:t>
            </a: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s-ES" b="1" dirty="0"/>
              <a:t>Prohíbe enviar usuario/contraseña sin cifrar</a:t>
            </a:r>
          </a:p>
          <a:p>
            <a:pPr marL="0" indent="0">
              <a:buNone/>
            </a:pPr>
            <a:r>
              <a:rPr lang="en-US" b="1" dirty="0"/>
              <a:t>authentication = "</a:t>
            </a:r>
            <a:r>
              <a:rPr lang="en-US" b="1" dirty="0" err="1"/>
              <a:t>internal_hashed</a:t>
            </a:r>
            <a:r>
              <a:rPr lang="en-US" b="1" dirty="0"/>
              <a:t>“ </a:t>
            </a:r>
            <a:r>
              <a:rPr lang="en-US" b="1" dirty="0">
                <a:sym typeface="Wingdings" panose="05000000000000000000" pitchFamily="2" charset="2"/>
              </a:rPr>
              <a:t> Las </a:t>
            </a:r>
            <a:r>
              <a:rPr lang="en-US" b="1" dirty="0" err="1">
                <a:sym typeface="Wingdings" panose="05000000000000000000" pitchFamily="2" charset="2"/>
              </a:rPr>
              <a:t>contraseñas</a:t>
            </a:r>
            <a:r>
              <a:rPr lang="en-US" b="1" dirty="0">
                <a:sym typeface="Wingdings" panose="05000000000000000000" pitchFamily="2" charset="2"/>
              </a:rPr>
              <a:t> se “</a:t>
            </a:r>
            <a:r>
              <a:rPr lang="en-US" b="1" dirty="0" err="1">
                <a:sym typeface="Wingdings" panose="05000000000000000000" pitchFamily="2" charset="2"/>
              </a:rPr>
              <a:t>hashean</a:t>
            </a:r>
            <a:r>
              <a:rPr lang="en-US" b="1" dirty="0">
                <a:sym typeface="Wingdings" panose="05000000000000000000" pitchFamily="2" charset="2"/>
              </a:rPr>
              <a:t>” (NO </a:t>
            </a:r>
            <a:r>
              <a:rPr lang="en-US" b="1" dirty="0" err="1">
                <a:sym typeface="Wingdings" panose="05000000000000000000" pitchFamily="2" charset="2"/>
              </a:rPr>
              <a:t>texto</a:t>
            </a:r>
            <a:r>
              <a:rPr lang="en-US" b="1" dirty="0">
                <a:sym typeface="Wingdings" panose="05000000000000000000" pitchFamily="2" charset="2"/>
              </a:rPr>
              <a:t> plano).</a:t>
            </a:r>
            <a:endParaRPr lang="en-US" b="1" dirty="0"/>
          </a:p>
          <a:p>
            <a:pPr marL="0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438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9A5C69-2E9F-7FD5-F24D-470E33D08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prosody.cfg.lua</a:t>
            </a:r>
            <a:r>
              <a:rPr lang="es-ES" dirty="0"/>
              <a:t> </a:t>
            </a:r>
            <a:r>
              <a:rPr lang="es-ES" dirty="0">
                <a:sym typeface="Wingdings" panose="05000000000000000000" pitchFamily="2" charset="2"/>
              </a:rPr>
              <a:t> Certificados y Conexión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995768-70DC-CA54-385E-350B6AAAB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2057400"/>
            <a:ext cx="3158552" cy="4137259"/>
          </a:xfrm>
        </p:spPr>
        <p:txBody>
          <a:bodyPr/>
          <a:lstStyle/>
          <a:p>
            <a:pPr marL="0" indent="0">
              <a:buNone/>
            </a:pPr>
            <a:r>
              <a:rPr lang="es-ES" b="1" dirty="0"/>
              <a:t>Límite velocidad conexión</a:t>
            </a:r>
            <a:endParaRPr lang="en-US" b="1" dirty="0"/>
          </a:p>
          <a:p>
            <a:pPr marL="0" indent="0">
              <a:buNone/>
            </a:pPr>
            <a:r>
              <a:rPr lang="es-ES" b="1" dirty="0" err="1"/>
              <a:t>limits</a:t>
            </a:r>
            <a:r>
              <a:rPr lang="es-ES" b="1" dirty="0"/>
              <a:t> = {</a:t>
            </a:r>
            <a:endParaRPr lang="en-US" b="1" dirty="0"/>
          </a:p>
          <a:p>
            <a:pPr marL="0" indent="0">
              <a:buNone/>
            </a:pPr>
            <a:r>
              <a:rPr lang="es-ES" b="1" dirty="0"/>
              <a:t>  c2s = {</a:t>
            </a:r>
            <a:endParaRPr lang="en-US" b="1" dirty="0"/>
          </a:p>
          <a:p>
            <a:pPr marL="0" indent="0">
              <a:buNone/>
            </a:pPr>
            <a:r>
              <a:rPr lang="es-ES" b="1" dirty="0"/>
              <a:t>    </a:t>
            </a:r>
            <a:r>
              <a:rPr lang="es-ES" b="1" dirty="0" err="1"/>
              <a:t>rate</a:t>
            </a:r>
            <a:r>
              <a:rPr lang="es-ES" b="1" dirty="0"/>
              <a:t> = "50kb/s";</a:t>
            </a:r>
            <a:endParaRPr lang="en-US" b="1" dirty="0"/>
          </a:p>
          <a:p>
            <a:pPr marL="0" indent="0">
              <a:buNone/>
            </a:pPr>
            <a:r>
              <a:rPr lang="es-ES" b="1" dirty="0"/>
              <a:t>  };</a:t>
            </a:r>
            <a:endParaRPr lang="en-US" b="1" dirty="0"/>
          </a:p>
          <a:p>
            <a:pPr marL="0" indent="0">
              <a:buNone/>
            </a:pPr>
            <a:r>
              <a:rPr lang="es-ES" b="1" dirty="0"/>
              <a:t>  s2sin = {</a:t>
            </a:r>
            <a:endParaRPr lang="en-US" b="1" dirty="0"/>
          </a:p>
          <a:p>
            <a:pPr marL="0" indent="0">
              <a:buNone/>
            </a:pPr>
            <a:r>
              <a:rPr lang="es-ES" b="1" dirty="0"/>
              <a:t>    </a:t>
            </a:r>
            <a:r>
              <a:rPr lang="es-ES" b="1" dirty="0" err="1"/>
              <a:t>rate</a:t>
            </a:r>
            <a:r>
              <a:rPr lang="es-ES" b="1" dirty="0"/>
              <a:t> = "100kb/s";</a:t>
            </a:r>
            <a:endParaRPr lang="en-US" b="1" dirty="0"/>
          </a:p>
          <a:p>
            <a:pPr marL="0" indent="0">
              <a:buNone/>
            </a:pPr>
            <a:r>
              <a:rPr lang="es-ES" b="1" dirty="0"/>
              <a:t>  };</a:t>
            </a:r>
            <a:endParaRPr lang="en-US" b="1" dirty="0"/>
          </a:p>
          <a:p>
            <a:pPr marL="0" indent="0">
              <a:buNone/>
            </a:pPr>
            <a:r>
              <a:rPr lang="es-ES" b="1" dirty="0"/>
              <a:t>}</a:t>
            </a:r>
            <a:endParaRPr lang="en-US" b="1" dirty="0"/>
          </a:p>
          <a:p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D4A030D-2E82-983F-6EC7-45F8F24A0C45}"/>
              </a:ext>
            </a:extLst>
          </p:cNvPr>
          <p:cNvSpPr txBox="1"/>
          <p:nvPr/>
        </p:nvSpPr>
        <p:spPr>
          <a:xfrm>
            <a:off x="5741234" y="2057400"/>
            <a:ext cx="5111646" cy="3131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kern="100" dirty="0" err="1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certificates</a:t>
            </a:r>
            <a:r>
              <a:rPr lang="es-ES" sz="1800" b="1" kern="100" dirty="0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 = "</a:t>
            </a:r>
            <a:r>
              <a:rPr lang="es-ES" sz="1800" b="1" kern="100" dirty="0" err="1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certs</a:t>
            </a:r>
            <a:r>
              <a:rPr lang="es-ES" sz="1800" b="1" kern="100" dirty="0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  <a:endParaRPr lang="en-US" sz="1800" b="1" kern="100" dirty="0">
              <a:effectLst/>
              <a:latin typeface="Avenir Next LT Pro Light (Cuerpo)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kern="100" dirty="0" err="1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VirtualHost</a:t>
            </a:r>
            <a:r>
              <a:rPr lang="es-ES" sz="1800" b="1" kern="100" dirty="0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 "im07.institutodh.net"</a:t>
            </a:r>
            <a:endParaRPr lang="en-US" sz="1800" b="1" kern="100" dirty="0">
              <a:effectLst/>
              <a:latin typeface="Avenir Next LT Pro Light (Cuerpo)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kern="100" dirty="0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s-ES" sz="1800" b="1" kern="100" dirty="0" err="1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ssl</a:t>
            </a:r>
            <a:r>
              <a:rPr lang="es-ES" sz="1800" b="1" kern="100" dirty="0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 = {</a:t>
            </a:r>
            <a:endParaRPr lang="en-US" sz="1800" b="1" kern="100" dirty="0">
              <a:effectLst/>
              <a:latin typeface="Avenir Next LT Pro Light (Cuerpo)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kern="100" dirty="0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s-ES" sz="1800" b="1" kern="100" dirty="0" err="1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key</a:t>
            </a:r>
            <a:r>
              <a:rPr lang="es-ES" sz="1800" b="1" kern="100" dirty="0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 = "/</a:t>
            </a:r>
            <a:r>
              <a:rPr lang="es-ES" sz="1800" b="1" kern="100" dirty="0" err="1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etc</a:t>
            </a:r>
            <a:r>
              <a:rPr lang="es-ES" sz="1800" b="1" kern="100" dirty="0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es-ES" sz="1800" b="1" kern="100" dirty="0" err="1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prosody</a:t>
            </a:r>
            <a:r>
              <a:rPr lang="es-ES" sz="1800" b="1" kern="100" dirty="0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es-ES" sz="1800" b="1" kern="100" dirty="0" err="1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certs</a:t>
            </a:r>
            <a:r>
              <a:rPr lang="es-ES" sz="1800" b="1" kern="100" dirty="0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/im07.institutodh.net.key";</a:t>
            </a:r>
            <a:endParaRPr lang="en-US" sz="1800" b="1" kern="100" dirty="0">
              <a:effectLst/>
              <a:latin typeface="Avenir Next LT Pro Light (Cuerpo)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kern="100" dirty="0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s-ES" sz="1800" b="1" kern="100" dirty="0" err="1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certificate</a:t>
            </a:r>
            <a:r>
              <a:rPr lang="es-ES" sz="1800" b="1" kern="100" dirty="0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 = "/</a:t>
            </a:r>
            <a:r>
              <a:rPr lang="es-ES" sz="1800" b="1" kern="100" dirty="0" err="1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etc</a:t>
            </a:r>
            <a:r>
              <a:rPr lang="es-ES" sz="1800" b="1" kern="100" dirty="0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es-ES" sz="1800" b="1" kern="100" dirty="0" err="1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prosody</a:t>
            </a:r>
            <a:r>
              <a:rPr lang="es-ES" sz="1800" b="1" kern="100" dirty="0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es-ES" sz="1800" b="1" kern="100" dirty="0" err="1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certs</a:t>
            </a:r>
            <a:r>
              <a:rPr lang="es-ES" sz="1800" b="1" kern="100" dirty="0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/im07.institutodh.net.crt";</a:t>
            </a:r>
            <a:endParaRPr lang="en-US" sz="1800" b="1" kern="100" dirty="0">
              <a:effectLst/>
              <a:latin typeface="Avenir Next LT Pro Light (Cuerpo)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kern="100" dirty="0">
                <a:effectLst/>
                <a:latin typeface="Avenir Next LT Pro Light (Cuerpo)"/>
                <a:ea typeface="Aptos" panose="020B0004020202020204" pitchFamily="34" charset="0"/>
                <a:cs typeface="Times New Roman" panose="02020603050405020304" pitchFamily="18" charset="0"/>
              </a:rPr>
              <a:t>    }</a:t>
            </a:r>
            <a:endParaRPr lang="en-US" sz="1800" b="1" kern="100" dirty="0">
              <a:effectLst/>
              <a:latin typeface="Avenir Next LT Pro Light (Cuerpo)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041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0040C-BC9C-2242-4628-A5FA4B6F2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652" y="57150"/>
            <a:ext cx="8915402" cy="1371600"/>
          </a:xfrm>
        </p:spPr>
        <p:txBody>
          <a:bodyPr/>
          <a:lstStyle/>
          <a:p>
            <a:r>
              <a:rPr lang="es-ES" dirty="0" err="1"/>
              <a:t>prosody.cfg.lua</a:t>
            </a:r>
            <a:r>
              <a:rPr lang="es-ES" dirty="0"/>
              <a:t> </a:t>
            </a:r>
            <a:r>
              <a:rPr lang="es-ES" dirty="0">
                <a:sym typeface="Wingdings" panose="05000000000000000000" pitchFamily="2" charset="2"/>
              </a:rPr>
              <a:t> Módulos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B66A60-4BA7-78A3-1D85-D0C7A0EAC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357" y="1428750"/>
            <a:ext cx="8915402" cy="4137259"/>
          </a:xfrm>
        </p:spPr>
        <p:txBody>
          <a:bodyPr/>
          <a:lstStyle/>
          <a:p>
            <a:r>
              <a:rPr lang="en-US" b="1" dirty="0" err="1"/>
              <a:t>Algunos</a:t>
            </a:r>
            <a:r>
              <a:rPr lang="en-US" b="1" dirty="0"/>
              <a:t> solo </a:t>
            </a:r>
            <a:r>
              <a:rPr lang="en-US" b="1" dirty="0" err="1"/>
              <a:t>tienes</a:t>
            </a:r>
            <a:r>
              <a:rPr lang="en-US" b="1" dirty="0"/>
              <a:t> </a:t>
            </a:r>
            <a:r>
              <a:rPr lang="en-US" b="1" dirty="0" err="1"/>
              <a:t>que</a:t>
            </a:r>
            <a:r>
              <a:rPr lang="en-US" b="1" dirty="0"/>
              <a:t> “</a:t>
            </a:r>
            <a:r>
              <a:rPr lang="en-US" b="1" dirty="0" err="1"/>
              <a:t>nombrarlos</a:t>
            </a:r>
            <a:r>
              <a:rPr lang="en-US" b="1" dirty="0"/>
              <a:t>”: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 err="1"/>
              <a:t>Otros</a:t>
            </a:r>
            <a:r>
              <a:rPr lang="en-US" b="1" dirty="0"/>
              <a:t> </a:t>
            </a:r>
            <a:r>
              <a:rPr lang="en-US" b="1" dirty="0" err="1"/>
              <a:t>tienes</a:t>
            </a:r>
            <a:r>
              <a:rPr lang="en-US" b="1" dirty="0"/>
              <a:t> </a:t>
            </a:r>
            <a:r>
              <a:rPr lang="en-US" b="1" dirty="0" err="1"/>
              <a:t>que</a:t>
            </a:r>
            <a:r>
              <a:rPr lang="en-US" b="1" dirty="0"/>
              <a:t> </a:t>
            </a:r>
            <a:r>
              <a:rPr lang="en-US" b="1" dirty="0" err="1"/>
              <a:t>incluir</a:t>
            </a:r>
            <a:r>
              <a:rPr lang="en-US" b="1" dirty="0"/>
              <a:t> </a:t>
            </a:r>
            <a:r>
              <a:rPr lang="en-US" b="1" dirty="0" err="1"/>
              <a:t>alguna</a:t>
            </a:r>
            <a:r>
              <a:rPr lang="en-US" b="1" dirty="0"/>
              <a:t> </a:t>
            </a:r>
            <a:r>
              <a:rPr lang="en-US" b="1" dirty="0" err="1"/>
              <a:t>configuración</a:t>
            </a:r>
            <a:r>
              <a:rPr lang="en-US" b="1" dirty="0"/>
              <a:t> </a:t>
            </a:r>
            <a:r>
              <a:rPr lang="en-US" b="1" dirty="0" err="1"/>
              <a:t>adicional</a:t>
            </a:r>
            <a:r>
              <a:rPr lang="en-US" b="1" dirty="0"/>
              <a:t>:</a:t>
            </a:r>
          </a:p>
          <a:p>
            <a:endParaRPr lang="en-US" dirty="0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01FAFB1F-C4EC-63AE-58F0-A17039F1A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652" y="1951671"/>
            <a:ext cx="6786174" cy="1083178"/>
          </a:xfrm>
          <a:prstGeom prst="rect">
            <a:avLst/>
          </a:prstGeom>
        </p:spPr>
      </p:pic>
      <p:pic>
        <p:nvPicPr>
          <p:cNvPr id="6" name="Imagen 5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370AB01B-95B3-04EC-9416-E9040EC3E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652" y="3917751"/>
            <a:ext cx="4034248" cy="68877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179530C-71BF-9028-6BC9-A5F27EA9F9AF}"/>
              </a:ext>
            </a:extLst>
          </p:cNvPr>
          <p:cNvSpPr txBox="1"/>
          <p:nvPr/>
        </p:nvSpPr>
        <p:spPr>
          <a:xfrm>
            <a:off x="979357" y="4782919"/>
            <a:ext cx="41485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Otros “módulos” se activan con “</a:t>
            </a:r>
            <a:r>
              <a:rPr lang="es-ES" b="1" dirty="0" err="1"/>
              <a:t>Component</a:t>
            </a:r>
            <a:r>
              <a:rPr lang="es-ES" b="1" dirty="0"/>
              <a:t>”</a:t>
            </a:r>
            <a:endParaRPr lang="en-US" b="1" dirty="0"/>
          </a:p>
        </p:txBody>
      </p:sp>
      <p:pic>
        <p:nvPicPr>
          <p:cNvPr id="9" name="Imagen 8" descr="Texto&#10;&#10;El contenido generado por IA puede ser incorrecto.">
            <a:extLst>
              <a:ext uri="{FF2B5EF4-FFF2-40B4-BE49-F238E27FC236}">
                <a16:creationId xmlns:a16="http://schemas.microsoft.com/office/drawing/2014/main" id="{5C6BBC1A-DE49-44E4-A6FC-F3ED54EB10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652" y="5670172"/>
            <a:ext cx="5115560" cy="62865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BB0CB472-2C97-EC18-93CA-B6A43490DC10}"/>
              </a:ext>
            </a:extLst>
          </p:cNvPr>
          <p:cNvSpPr txBox="1"/>
          <p:nvPr/>
        </p:nvSpPr>
        <p:spPr>
          <a:xfrm>
            <a:off x="7884826" y="3497379"/>
            <a:ext cx="42771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 err="1"/>
              <a:t>modules_enabled</a:t>
            </a:r>
            <a:r>
              <a:rPr lang="es-ES" b="1" dirty="0"/>
              <a:t> = {</a:t>
            </a:r>
            <a:r>
              <a:rPr lang="en-US" b="1" dirty="0"/>
              <a:t>}  </a:t>
            </a:r>
            <a:r>
              <a:rPr lang="es-ES" b="1" dirty="0" err="1"/>
              <a:t>modules_disabled</a:t>
            </a:r>
            <a:r>
              <a:rPr lang="es-ES" b="1" dirty="0"/>
              <a:t> = {}</a:t>
            </a:r>
            <a:endParaRPr lang="en-US" b="1" dirty="0"/>
          </a:p>
          <a:p>
            <a:r>
              <a:rPr lang="en-US" b="1" dirty="0"/>
              <a:t>Con “</a:t>
            </a:r>
            <a:r>
              <a:rPr lang="en-US" b="1" dirty="0" err="1"/>
              <a:t>modules_enabled</a:t>
            </a:r>
            <a:r>
              <a:rPr lang="en-US" b="1" dirty="0"/>
              <a:t>” se </a:t>
            </a:r>
            <a:r>
              <a:rPr lang="en-US" b="1" dirty="0" err="1"/>
              <a:t>pueden</a:t>
            </a:r>
            <a:r>
              <a:rPr lang="en-US" b="1" dirty="0"/>
              <a:t> </a:t>
            </a:r>
            <a:r>
              <a:rPr lang="en-US" b="1" dirty="0" err="1"/>
              <a:t>activar</a:t>
            </a:r>
            <a:r>
              <a:rPr lang="en-US" b="1" dirty="0"/>
              <a:t> </a:t>
            </a:r>
            <a:r>
              <a:rPr lang="en-US" b="1" dirty="0" err="1"/>
              <a:t>módulos</a:t>
            </a:r>
            <a:r>
              <a:rPr lang="en-US" b="1" dirty="0"/>
              <a:t> extras. </a:t>
            </a:r>
          </a:p>
        </p:txBody>
      </p:sp>
    </p:spTree>
    <p:extLst>
      <p:ext uri="{BB962C8B-B14F-4D97-AF65-F5344CB8AC3E}">
        <p14:creationId xmlns:p14="http://schemas.microsoft.com/office/powerpoint/2010/main" val="5615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94EC67-1663-828C-EE6A-78D40C458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Instalación de Módulos Externos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1D51EE-72E7-CCC9-585E-85BB47DC5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2057400"/>
            <a:ext cx="8915400" cy="3623872"/>
          </a:xfrm>
        </p:spPr>
        <p:txBody>
          <a:bodyPr>
            <a:normAutofit fontScale="92500" lnSpcReduction="10000"/>
          </a:bodyPr>
          <a:lstStyle/>
          <a:p>
            <a:r>
              <a:rPr lang="es-ES" sz="1900" b="1" dirty="0"/>
              <a:t>Dos métodos principales: </a:t>
            </a:r>
            <a:r>
              <a:rPr lang="es-ES" sz="1900" b="1" dirty="0" err="1"/>
              <a:t>LuaRocks</a:t>
            </a:r>
            <a:r>
              <a:rPr lang="es-ES" sz="1900" b="1" dirty="0"/>
              <a:t> y repositorios en GitHub</a:t>
            </a:r>
          </a:p>
          <a:p>
            <a:pPr lvl="1"/>
            <a:r>
              <a:rPr lang="es-ES" sz="1900" b="1" dirty="0" err="1"/>
              <a:t>LuaRocks</a:t>
            </a:r>
            <a:r>
              <a:rPr lang="es-ES" sz="1900" b="1" dirty="0"/>
              <a:t>: </a:t>
            </a:r>
          </a:p>
          <a:p>
            <a:pPr lvl="2"/>
            <a:r>
              <a:rPr lang="es-ES" sz="1900" b="1" dirty="0"/>
              <a:t>sudo </a:t>
            </a:r>
            <a:r>
              <a:rPr lang="es-ES" sz="1900" b="1" dirty="0" err="1"/>
              <a:t>apt</a:t>
            </a:r>
            <a:r>
              <a:rPr lang="es-ES" sz="1900" b="1" dirty="0"/>
              <a:t> </a:t>
            </a:r>
            <a:r>
              <a:rPr lang="es-ES" sz="1900" b="1" dirty="0" err="1"/>
              <a:t>install</a:t>
            </a:r>
            <a:r>
              <a:rPr lang="es-ES" sz="1900" b="1" dirty="0"/>
              <a:t> </a:t>
            </a:r>
            <a:r>
              <a:rPr lang="es-ES" sz="1900" b="1" dirty="0" err="1"/>
              <a:t>luarocks</a:t>
            </a:r>
            <a:endParaRPr lang="es-ES" sz="1900" b="1" dirty="0"/>
          </a:p>
          <a:p>
            <a:pPr lvl="2"/>
            <a:r>
              <a:rPr lang="es-ES" sz="1900" b="1" dirty="0" err="1"/>
              <a:t>prosodyctl</a:t>
            </a:r>
            <a:r>
              <a:rPr lang="es-ES" sz="1900" b="1" dirty="0"/>
              <a:t> </a:t>
            </a:r>
            <a:r>
              <a:rPr lang="es-ES" sz="1900" b="1" dirty="0" err="1"/>
              <a:t>about</a:t>
            </a:r>
            <a:r>
              <a:rPr lang="es-ES" sz="1900" b="1" dirty="0"/>
              <a:t> </a:t>
            </a:r>
            <a:r>
              <a:rPr lang="es-ES" sz="1900" b="1" dirty="0">
                <a:sym typeface="Wingdings" panose="05000000000000000000" pitchFamily="2" charset="2"/>
              </a:rPr>
              <a:t> Comprobar versión de </a:t>
            </a:r>
            <a:r>
              <a:rPr lang="es-ES" sz="1900" b="1" dirty="0" err="1">
                <a:sym typeface="Wingdings" panose="05000000000000000000" pitchFamily="2" charset="2"/>
              </a:rPr>
              <a:t>Lua</a:t>
            </a:r>
            <a:r>
              <a:rPr lang="es-ES" sz="1900" b="1" dirty="0">
                <a:sym typeface="Wingdings" panose="05000000000000000000" pitchFamily="2" charset="2"/>
              </a:rPr>
              <a:t>.</a:t>
            </a:r>
            <a:endParaRPr lang="en-US" sz="1900" b="1" dirty="0"/>
          </a:p>
          <a:p>
            <a:pPr lvl="2"/>
            <a:r>
              <a:rPr lang="es-ES" sz="1900" b="1" dirty="0"/>
              <a:t>sudo </a:t>
            </a:r>
            <a:r>
              <a:rPr lang="es-ES" sz="1900" b="1" dirty="0" err="1"/>
              <a:t>apt</a:t>
            </a:r>
            <a:r>
              <a:rPr lang="es-ES" sz="1900" b="1" dirty="0"/>
              <a:t> </a:t>
            </a:r>
            <a:r>
              <a:rPr lang="es-ES" sz="1900" b="1" dirty="0" err="1"/>
              <a:t>install</a:t>
            </a:r>
            <a:r>
              <a:rPr lang="es-ES" sz="1900" b="1" dirty="0"/>
              <a:t> -y liblua5.4-dev </a:t>
            </a:r>
            <a:r>
              <a:rPr lang="es-ES" sz="1900" b="1" dirty="0" err="1"/>
              <a:t>build-essential</a:t>
            </a:r>
            <a:r>
              <a:rPr lang="es-ES" sz="1900" b="1" dirty="0"/>
              <a:t> </a:t>
            </a:r>
            <a:r>
              <a:rPr lang="es-ES" sz="1900" b="1" dirty="0">
                <a:sym typeface="Wingdings" panose="05000000000000000000" pitchFamily="2" charset="2"/>
              </a:rPr>
              <a:t> Instalar versión de </a:t>
            </a:r>
            <a:r>
              <a:rPr lang="es-ES" sz="1900" b="1" dirty="0" err="1">
                <a:sym typeface="Wingdings" panose="05000000000000000000" pitchFamily="2" charset="2"/>
              </a:rPr>
              <a:t>Lua</a:t>
            </a:r>
            <a:r>
              <a:rPr lang="es-ES" sz="1900" b="1" dirty="0">
                <a:sym typeface="Wingdings" panose="05000000000000000000" pitchFamily="2" charset="2"/>
              </a:rPr>
              <a:t> correspondiente.</a:t>
            </a:r>
          </a:p>
          <a:p>
            <a:pPr lvl="2"/>
            <a:r>
              <a:rPr lang="es-ES" sz="1900" b="1" dirty="0">
                <a:sym typeface="Wingdings" panose="05000000000000000000" pitchFamily="2" charset="2"/>
              </a:rPr>
              <a:t>Comandos de instalación sin y con URL:</a:t>
            </a:r>
          </a:p>
          <a:p>
            <a:pPr lvl="2"/>
            <a:r>
              <a:rPr lang="es-ES" sz="1900" b="1" dirty="0"/>
              <a:t>sudo </a:t>
            </a:r>
            <a:r>
              <a:rPr lang="es-ES" sz="1900" b="1" dirty="0" err="1"/>
              <a:t>prosodyctl</a:t>
            </a:r>
            <a:r>
              <a:rPr lang="es-ES" sz="1900" b="1" dirty="0"/>
              <a:t> </a:t>
            </a:r>
            <a:r>
              <a:rPr lang="es-ES" sz="1900" b="1" dirty="0" err="1"/>
              <a:t>install</a:t>
            </a:r>
            <a:r>
              <a:rPr lang="es-ES" sz="1900" b="1" dirty="0"/>
              <a:t> </a:t>
            </a:r>
            <a:r>
              <a:rPr lang="es-ES" sz="1900" b="1" dirty="0" err="1"/>
              <a:t>mod_admin_web</a:t>
            </a:r>
            <a:r>
              <a:rPr lang="es-ES" sz="1900" b="1" dirty="0"/>
              <a:t> </a:t>
            </a:r>
            <a:endParaRPr lang="en-US" sz="1900" b="1" dirty="0"/>
          </a:p>
          <a:p>
            <a:pPr lvl="2"/>
            <a:r>
              <a:rPr lang="es-ES" sz="1900" b="1" dirty="0"/>
              <a:t>sudo </a:t>
            </a:r>
            <a:r>
              <a:rPr lang="es-ES" sz="1900" b="1" dirty="0" err="1"/>
              <a:t>prosodyctl</a:t>
            </a:r>
            <a:r>
              <a:rPr lang="es-ES" sz="1900" b="1" dirty="0"/>
              <a:t> </a:t>
            </a:r>
            <a:r>
              <a:rPr lang="es-ES" sz="1900" b="1" dirty="0" err="1"/>
              <a:t>install</a:t>
            </a:r>
            <a:r>
              <a:rPr lang="es-ES" sz="1900" b="1" dirty="0"/>
              <a:t> --server=https://modules.prosody.im/rocks/ </a:t>
            </a:r>
            <a:r>
              <a:rPr lang="es-ES" sz="1900" b="1" dirty="0" err="1"/>
              <a:t>mod_admin_web</a:t>
            </a:r>
            <a:endParaRPr lang="es-ES" sz="1900" b="1" dirty="0">
              <a:sym typeface="Wingdings" panose="05000000000000000000" pitchFamily="2" charset="2"/>
            </a:endParaRPr>
          </a:p>
          <a:p>
            <a:pPr lvl="2"/>
            <a:endParaRPr lang="es-ES" dirty="0">
              <a:sym typeface="Wingdings" panose="05000000000000000000" pitchFamily="2" charset="2"/>
            </a:endParaRP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FBE0EDC-684B-4CCD-5D71-83E354679CC6}"/>
              </a:ext>
            </a:extLst>
          </p:cNvPr>
          <p:cNvSpPr txBox="1"/>
          <p:nvPr/>
        </p:nvSpPr>
        <p:spPr>
          <a:xfrm>
            <a:off x="1366915" y="5681272"/>
            <a:ext cx="9186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2920" lvl="2" indent="0">
              <a:buNone/>
            </a:pPr>
            <a:r>
              <a:rPr lang="es-ES" b="1" dirty="0">
                <a:sym typeface="Wingdings" panose="05000000000000000000" pitchFamily="2" charset="2"/>
              </a:rPr>
              <a:t>Se indica en “</a:t>
            </a:r>
            <a:r>
              <a:rPr lang="es-ES" b="1" dirty="0" err="1">
                <a:sym typeface="Wingdings" panose="05000000000000000000" pitchFamily="2" charset="2"/>
              </a:rPr>
              <a:t>prosody.cfg.lua</a:t>
            </a:r>
            <a:r>
              <a:rPr lang="es-ES" b="1" dirty="0">
                <a:sym typeface="Wingdings" panose="05000000000000000000" pitchFamily="2" charset="2"/>
              </a:rPr>
              <a:t>” el directorio de descarga/instalación de los plugin. Se le deben dar permisos al usuario “</a:t>
            </a:r>
            <a:r>
              <a:rPr lang="es-ES" b="1" dirty="0" err="1">
                <a:sym typeface="Wingdings" panose="05000000000000000000" pitchFamily="2" charset="2"/>
              </a:rPr>
              <a:t>prosody</a:t>
            </a:r>
            <a:r>
              <a:rPr lang="es-ES" b="1" dirty="0">
                <a:sym typeface="Wingdings" panose="05000000000000000000" pitchFamily="2" charset="2"/>
              </a:rPr>
              <a:t>” sobre el directorio.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48550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7BF49-4A05-4DD9-41B4-9DAFED769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Módulos: Ejemplos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2C7C12-B4BB-CC53-0D0E-0102BED79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5714" y="2460768"/>
            <a:ext cx="6394455" cy="4137259"/>
          </a:xfrm>
        </p:spPr>
        <p:txBody>
          <a:bodyPr/>
          <a:lstStyle/>
          <a:p>
            <a:r>
              <a:rPr lang="es-ES" dirty="0"/>
              <a:t>Provee de una interfaz web que permite gestionar ciertos aspectos del servidor </a:t>
            </a:r>
            <a:r>
              <a:rPr lang="es-ES" dirty="0" err="1"/>
              <a:t>Prosody</a:t>
            </a:r>
            <a:r>
              <a:rPr lang="es-ES" dirty="0"/>
              <a:t>.</a:t>
            </a:r>
          </a:p>
          <a:p>
            <a:r>
              <a:rPr lang="es-ES" dirty="0"/>
              <a:t>Este módulo no viene por defecto con </a:t>
            </a:r>
            <a:r>
              <a:rPr lang="es-ES" dirty="0" err="1"/>
              <a:t>Prosody</a:t>
            </a:r>
            <a:r>
              <a:rPr lang="es-ES" dirty="0"/>
              <a:t>, así que el primer paso es descargárnoslo:</a:t>
            </a:r>
            <a:endParaRPr lang="en-US" dirty="0"/>
          </a:p>
          <a:p>
            <a:r>
              <a:rPr lang="es-ES" b="1" dirty="0"/>
              <a:t>sudo </a:t>
            </a:r>
            <a:r>
              <a:rPr lang="es-ES" b="1" dirty="0" err="1"/>
              <a:t>prosodyctl</a:t>
            </a:r>
            <a:r>
              <a:rPr lang="es-ES" b="1" dirty="0"/>
              <a:t> </a:t>
            </a:r>
            <a:r>
              <a:rPr lang="es-ES" b="1" dirty="0" err="1"/>
              <a:t>install</a:t>
            </a:r>
            <a:r>
              <a:rPr lang="es-ES" b="1" dirty="0"/>
              <a:t> --server=https://modules.prosody.im/rocks/ </a:t>
            </a:r>
            <a:r>
              <a:rPr lang="es-ES" b="1" dirty="0" err="1"/>
              <a:t>mod_admin_web</a:t>
            </a:r>
            <a:endParaRPr lang="en-US" b="1" dirty="0"/>
          </a:p>
          <a:p>
            <a:r>
              <a:rPr lang="en-US" dirty="0" err="1"/>
              <a:t>Ejemplo</a:t>
            </a:r>
            <a:r>
              <a:rPr lang="en-US" dirty="0"/>
              <a:t> URL: </a:t>
            </a:r>
            <a:r>
              <a:rPr lang="es-ES" u="sng" dirty="0">
                <a:hlinkClick r:id="rId2"/>
              </a:rPr>
              <a:t>https://im07.institutodh.net:5281/admin</a:t>
            </a:r>
            <a:r>
              <a:rPr lang="es-ES" dirty="0"/>
              <a:t> 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7517561-FAA0-E441-D8FA-14DC382FBC07}"/>
              </a:ext>
            </a:extLst>
          </p:cNvPr>
          <p:cNvSpPr txBox="1">
            <a:spLocks/>
          </p:cNvSpPr>
          <p:nvPr/>
        </p:nvSpPr>
        <p:spPr>
          <a:xfrm>
            <a:off x="1638298" y="1371600"/>
            <a:ext cx="891540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mod_admin_web</a:t>
            </a:r>
            <a:endParaRPr lang="en-US" sz="2400" dirty="0"/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CDA215F3-F399-B31E-C7AC-52626EC97D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507" y="419055"/>
            <a:ext cx="4481977" cy="1698813"/>
          </a:xfrm>
          <a:prstGeom prst="rect">
            <a:avLst/>
          </a:prstGeom>
        </p:spPr>
      </p:pic>
      <p:pic>
        <p:nvPicPr>
          <p:cNvPr id="9" name="Imagen 8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96319D39-B655-D50C-BCA5-C7F0D5B188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9059" y="2362155"/>
            <a:ext cx="3543425" cy="413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722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EBD5E-D1E1-90E0-CDDA-ECED19150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968D92-B00C-8E84-28A2-7474A2173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Módulos: Ejemplos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A5C5FD-240A-33C2-1924-D6647526B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7341" y="2424922"/>
            <a:ext cx="4904818" cy="4137259"/>
          </a:xfrm>
        </p:spPr>
        <p:txBody>
          <a:bodyPr/>
          <a:lstStyle/>
          <a:p>
            <a:r>
              <a:rPr lang="es-ES" i="1" dirty="0"/>
              <a:t>Por defecto, </a:t>
            </a:r>
            <a:r>
              <a:rPr lang="es-ES" i="1" dirty="0" err="1"/>
              <a:t>Prosody</a:t>
            </a:r>
            <a:r>
              <a:rPr lang="es-ES" i="1" dirty="0"/>
              <a:t> solo enviará los mensajes recibidos al </a:t>
            </a:r>
            <a:r>
              <a:rPr lang="es-ES" b="1" i="1" dirty="0"/>
              <a:t>primer cliente disponible.</a:t>
            </a:r>
          </a:p>
          <a:p>
            <a:r>
              <a:rPr lang="es-ES" i="1" dirty="0"/>
              <a:t>Si tienes el cliente de escritorio apagado y tu teléfono móvil recibe un mensaje, ese mensaje </a:t>
            </a:r>
            <a:r>
              <a:rPr lang="es-ES" b="1" i="1" dirty="0"/>
              <a:t>no estará disponible para el cliente de escritorio</a:t>
            </a:r>
            <a:r>
              <a:rPr lang="es-ES" i="1" dirty="0"/>
              <a:t> cuando lo inicies.</a:t>
            </a:r>
          </a:p>
          <a:p>
            <a:r>
              <a:rPr lang="es-ES" b="1" i="1" dirty="0" err="1"/>
              <a:t>mam</a:t>
            </a:r>
            <a:r>
              <a:rPr lang="es-ES" b="1" i="1" dirty="0"/>
              <a:t> (</a:t>
            </a:r>
            <a:r>
              <a:rPr lang="es-ES" b="1" i="1" dirty="0" err="1"/>
              <a:t>Message</a:t>
            </a:r>
            <a:r>
              <a:rPr lang="es-ES" b="1" i="1" dirty="0"/>
              <a:t> Archive Management)</a:t>
            </a:r>
            <a:r>
              <a:rPr lang="es-ES" i="1" dirty="0"/>
              <a:t> para que el servidor </a:t>
            </a:r>
            <a:r>
              <a:rPr lang="es-ES" b="1" i="1" dirty="0"/>
              <a:t>almacene los mensajes y los sincronice con todos los clientes</a:t>
            </a:r>
            <a:r>
              <a:rPr lang="es-ES" i="1" dirty="0"/>
              <a:t>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5B834EF-48A3-32CF-2AAA-E9CDFC50AC97}"/>
              </a:ext>
            </a:extLst>
          </p:cNvPr>
          <p:cNvSpPr txBox="1">
            <a:spLocks/>
          </p:cNvSpPr>
          <p:nvPr/>
        </p:nvSpPr>
        <p:spPr>
          <a:xfrm>
            <a:off x="1638298" y="1371600"/>
            <a:ext cx="891540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mod_mam</a:t>
            </a:r>
            <a:endParaRPr lang="en-US" sz="2400" dirty="0"/>
          </a:p>
        </p:txBody>
      </p:sp>
      <p:pic>
        <p:nvPicPr>
          <p:cNvPr id="6" name="Imagen 5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0DC64DE7-0F0F-565C-16A1-8182DD06A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313" y="421349"/>
            <a:ext cx="4650972" cy="1371600"/>
          </a:xfrm>
          <a:prstGeom prst="rect">
            <a:avLst/>
          </a:prstGeom>
        </p:spPr>
      </p:pic>
      <p:pic>
        <p:nvPicPr>
          <p:cNvPr id="11" name="Imagen 10" descr="Texto&#10;&#10;El contenido generado por IA puede ser incorrecto.">
            <a:extLst>
              <a:ext uri="{FF2B5EF4-FFF2-40B4-BE49-F238E27FC236}">
                <a16:creationId xmlns:a16="http://schemas.microsoft.com/office/drawing/2014/main" id="{69DE5CA1-FA5A-6FCE-ACE5-6A2D6983A7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2507" y="2214298"/>
            <a:ext cx="4010585" cy="380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941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5FA66-357F-9AFF-8F8F-C42D4C22B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89DA3F-973E-E4D2-147D-50E140799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Módulos: Ejemplos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8C5795-8E60-9A21-0699-B6FF29415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8105" y="1878044"/>
            <a:ext cx="4904818" cy="4137259"/>
          </a:xfrm>
        </p:spPr>
        <p:txBody>
          <a:bodyPr/>
          <a:lstStyle/>
          <a:p>
            <a:endParaRPr lang="en-US" dirty="0"/>
          </a:p>
          <a:p>
            <a:r>
              <a:rPr lang="es-ES" i="1" dirty="0"/>
              <a:t>Este módulo proporciona </a:t>
            </a:r>
            <a:r>
              <a:rPr lang="es-ES" b="1" i="1" dirty="0"/>
              <a:t>todos los comandos administrativos</a:t>
            </a:r>
            <a:r>
              <a:rPr lang="es-ES" i="1" dirty="0"/>
              <a:t> que antes estaban en </a:t>
            </a:r>
            <a:r>
              <a:rPr lang="es-ES" b="1" i="1" dirty="0" err="1"/>
              <a:t>mod_admin_telnet</a:t>
            </a:r>
            <a:r>
              <a:rPr lang="es-ES" i="1" dirty="0"/>
              <a:t>, el cual ahora es simplemente un </a:t>
            </a:r>
            <a:r>
              <a:rPr lang="es-ES" b="1" i="1" dirty="0"/>
              <a:t>método para acceder a esos comandos</a:t>
            </a:r>
            <a:r>
              <a:rPr lang="es-ES" i="1" dirty="0"/>
              <a:t>.</a:t>
            </a:r>
          </a:p>
          <a:p>
            <a:r>
              <a:rPr lang="es-ES" b="1" dirty="0"/>
              <a:t>Ejecuta: </a:t>
            </a:r>
            <a:r>
              <a:rPr lang="es-ES" b="1" dirty="0" err="1"/>
              <a:t>prosodyctl</a:t>
            </a:r>
            <a:r>
              <a:rPr lang="es-ES" b="1" dirty="0"/>
              <a:t> </a:t>
            </a:r>
            <a:r>
              <a:rPr lang="es-ES" b="1" dirty="0" err="1"/>
              <a:t>shell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AE3DC53-38E3-3D52-69C4-3B26D343C530}"/>
              </a:ext>
            </a:extLst>
          </p:cNvPr>
          <p:cNvSpPr txBox="1">
            <a:spLocks/>
          </p:cNvSpPr>
          <p:nvPr/>
        </p:nvSpPr>
        <p:spPr>
          <a:xfrm>
            <a:off x="1638298" y="1371600"/>
            <a:ext cx="891540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mod_admin_shell</a:t>
            </a:r>
            <a:endParaRPr lang="en-US" sz="2400" dirty="0"/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3BFA503A-5597-F56A-8950-5E08F499C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445" y="1878045"/>
            <a:ext cx="4650601" cy="844482"/>
          </a:xfrm>
          <a:prstGeom prst="rect">
            <a:avLst/>
          </a:prstGeom>
        </p:spPr>
      </p:pic>
      <p:pic>
        <p:nvPicPr>
          <p:cNvPr id="9" name="Imagen 8" descr="Texto&#10;&#10;El contenido generado por IA puede ser incorrecto.">
            <a:extLst>
              <a:ext uri="{FF2B5EF4-FFF2-40B4-BE49-F238E27FC236}">
                <a16:creationId xmlns:a16="http://schemas.microsoft.com/office/drawing/2014/main" id="{FFA6C55E-5D2D-CAB2-CBBE-FCB235B5F6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3249644"/>
            <a:ext cx="5382376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087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 descr="Texto&#10;&#10;El contenido generado por IA puede ser incorrecto.">
            <a:extLst>
              <a:ext uri="{FF2B5EF4-FFF2-40B4-BE49-F238E27FC236}">
                <a16:creationId xmlns:a16="http://schemas.microsoft.com/office/drawing/2014/main" id="{A6CE2184-53BA-2B6A-440E-0446535441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41" y="1428750"/>
            <a:ext cx="6200060" cy="4343400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879A050A-F39C-42EE-F834-EC3BAC8D79BD}"/>
              </a:ext>
            </a:extLst>
          </p:cNvPr>
          <p:cNvSpPr txBox="1">
            <a:spLocks/>
          </p:cNvSpPr>
          <p:nvPr/>
        </p:nvSpPr>
        <p:spPr>
          <a:xfrm>
            <a:off x="1485899" y="190500"/>
            <a:ext cx="891540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Módulos: Ejemplos</a:t>
            </a:r>
            <a:endParaRPr lang="en-US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0AA794E-AA5D-C6FA-EA5E-569A78EA26BC}"/>
              </a:ext>
            </a:extLst>
          </p:cNvPr>
          <p:cNvSpPr txBox="1">
            <a:spLocks/>
          </p:cNvSpPr>
          <p:nvPr/>
        </p:nvSpPr>
        <p:spPr>
          <a:xfrm>
            <a:off x="5651498" y="190500"/>
            <a:ext cx="402590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mod_admin_shell</a:t>
            </a:r>
            <a:endParaRPr lang="en-US" sz="2400" dirty="0"/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AC8F6DDB-0C67-5D08-4E61-2C4552BF4C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901" y="1990314"/>
            <a:ext cx="5563467" cy="338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852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130C2-966E-B5EC-2634-37DEE3B2B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9B7E69-EC2F-3F25-2B10-9A0099B2F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Módulos: Ejemplos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D78342-1AFE-EBE3-FBA4-77E9A21BE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8105" y="1878044"/>
            <a:ext cx="4929466" cy="4137259"/>
          </a:xfrm>
        </p:spPr>
        <p:txBody>
          <a:bodyPr/>
          <a:lstStyle/>
          <a:p>
            <a:endParaRPr lang="en-US" dirty="0"/>
          </a:p>
          <a:p>
            <a:r>
              <a:rPr lang="es-ES" i="1" dirty="0"/>
              <a:t>Permite a los usuarios </a:t>
            </a:r>
            <a:r>
              <a:rPr lang="es-ES" b="1" i="1" dirty="0"/>
              <a:t>compartir archivos, como imágenes, vídeos y clips de audio</a:t>
            </a:r>
            <a:r>
              <a:rPr lang="es-ES" i="1" dirty="0"/>
              <a:t>. Funciona con chats de grupo, múltiples clientes y destinatarios que estén desconectados.</a:t>
            </a:r>
            <a:endParaRPr lang="en-US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4E67FB0-5971-6714-1B3B-147775C69EB5}"/>
              </a:ext>
            </a:extLst>
          </p:cNvPr>
          <p:cNvSpPr txBox="1">
            <a:spLocks/>
          </p:cNvSpPr>
          <p:nvPr/>
        </p:nvSpPr>
        <p:spPr>
          <a:xfrm>
            <a:off x="1638298" y="1371600"/>
            <a:ext cx="891540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mod_http_file_share</a:t>
            </a:r>
            <a:endParaRPr lang="en-US" sz="2400" dirty="0"/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6B5AD0E2-678C-099C-E006-AF592BB02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05" y="4114801"/>
            <a:ext cx="7106642" cy="2324424"/>
          </a:xfrm>
          <a:prstGeom prst="rect">
            <a:avLst/>
          </a:prstGeom>
        </p:spPr>
      </p:pic>
      <p:pic>
        <p:nvPicPr>
          <p:cNvPr id="12" name="Imagen 11" descr="Pantalla de celular con imágen de hombre&#10;&#10;El contenido generado por IA puede ser incorrecto.">
            <a:extLst>
              <a:ext uri="{FF2B5EF4-FFF2-40B4-BE49-F238E27FC236}">
                <a16:creationId xmlns:a16="http://schemas.microsoft.com/office/drawing/2014/main" id="{20E7F0C5-DA2C-2F0A-4011-7A74D8AA0A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3247" y="723427"/>
            <a:ext cx="4086795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812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D003B3-66E0-2394-760D-CB1DD1CD9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Pidgin</a:t>
            </a:r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C327D1D-96A9-3CF7-8B57-A35F4C2A4D3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03" y="332822"/>
            <a:ext cx="1453096" cy="145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6A83959-C16F-1A09-868F-5518E81AAD2A}"/>
              </a:ext>
            </a:extLst>
          </p:cNvPr>
          <p:cNvSpPr txBox="1"/>
          <p:nvPr/>
        </p:nvSpPr>
        <p:spPr>
          <a:xfrm>
            <a:off x="1157052" y="1815730"/>
            <a:ext cx="91867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2920" lvl="2" indent="0">
              <a:buNone/>
            </a:pPr>
            <a:r>
              <a:rPr lang="es-ES" b="1" dirty="0">
                <a:sym typeface="Wingdings" panose="05000000000000000000" pitchFamily="2" charset="2"/>
              </a:rPr>
              <a:t>Fácil de instalar tanto en Windows como en Linux (</a:t>
            </a:r>
            <a:r>
              <a:rPr lang="es-ES" b="1" dirty="0" err="1">
                <a:sym typeface="Wingdings" panose="05000000000000000000" pitchFamily="2" charset="2"/>
              </a:rPr>
              <a:t>apt</a:t>
            </a:r>
            <a:r>
              <a:rPr lang="es-ES" b="1" dirty="0">
                <a:sym typeface="Wingdings" panose="05000000000000000000" pitchFamily="2" charset="2"/>
              </a:rPr>
              <a:t>).</a:t>
            </a:r>
          </a:p>
          <a:p>
            <a:pPr marL="502920" lvl="2" indent="0">
              <a:buNone/>
            </a:pPr>
            <a:r>
              <a:rPr lang="es-ES" b="1" dirty="0">
                <a:sym typeface="Wingdings" panose="05000000000000000000" pitchFamily="2" charset="2"/>
              </a:rPr>
              <a:t>Permite mandar archivos a través del chat, aunque requiere de peticiones de permiso constantes de los usuarios.</a:t>
            </a:r>
          </a:p>
          <a:p>
            <a:pPr marL="502920" lvl="2" indent="0">
              <a:buNone/>
            </a:pPr>
            <a:r>
              <a:rPr lang="es-ES" b="1" dirty="0">
                <a:sym typeface="Wingdings" panose="05000000000000000000" pitchFamily="2" charset="2"/>
              </a:rPr>
              <a:t>No permite subir imágenes.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3A5A91B-1ADF-9894-2530-24167336178D}"/>
              </a:ext>
            </a:extLst>
          </p:cNvPr>
          <p:cNvSpPr txBox="1">
            <a:spLocks/>
          </p:cNvSpPr>
          <p:nvPr/>
        </p:nvSpPr>
        <p:spPr>
          <a:xfrm>
            <a:off x="1638299" y="3016059"/>
            <a:ext cx="891540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/>
              <a:t>Gajim</a:t>
            </a:r>
            <a:endParaRPr lang="en-US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CA3B774-D671-BBBD-EECD-F4132E07E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3" y="3016059"/>
            <a:ext cx="1620446" cy="1620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571F6B9-5498-D281-9B5A-E418AA38C7D7}"/>
              </a:ext>
            </a:extLst>
          </p:cNvPr>
          <p:cNvSpPr txBox="1"/>
          <p:nvPr/>
        </p:nvSpPr>
        <p:spPr>
          <a:xfrm>
            <a:off x="1157051" y="4140472"/>
            <a:ext cx="918678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2920" lvl="2" indent="0">
              <a:buNone/>
            </a:pPr>
            <a:r>
              <a:rPr lang="es-ES" b="1" dirty="0">
                <a:sym typeface="Wingdings" panose="05000000000000000000" pitchFamily="2" charset="2"/>
              </a:rPr>
              <a:t>Fácil de instalar en Windows.</a:t>
            </a:r>
          </a:p>
          <a:p>
            <a:pPr marL="502920" lvl="2" indent="0">
              <a:buNone/>
            </a:pPr>
            <a:r>
              <a:rPr lang="es-ES" b="1" dirty="0">
                <a:sym typeface="Wingdings" panose="05000000000000000000" pitchFamily="2" charset="2"/>
              </a:rPr>
              <a:t>En Linux la versión de los repositorios de Ubuntu es muy antigua (le faltan funcionalidades), pero estable.</a:t>
            </a:r>
          </a:p>
          <a:p>
            <a:pPr marL="502920" lvl="2" indent="0">
              <a:buNone/>
            </a:pPr>
            <a:r>
              <a:rPr lang="es-ES" b="1" dirty="0">
                <a:sym typeface="Wingdings" panose="05000000000000000000" pitchFamily="2" charset="2"/>
              </a:rPr>
              <a:t>La versión de </a:t>
            </a:r>
            <a:r>
              <a:rPr lang="es-ES" b="1" dirty="0" err="1"/>
              <a:t>flatpak</a:t>
            </a:r>
            <a:r>
              <a:rPr lang="es-ES" b="1" dirty="0"/>
              <a:t> es la más moderna, pero “</a:t>
            </a:r>
            <a:r>
              <a:rPr lang="es-ES" b="1" dirty="0" err="1"/>
              <a:t>crashea</a:t>
            </a:r>
            <a:r>
              <a:rPr lang="es-ES" b="1" dirty="0"/>
              <a:t>” todo el tiempo.</a:t>
            </a:r>
            <a:endParaRPr lang="es-ES" b="1" dirty="0">
              <a:sym typeface="Wingdings" panose="05000000000000000000" pitchFamily="2" charset="2"/>
            </a:endParaRPr>
          </a:p>
          <a:p>
            <a:pPr marL="502920" lvl="2" indent="0">
              <a:buNone/>
            </a:pPr>
            <a:r>
              <a:rPr lang="es-ES" b="1" dirty="0">
                <a:sym typeface="Wingdings" panose="05000000000000000000" pitchFamily="2" charset="2"/>
              </a:rPr>
              <a:t>Permite mandar imágenes y videos, y soporta la previsualización en el chat.</a:t>
            </a:r>
            <a:endParaRPr lang="en-US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ED8CDFC-AC1F-132C-B6CD-64841A697634}"/>
              </a:ext>
            </a:extLst>
          </p:cNvPr>
          <p:cNvSpPr txBox="1"/>
          <p:nvPr/>
        </p:nvSpPr>
        <p:spPr>
          <a:xfrm>
            <a:off x="3886200" y="493930"/>
            <a:ext cx="60935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800" b="1" dirty="0">
                <a:latin typeface="Avenir Next LT Pro (Títulos)"/>
              </a:rPr>
              <a:t>Clientes XMPP</a:t>
            </a:r>
            <a:endParaRPr lang="en-US" sz="4800" b="1" dirty="0">
              <a:latin typeface="Avenir Next LT Pro (Títulos)"/>
            </a:endParaRPr>
          </a:p>
        </p:txBody>
      </p:sp>
    </p:spTree>
    <p:extLst>
      <p:ext uri="{BB962C8B-B14F-4D97-AF65-F5344CB8AC3E}">
        <p14:creationId xmlns:p14="http://schemas.microsoft.com/office/powerpoint/2010/main" val="3364365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30194-C7A5-7A52-82D9-04694A4D3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9095" y="0"/>
            <a:ext cx="8915402" cy="1371600"/>
          </a:xfrm>
        </p:spPr>
        <p:txBody>
          <a:bodyPr/>
          <a:lstStyle/>
          <a:p>
            <a:r>
              <a:rPr lang="es-ES" dirty="0"/>
              <a:t>Práctica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531384-EC9B-E11C-8102-7476E918E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9095" y="1029562"/>
            <a:ext cx="9174607" cy="5139009"/>
          </a:xfrm>
        </p:spPr>
        <p:txBody>
          <a:bodyPr>
            <a:normAutofit fontScale="92500" lnSpcReduction="20000"/>
          </a:bodyPr>
          <a:lstStyle/>
          <a:p>
            <a:r>
              <a:rPr lang="es-ES" b="1" dirty="0"/>
              <a:t>Usad una cuenta de usuario en im07.institutodh.net o creas una nueva.</a:t>
            </a:r>
          </a:p>
          <a:p>
            <a:pPr marL="0" indent="0">
              <a:buNone/>
            </a:pPr>
            <a:r>
              <a:rPr lang="es-ES" b="1" dirty="0">
                <a:hlinkClick r:id="rId2"/>
              </a:rPr>
              <a:t>cepeda@im07.institutodh.net</a:t>
            </a:r>
            <a:endParaRPr lang="es-ES" b="1" dirty="0"/>
          </a:p>
          <a:p>
            <a:pPr marL="0" indent="0">
              <a:buNone/>
            </a:pPr>
            <a:r>
              <a:rPr lang="es-ES" b="1" dirty="0">
                <a:hlinkClick r:id="rId3"/>
              </a:rPr>
              <a:t>pablo@im07.institutodh.net</a:t>
            </a:r>
            <a:endParaRPr lang="es-ES" b="1" dirty="0"/>
          </a:p>
          <a:p>
            <a:pPr marL="0" indent="0">
              <a:buNone/>
            </a:pPr>
            <a:r>
              <a:rPr lang="es-ES" b="1" dirty="0">
                <a:hlinkClick r:id="rId4"/>
              </a:rPr>
              <a:t>andres@im07.institutodh.net</a:t>
            </a:r>
            <a:endParaRPr lang="es-ES" b="1" dirty="0"/>
          </a:p>
          <a:p>
            <a:pPr marL="0" indent="0">
              <a:buNone/>
            </a:pPr>
            <a:r>
              <a:rPr lang="es-ES" b="1" dirty="0">
                <a:hlinkClick r:id="rId5"/>
              </a:rPr>
              <a:t>armando@im07.institutodh.net</a:t>
            </a:r>
            <a:endParaRPr lang="es-ES" b="1" dirty="0"/>
          </a:p>
          <a:p>
            <a:pPr marL="0" indent="0">
              <a:buNone/>
            </a:pPr>
            <a:r>
              <a:rPr lang="es-ES" b="1" dirty="0">
                <a:hlinkClick r:id="rId6"/>
              </a:rPr>
              <a:t>mario@im07.institutodh.net</a:t>
            </a:r>
            <a:endParaRPr lang="es-ES" b="1" dirty="0"/>
          </a:p>
          <a:p>
            <a:pPr marL="0" indent="0">
              <a:buNone/>
            </a:pPr>
            <a:r>
              <a:rPr lang="es-ES" b="1" dirty="0">
                <a:hlinkClick r:id="rId7"/>
              </a:rPr>
              <a:t>gonzalo@im07.institutodh.net</a:t>
            </a:r>
            <a:endParaRPr lang="es-ES" b="1" dirty="0"/>
          </a:p>
          <a:p>
            <a:pPr marL="0" indent="0">
              <a:buNone/>
            </a:pPr>
            <a:r>
              <a:rPr lang="es-ES" b="1" dirty="0">
                <a:hlinkClick r:id="rId8"/>
              </a:rPr>
              <a:t>sergio@im07.institutodh.net</a:t>
            </a:r>
            <a:endParaRPr lang="es-ES" b="1" dirty="0"/>
          </a:p>
          <a:p>
            <a:r>
              <a:rPr lang="es-ES" b="1" dirty="0"/>
              <a:t>Sala pública: </a:t>
            </a:r>
            <a:r>
              <a:rPr lang="es-ES" sz="2200" b="1" dirty="0">
                <a:hlinkClick r:id="rId9"/>
              </a:rPr>
              <a:t>musho_betis@conference.im07.institutodh.net</a:t>
            </a:r>
            <a:endParaRPr lang="es-ES" sz="2200" b="1" dirty="0"/>
          </a:p>
          <a:p>
            <a:r>
              <a:rPr lang="es-ES" b="1" dirty="0"/>
              <a:t>Sala con contraseña “12345”: </a:t>
            </a:r>
            <a:r>
              <a:rPr lang="es-ES" b="1" dirty="0">
                <a:hlinkClick r:id="rId10"/>
              </a:rPr>
              <a:t>half-life_3@conference.im07.institutodh.net</a:t>
            </a:r>
            <a:r>
              <a:rPr lang="es-ES" b="1" dirty="0"/>
              <a:t> </a:t>
            </a:r>
          </a:p>
          <a:p>
            <a:r>
              <a:rPr lang="es-ES" b="1" dirty="0"/>
              <a:t>Sala con contraseña “12345”: </a:t>
            </a:r>
            <a:r>
              <a:rPr lang="es-ES" b="1" dirty="0">
                <a:hlinkClick r:id="rId11"/>
              </a:rPr>
              <a:t>sala_muy_cerrada@conference.im07.institutodh.net</a:t>
            </a:r>
            <a:r>
              <a:rPr lang="es-ES" b="1" dirty="0"/>
              <a:t> </a:t>
            </a:r>
          </a:p>
          <a:p>
            <a:r>
              <a:rPr lang="es-ES" b="1" dirty="0"/>
              <a:t>Sala con invitación: </a:t>
            </a:r>
            <a:r>
              <a:rPr lang="es-ES" b="1" dirty="0">
                <a:hlinkClick r:id="rId12"/>
              </a:rPr>
              <a:t>sala_cerrada@conference.im07.institutodh.net</a:t>
            </a:r>
            <a:r>
              <a:rPr lang="es-ES" b="1" dirty="0"/>
              <a:t> </a:t>
            </a:r>
          </a:p>
          <a:p>
            <a:r>
              <a:rPr lang="en-US" sz="1900" b="1" dirty="0"/>
              <a:t>Solo con </a:t>
            </a:r>
            <a:r>
              <a:rPr lang="en-US" sz="1900" b="1" dirty="0" err="1"/>
              <a:t>invitación</a:t>
            </a:r>
            <a:r>
              <a:rPr lang="en-US" sz="1900" b="1" dirty="0"/>
              <a:t>: </a:t>
            </a:r>
            <a:r>
              <a:rPr lang="en-US" sz="1900" b="1" dirty="0">
                <a:hlinkClick r:id="rId13"/>
              </a:rPr>
              <a:t>solo_socios@conference.im07.institutodh.net</a:t>
            </a:r>
            <a:r>
              <a:rPr lang="en-US" sz="19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7176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6AF638-4830-44F2-506F-5069A6465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47" y="0"/>
            <a:ext cx="8915402" cy="1371600"/>
          </a:xfrm>
        </p:spPr>
        <p:txBody>
          <a:bodyPr/>
          <a:lstStyle/>
          <a:p>
            <a:r>
              <a:rPr lang="es-ES" dirty="0"/>
              <a:t>Crear nuevo usuario desde el cliente.</a:t>
            </a:r>
            <a:endParaRPr lang="en-US" dirty="0"/>
          </a:p>
        </p:txBody>
      </p:sp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7F4AFCCD-E7D8-81DB-BA95-DD7856E62B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47" y="1077019"/>
            <a:ext cx="5164701" cy="3354049"/>
          </a:xfrm>
          <a:prstGeom prst="rect">
            <a:avLst/>
          </a:prstGeom>
        </p:spPr>
      </p:pic>
      <p:pic>
        <p:nvPicPr>
          <p:cNvPr id="7" name="Imagen 6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4D40C921-1AC9-2AB1-CD3D-86554A8624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949" y="227128"/>
            <a:ext cx="4071200" cy="3708801"/>
          </a:xfrm>
          <a:prstGeom prst="rect">
            <a:avLst/>
          </a:prstGeom>
        </p:spPr>
      </p:pic>
      <p:pic>
        <p:nvPicPr>
          <p:cNvPr id="9" name="Imagen 8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9462D5B5-8D04-DC4D-0A06-0911A72F5D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8349" y="2922071"/>
            <a:ext cx="4043200" cy="370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052150"/>
      </p:ext>
    </p:extLst>
  </p:cSld>
  <p:clrMapOvr>
    <a:masterClrMapping/>
  </p:clrMapOvr>
</p:sld>
</file>

<file path=ppt/theme/theme1.xml><?xml version="1.0" encoding="utf-8"?>
<a:theme xmlns:a="http://schemas.openxmlformats.org/drawingml/2006/main" name="EncaseVTI">
  <a:themeElements>
    <a:clrScheme name="Encase">
      <a:dk1>
        <a:sysClr val="windowText" lastClr="000000"/>
      </a:dk1>
      <a:lt1>
        <a:sysClr val="window" lastClr="FFFFFF"/>
      </a:lt1>
      <a:dk2>
        <a:srgbClr val="1E2121"/>
      </a:dk2>
      <a:lt2>
        <a:srgbClr val="EFECEB"/>
      </a:lt2>
      <a:accent1>
        <a:srgbClr val="717059"/>
      </a:accent1>
      <a:accent2>
        <a:srgbClr val="B9A17E"/>
      </a:accent2>
      <a:accent3>
        <a:srgbClr val="766752"/>
      </a:accent3>
      <a:accent4>
        <a:srgbClr val="A28578"/>
      </a:accent4>
      <a:accent5>
        <a:srgbClr val="6E736D"/>
      </a:accent5>
      <a:accent6>
        <a:srgbClr val="BE8366"/>
      </a:accent6>
      <a:hlink>
        <a:srgbClr val="B5714F"/>
      </a:hlink>
      <a:folHlink>
        <a:srgbClr val="7B6B4C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ncaseVTI" id="{C293990F-FDB3-4ED3-8175-FB79CE5A2A12}" vid="{A5662C19-271F-459F-B4ED-861A9823764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1142</Words>
  <Application>Microsoft Office PowerPoint</Application>
  <PresentationFormat>Panorámica</PresentationFormat>
  <Paragraphs>143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4" baseType="lpstr">
      <vt:lpstr>Aptos</vt:lpstr>
      <vt:lpstr>Arial</vt:lpstr>
      <vt:lpstr>Avenir Next LT Pro</vt:lpstr>
      <vt:lpstr>Avenir Next LT Pro (Títulos)</vt:lpstr>
      <vt:lpstr>Avenir Next LT Pro Light</vt:lpstr>
      <vt:lpstr>Avenir Next LT Pro Light (Cuerpo)</vt:lpstr>
      <vt:lpstr>Wingdings</vt:lpstr>
      <vt:lpstr>EncaseVTI</vt:lpstr>
      <vt:lpstr>Prosody</vt:lpstr>
      <vt:lpstr>Puertos en AWS</vt:lpstr>
      <vt:lpstr>Instalación</vt:lpstr>
      <vt:lpstr>prosody.cfg.lua  Directorios</vt:lpstr>
      <vt:lpstr>prosody.cfg.lua  Seguridad</vt:lpstr>
      <vt:lpstr>prosody.cfg.lua  Certificados y Conexión</vt:lpstr>
      <vt:lpstr>prosody.cfg.lua  Módulos</vt:lpstr>
      <vt:lpstr>Instalación de Módulos Externos</vt:lpstr>
      <vt:lpstr>Módulos: Ejemplos</vt:lpstr>
      <vt:lpstr>Módulos: Ejemplos</vt:lpstr>
      <vt:lpstr>Módulos: Ejemplos</vt:lpstr>
      <vt:lpstr>Presentación de PowerPoint</vt:lpstr>
      <vt:lpstr>Módulos: Ejemplos</vt:lpstr>
      <vt:lpstr>Pidgin</vt:lpstr>
      <vt:lpstr>Práctica</vt:lpstr>
      <vt:lpstr>Crear nuevo usuario desde el cliente.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Cristóbal Suárez Abad</dc:creator>
  <cp:lastModifiedBy>UsuarioASIR</cp:lastModifiedBy>
  <cp:revision>25</cp:revision>
  <dcterms:created xsi:type="dcterms:W3CDTF">2026-01-17T21:17:48Z</dcterms:created>
  <dcterms:modified xsi:type="dcterms:W3CDTF">2026-01-22T13:09:26Z</dcterms:modified>
</cp:coreProperties>
</file>