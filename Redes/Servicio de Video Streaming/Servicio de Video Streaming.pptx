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F96"/>
    <a:srgbClr val="685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38CEE-E092-9631-AA48-3105C4831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4A8C75-1D9B-133F-996C-71B11A030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2EE5A7-3B4A-91A1-1332-F05BDA95E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C921CB-17FF-2EA9-D911-591EB53D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533C65-3ABC-9D62-EBD1-2BCA2FE5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9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8D71A-77AD-89EC-2A34-313372FA0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475A1B-E81E-45B9-C98A-E80AB2DD1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F79BB5-6622-3424-6E6F-04CD1F77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733A1D-8798-E27B-F6CD-D256A3C6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7A0D4F-7A49-7746-0803-23A55F8F5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24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34CD9-25F2-9387-BD7A-62D1ABF93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C01BD3-69BB-1B8E-ED78-408405921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837A82-A2E7-613E-964E-1497601A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15449E-5512-9D24-2431-4094D6DE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A2F907-786A-7727-B25A-2430A1C8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4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E6F94-7F4E-582B-4C20-AD51DE24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986315-BBD3-5C02-6924-01F9DD587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610C31-6639-E8EE-83B6-EADDC249D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0A1232-8159-F682-691E-A87AAAF5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EA4BFF-18D5-E192-441E-7A0784680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D177DB-7AAA-8D61-A78A-32A79DC5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2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739593-EA6A-78EC-2068-EF637AB65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EF9AAA-FD0B-F752-417B-E40B3AEDB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EE117A-D94B-7FF1-3F8E-435C2503F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0B5136-B212-3F87-A614-7EA849113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11355E-2A1F-A0FD-349C-089AE3534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3E4774E-5FC3-912A-7500-2B24956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02154E-ACC7-0250-53AC-DBBC9F9DB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0EC3D05-8C10-0662-7754-03491D37D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6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32DF6-F504-FF31-B6C6-4282DB3A4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AAB49B-5455-48CA-570C-6C17051C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6AF5BC-4AE2-0D49-0B6D-2366CC3AE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0D03D2-4BB7-7AA6-CF53-F2332A4E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86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2EBC7D-C139-A350-2B68-9A0772D4B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88DE7E-6CBB-F1CB-319A-B859063FB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654DAA-11DC-4571-818A-E10D8A64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5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5BF17-4BEF-F675-7F01-B17B0648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C9804C-401C-7E0A-EEEA-A32817D50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88DAFC-9695-59E9-8EAC-176FF567F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C7CFAA-ADCC-7A07-FC4B-FE9ECF9A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4E4A99-0BB3-22DB-40E4-48B38639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314B86-18E3-4C2F-596B-2557B9D3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6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10770-7F02-55FC-C95B-41A6FD565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ED51574-146D-25D0-6EFB-DAFB0B868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654898-1846-59E2-D9EE-06175370B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9858A1-6042-6E15-E7B5-F5871E3F6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E36D55-0D8F-2068-CED0-731466EF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CB65B8-D33E-AFE8-42AE-D86F4D89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D7D6D-E394-7B83-5FF0-5DD0952BA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A23441-2D9F-7259-2D70-2E1C12657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8B38DF-65DA-EAD3-7358-6DF15FDCE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BA8256-3F09-7340-086E-9AFF254E3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B10683-BC95-3EA5-00AF-C0B9D71E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2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37CEA1-C1E9-4BA3-D0C6-358B4E406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560856-C8DC-7DA9-68C0-F96AB96F3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62BF07-AEE7-0A07-EC9F-F2E257DDB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17578E-2A28-919B-C3B8-D48717F49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2367F4-0709-8647-206E-BCBF6F2D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2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0B49EFC-E74B-55B9-6E90-CEFD0C52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06F675-1388-4588-7E43-CDB27F164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70A04B-15DE-11F2-A788-92255CF47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1AB96A-6A22-4875-919C-78D48DFE4C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B132AE-47BA-2EFD-DDA8-482411AAA7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6019E7-3B68-A6E5-CB62-763042420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2DED1-C5A6-46DE-B808-76F2E80B4E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eet.im07.institutodh.net/" TargetMode="External"/><Relationship Id="rId2" Type="http://schemas.openxmlformats.org/officeDocument/2006/relationships/hyperlink" Target="https://media.im07.institutodh.net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.im07.institutodh.net/" TargetMode="External"/><Relationship Id="rId2" Type="http://schemas.openxmlformats.org/officeDocument/2006/relationships/hyperlink" Target="https://live.im07.institutodh.n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hyperlink" Target="https://meet.im07.institutodh.net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787FF5F-9258-BA31-0E5F-85F5EAC485B2}"/>
              </a:ext>
            </a:extLst>
          </p:cNvPr>
          <p:cNvSpPr/>
          <p:nvPr/>
        </p:nvSpPr>
        <p:spPr>
          <a:xfrm>
            <a:off x="6530715" y="2098623"/>
            <a:ext cx="5311515" cy="384068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err="1">
                <a:solidFill>
                  <a:schemeClr val="bg1"/>
                </a:solidFill>
              </a:rPr>
              <a:t>Jellyfin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https://media.im07.institutodh.net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</a:p>
          <a:p>
            <a:r>
              <a:rPr lang="en-US" sz="2200" dirty="0" err="1"/>
              <a:t>jose.javier.cepeda</a:t>
            </a:r>
            <a:r>
              <a:rPr lang="en-US" sz="2200" dirty="0"/>
              <a:t>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 err="1">
                <a:sym typeface="Wingdings" panose="05000000000000000000" pitchFamily="2" charset="2"/>
              </a:rPr>
              <a:t>c</a:t>
            </a:r>
            <a:r>
              <a:rPr lang="en-US" sz="2200" dirty="0" err="1"/>
              <a:t>epeda</a:t>
            </a:r>
            <a:endParaRPr lang="en-US" sz="2200" dirty="0"/>
          </a:p>
          <a:p>
            <a:r>
              <a:rPr lang="en-US" sz="2200" dirty="0" err="1"/>
              <a:t>pablo.espina</a:t>
            </a:r>
            <a:r>
              <a:rPr lang="en-US" sz="2200" dirty="0"/>
              <a:t>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 err="1"/>
              <a:t>espina</a:t>
            </a:r>
            <a:endParaRPr lang="en-US" sz="2200" dirty="0"/>
          </a:p>
          <a:p>
            <a:r>
              <a:rPr lang="en-US" sz="2200" dirty="0" err="1"/>
              <a:t>andres.gonzalez</a:t>
            </a:r>
            <a:r>
              <a:rPr lang="en-US" sz="2200" dirty="0"/>
              <a:t>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 err="1">
                <a:sym typeface="Wingdings" panose="05000000000000000000" pitchFamily="2" charset="2"/>
              </a:rPr>
              <a:t>g</a:t>
            </a:r>
            <a:r>
              <a:rPr lang="en-US" sz="2200" dirty="0" err="1"/>
              <a:t>onzalez</a:t>
            </a:r>
            <a:endParaRPr lang="en-US" sz="2200" dirty="0"/>
          </a:p>
          <a:p>
            <a:r>
              <a:rPr lang="en-US" sz="2200" dirty="0" err="1"/>
              <a:t>armando.luque</a:t>
            </a:r>
            <a:r>
              <a:rPr lang="en-US" sz="2200" dirty="0"/>
              <a:t>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 err="1">
                <a:sym typeface="Wingdings" panose="05000000000000000000" pitchFamily="2" charset="2"/>
              </a:rPr>
              <a:t>l</a:t>
            </a:r>
            <a:r>
              <a:rPr lang="en-US" sz="2200" dirty="0" err="1"/>
              <a:t>uque</a:t>
            </a:r>
            <a:endParaRPr lang="en-US" sz="2200" dirty="0"/>
          </a:p>
          <a:p>
            <a:r>
              <a:rPr lang="en-US" sz="2200" dirty="0" err="1"/>
              <a:t>mario.reig</a:t>
            </a:r>
            <a:r>
              <a:rPr lang="en-US" sz="2200" dirty="0"/>
              <a:t>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 err="1"/>
              <a:t>reig</a:t>
            </a:r>
            <a:endParaRPr lang="en-US" sz="2200" dirty="0"/>
          </a:p>
          <a:p>
            <a:r>
              <a:rPr lang="en-US" sz="2200" dirty="0" err="1"/>
              <a:t>gonzalo.rubio</a:t>
            </a:r>
            <a:r>
              <a:rPr lang="en-US" sz="2200" dirty="0"/>
              <a:t>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rubio</a:t>
            </a:r>
          </a:p>
          <a:p>
            <a:r>
              <a:rPr lang="en-US" sz="2200" dirty="0" err="1"/>
              <a:t>sergio.villegas</a:t>
            </a:r>
            <a:r>
              <a:rPr lang="en-US" sz="2200" dirty="0"/>
              <a:t>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 err="1"/>
              <a:t>villegas</a:t>
            </a:r>
            <a:endParaRPr lang="en-US" sz="2200" dirty="0"/>
          </a:p>
          <a:p>
            <a:r>
              <a:rPr lang="en-US" sz="2200" dirty="0" err="1"/>
              <a:t>diego.fernandez</a:t>
            </a:r>
            <a:r>
              <a:rPr lang="en-US" sz="2200" dirty="0"/>
              <a:t>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 err="1"/>
              <a:t>fernandez</a:t>
            </a:r>
            <a:endParaRPr lang="en-US" sz="2200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8B7D740-7340-A8B9-BA88-E2E050DF3644}"/>
              </a:ext>
            </a:extLst>
          </p:cNvPr>
          <p:cNvSpPr/>
          <p:nvPr/>
        </p:nvSpPr>
        <p:spPr>
          <a:xfrm>
            <a:off x="660559" y="4681804"/>
            <a:ext cx="5638799" cy="13255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200" dirty="0" err="1"/>
              <a:t>Jitsi</a:t>
            </a:r>
            <a:r>
              <a:rPr lang="es-ES" sz="2200" dirty="0"/>
              <a:t> </a:t>
            </a:r>
            <a:r>
              <a:rPr lang="es-ES" sz="2200" dirty="0" err="1"/>
              <a:t>Meet</a:t>
            </a:r>
            <a:endParaRPr lang="es-ES" sz="2200" u="sng" dirty="0">
              <a:solidFill>
                <a:schemeClr val="bg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s-E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https://meet.im07.institutodh.net</a:t>
            </a:r>
          </a:p>
          <a:p>
            <a:r>
              <a:rPr lang="es-E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https://meet.im07.institutodh.net/fondo_del_mar/</a:t>
            </a:r>
            <a:r>
              <a:rPr lang="es-ES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792771A-187F-C3AF-87B0-2C8F910909D0}"/>
              </a:ext>
            </a:extLst>
          </p:cNvPr>
          <p:cNvSpPr/>
          <p:nvPr/>
        </p:nvSpPr>
        <p:spPr>
          <a:xfrm>
            <a:off x="699869" y="3263969"/>
            <a:ext cx="4306846" cy="953307"/>
          </a:xfrm>
          <a:prstGeom prst="roundRect">
            <a:avLst/>
          </a:prstGeom>
          <a:solidFill>
            <a:srgbClr val="6851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200" dirty="0" err="1"/>
              <a:t>Owncast</a:t>
            </a:r>
            <a:endParaRPr lang="es-ES" sz="2200" u="sng" dirty="0">
              <a:solidFill>
                <a:schemeClr val="bg1"/>
              </a:solidFill>
            </a:endParaRPr>
          </a:p>
          <a:p>
            <a:r>
              <a:rPr lang="es-ES" sz="2200" u="sng" dirty="0">
                <a:solidFill>
                  <a:schemeClr val="bg1"/>
                </a:solidFill>
              </a:rPr>
              <a:t>https://live.im07.institutodh.net</a:t>
            </a:r>
            <a:r>
              <a:rPr lang="es-ES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9659559-9B9B-477A-16A6-3B710C395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57" y="751615"/>
            <a:ext cx="751359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200" dirty="0"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SERVICIO DE VIDEO STREAMING</a:t>
            </a:r>
            <a:endParaRPr lang="en-US" altLang="en-US" sz="4200" dirty="0">
              <a:latin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E3775CC-AC79-DB28-EFD1-4EA0FDC060B2}"/>
              </a:ext>
            </a:extLst>
          </p:cNvPr>
          <p:cNvSpPr txBox="1"/>
          <p:nvPr/>
        </p:nvSpPr>
        <p:spPr>
          <a:xfrm>
            <a:off x="1005589" y="1671634"/>
            <a:ext cx="4422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Cristóbal Suárez Abad</a:t>
            </a:r>
          </a:p>
          <a:p>
            <a:r>
              <a:rPr lang="es-ES" sz="2400" b="1" dirty="0"/>
              <a:t>Servicios de Red e Internet</a:t>
            </a:r>
            <a:endParaRPr lang="en-US" sz="2400" b="1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7E65935-BB29-E1C2-522E-2D330570B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9756" y="3417544"/>
            <a:ext cx="1342474" cy="134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5CAC361C-80A0-07E7-4D96-6968D24C5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867" y="2557552"/>
            <a:ext cx="1406491" cy="140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C6B5D470-5795-F802-7337-154AFF1C6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316" y="3848334"/>
            <a:ext cx="1496251" cy="149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78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C64404C-EE2E-743A-06FC-F273EA4F2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53190" y="3161419"/>
            <a:ext cx="59262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s-ES" sz="3600" i="1" u="sng" dirty="0"/>
              <a:t>Infraestructura (AWS y Docker)</a:t>
            </a:r>
            <a:endParaRPr kumimoji="0" lang="en-US" altLang="en-US" sz="1800" b="0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161117-DFE9-546E-B813-C618BA5E62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3189" y="3818909"/>
            <a:ext cx="1116892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b="1" dirty="0"/>
              <a:t>Instancia EC2 en AWS </a:t>
            </a:r>
            <a:r>
              <a:rPr lang="es-ES" sz="1800" dirty="0"/>
              <a:t>con Ubuntu LTS de 64 bits. </a:t>
            </a:r>
            <a:r>
              <a:rPr lang="es-ES" sz="1800" dirty="0">
                <a:sym typeface="Wingdings" panose="05000000000000000000" pitchFamily="2" charset="2"/>
              </a:rPr>
              <a:t> </a:t>
            </a:r>
            <a:r>
              <a:rPr lang="es-ES" sz="1800" b="1" dirty="0">
                <a:sym typeface="Wingdings" panose="05000000000000000000" pitchFamily="2" charset="2"/>
              </a:rPr>
              <a:t>t3.large </a:t>
            </a:r>
            <a:r>
              <a:rPr lang="es-ES" sz="1800" dirty="0">
                <a:sym typeface="Wingdings" panose="05000000000000000000" pitchFamily="2" charset="2"/>
              </a:rPr>
              <a:t> 2 </a:t>
            </a:r>
            <a:r>
              <a:rPr lang="es-ES" sz="1800" dirty="0" err="1">
                <a:sym typeface="Wingdings" panose="05000000000000000000" pitchFamily="2" charset="2"/>
              </a:rPr>
              <a:t>vCPU</a:t>
            </a:r>
            <a:r>
              <a:rPr lang="es-ES" sz="1800" dirty="0">
                <a:sym typeface="Wingdings" panose="05000000000000000000" pitchFamily="2" charset="2"/>
              </a:rPr>
              <a:t> y 8 GB RAM.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ES" sz="1800" dirty="0">
              <a:sym typeface="Wingdings" panose="05000000000000000000" pitchFamily="2" charset="2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/>
              <a:t>Uso de IP Elástica (</a:t>
            </a:r>
            <a:r>
              <a:rPr lang="es-ES" sz="1800" b="1" dirty="0"/>
              <a:t>100.48.114.98</a:t>
            </a:r>
            <a:r>
              <a:rPr lang="es-ES" sz="1800" dirty="0"/>
              <a:t>) asociada al dominio y subdominios (</a:t>
            </a:r>
            <a:r>
              <a:rPr lang="es-ES" sz="1800" b="1" dirty="0"/>
              <a:t>DNS</a:t>
            </a:r>
            <a:r>
              <a:rPr lang="es-ES" sz="1800" dirty="0"/>
              <a:t>) </a:t>
            </a:r>
            <a:r>
              <a:rPr lang="es-ES" sz="1800" dirty="0">
                <a:sym typeface="Wingdings" panose="05000000000000000000" pitchFamily="2" charset="2"/>
              </a:rPr>
              <a:t></a:t>
            </a:r>
            <a:r>
              <a:rPr lang="es-ES" sz="1800" b="1" dirty="0">
                <a:sym typeface="Wingdings" panose="05000000000000000000" pitchFamily="2" charset="2"/>
              </a:rPr>
              <a:t>im07.institutodh.net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ES" sz="1800" dirty="0">
              <a:sym typeface="Wingdings" panose="05000000000000000000" pitchFamily="2" charset="2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/>
              <a:t>Despliegue mediante </a:t>
            </a:r>
            <a:r>
              <a:rPr lang="es-ES" sz="1800" b="1" dirty="0"/>
              <a:t>Docker</a:t>
            </a:r>
            <a:r>
              <a:rPr lang="es-ES" sz="1800" dirty="0"/>
              <a:t> y </a:t>
            </a:r>
            <a:r>
              <a:rPr lang="es-ES" sz="1800" b="1" dirty="0"/>
              <a:t>Docker </a:t>
            </a:r>
            <a:r>
              <a:rPr lang="es-ES" sz="1800" b="1" dirty="0" err="1"/>
              <a:t>Compose</a:t>
            </a:r>
            <a:r>
              <a:rPr lang="es-ES" sz="1800" dirty="0"/>
              <a:t> para una gestión modular (facilidad de despliegue):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800" b="1" dirty="0">
                <a:latin typeface="Arial" panose="020B0604020202020204" pitchFamily="34" charset="0"/>
              </a:rPr>
              <a:t>apt update &amp;&amp; apt install docker.io -y &amp;&amp; apt install docker-compose-v2 –y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Uso de </a:t>
            </a:r>
            <a:r>
              <a:rPr lang="en-US" altLang="en-US" sz="1800" b="1" dirty="0">
                <a:latin typeface="Arial" panose="020B0604020202020204" pitchFamily="34" charset="0"/>
              </a:rPr>
              <a:t>Nginx Proxy Manager </a:t>
            </a:r>
            <a:r>
              <a:rPr lang="en-US" altLang="en-US" sz="1800" dirty="0">
                <a:latin typeface="Arial" panose="020B0604020202020204" pitchFamily="34" charset="0"/>
              </a:rPr>
              <a:t>para la </a:t>
            </a:r>
            <a:r>
              <a:rPr lang="en-US" altLang="en-US" sz="1800" dirty="0" err="1">
                <a:latin typeface="Arial" panose="020B0604020202020204" pitchFamily="34" charset="0"/>
              </a:rPr>
              <a:t>redirección</a:t>
            </a:r>
            <a:r>
              <a:rPr lang="en-US" altLang="en-US" sz="1800" dirty="0">
                <a:latin typeface="Arial" panose="020B0604020202020204" pitchFamily="34" charset="0"/>
              </a:rPr>
              <a:t> de </a:t>
            </a:r>
            <a:r>
              <a:rPr lang="en-US" altLang="en-US" sz="1800" dirty="0" err="1">
                <a:latin typeface="Arial" panose="020B0604020202020204" pitchFamily="34" charset="0"/>
              </a:rPr>
              <a:t>peticiones</a:t>
            </a:r>
            <a:r>
              <a:rPr lang="en-US" altLang="en-US" sz="1800" dirty="0">
                <a:latin typeface="Arial" panose="020B0604020202020204" pitchFamily="34" charset="0"/>
              </a:rPr>
              <a:t> a </a:t>
            </a:r>
            <a:r>
              <a:rPr lang="en-US" altLang="en-US" sz="1800" dirty="0" err="1">
                <a:latin typeface="Arial" panose="020B0604020202020204" pitchFamily="34" charset="0"/>
              </a:rPr>
              <a:t>los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servidores</a:t>
            </a:r>
            <a:r>
              <a:rPr lang="en-US" altLang="en-US" sz="1800" dirty="0">
                <a:latin typeface="Arial" panose="020B0604020202020204" pitchFamily="34" charset="0"/>
              </a:rPr>
              <a:t> y </a:t>
            </a:r>
            <a:r>
              <a:rPr lang="en-US" altLang="en-US" sz="1800" dirty="0" err="1">
                <a:latin typeface="Arial" panose="020B0604020202020204" pitchFamily="34" charset="0"/>
              </a:rPr>
              <a:t>gestión</a:t>
            </a:r>
            <a:r>
              <a:rPr lang="en-US" altLang="en-US" sz="1800" dirty="0">
                <a:latin typeface="Arial" panose="020B0604020202020204" pitchFamily="34" charset="0"/>
              </a:rPr>
              <a:t> de </a:t>
            </a:r>
            <a:r>
              <a:rPr lang="en-US" altLang="en-US" sz="1800" dirty="0" err="1">
                <a:latin typeface="Arial" panose="020B0604020202020204" pitchFamily="34" charset="0"/>
              </a:rPr>
              <a:t>certificados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C8C3698-85DD-8CAD-E96B-B4293ACBE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190" y="1018926"/>
            <a:ext cx="1088410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Crear un </a:t>
            </a:r>
            <a:r>
              <a:rPr lang="en-US" altLang="en-US" sz="1800" b="1" dirty="0" err="1">
                <a:latin typeface="Arial" panose="020B0604020202020204" pitchFamily="34" charset="0"/>
              </a:rPr>
              <a:t>repositorio</a:t>
            </a:r>
            <a:r>
              <a:rPr lang="en-US" altLang="en-US" sz="1800" b="1" dirty="0">
                <a:latin typeface="Arial" panose="020B0604020202020204" pitchFamily="34" charset="0"/>
              </a:rPr>
              <a:t> multimedia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educativo</a:t>
            </a:r>
            <a:r>
              <a:rPr lang="en-US" altLang="en-US" sz="1800" dirty="0">
                <a:latin typeface="Arial" panose="020B0604020202020204" pitchFamily="34" charset="0"/>
              </a:rPr>
              <a:t> (audio y </a:t>
            </a:r>
            <a:r>
              <a:rPr lang="en-US" altLang="en-US" sz="1800" dirty="0" err="1">
                <a:latin typeface="Arial" panose="020B0604020202020204" pitchFamily="34" charset="0"/>
              </a:rPr>
              <a:t>vídeo</a:t>
            </a:r>
            <a:r>
              <a:rPr lang="en-US" altLang="en-US" sz="1800" dirty="0">
                <a:latin typeface="Arial" panose="020B0604020202020204" pitchFamily="34" charset="0"/>
              </a:rPr>
              <a:t>) </a:t>
            </a:r>
            <a:r>
              <a:rPr lang="en-US" altLang="en-US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1800" dirty="0" err="1">
                <a:latin typeface="Arial" panose="020B0604020202020204" pitchFamily="34" charset="0"/>
                <a:sym typeface="Wingdings" panose="05000000000000000000" pitchFamily="2" charset="2"/>
              </a:rPr>
              <a:t>Jellyfin</a:t>
            </a:r>
            <a:endParaRPr lang="en-US" altLang="en-US" sz="1800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Implementar</a:t>
            </a:r>
            <a:r>
              <a:rPr lang="en-US" altLang="en-US" sz="1800" dirty="0">
                <a:latin typeface="Arial" panose="020B0604020202020204" pitchFamily="34" charset="0"/>
              </a:rPr>
              <a:t> un </a:t>
            </a:r>
            <a:r>
              <a:rPr lang="en-US" altLang="en-US" sz="1800" dirty="0" err="1">
                <a:latin typeface="Arial" panose="020B0604020202020204" pitchFamily="34" charset="0"/>
              </a:rPr>
              <a:t>sistema</a:t>
            </a:r>
            <a:r>
              <a:rPr lang="en-US" altLang="en-US" sz="1800" dirty="0">
                <a:latin typeface="Arial" panose="020B0604020202020204" pitchFamily="34" charset="0"/>
              </a:rPr>
              <a:t> de </a:t>
            </a:r>
            <a:r>
              <a:rPr lang="en-US" altLang="en-US" sz="1800" b="1" dirty="0" err="1">
                <a:latin typeface="Arial" panose="020B0604020202020204" pitchFamily="34" charset="0"/>
              </a:rPr>
              <a:t>retransmisión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en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tiempo</a:t>
            </a:r>
            <a:r>
              <a:rPr lang="en-US" altLang="en-US" sz="1800" b="1" dirty="0">
                <a:latin typeface="Arial" panose="020B0604020202020204" pitchFamily="34" charset="0"/>
              </a:rPr>
              <a:t> real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1800" dirty="0" err="1">
                <a:latin typeface="Arial" panose="020B0604020202020204" pitchFamily="34" charset="0"/>
                <a:sym typeface="Wingdings" panose="05000000000000000000" pitchFamily="2" charset="2"/>
              </a:rPr>
              <a:t>Owncast</a:t>
            </a:r>
            <a:endParaRPr lang="en-US" altLang="en-US" sz="1800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Desplegar</a:t>
            </a:r>
            <a:r>
              <a:rPr lang="en-US" altLang="en-US" sz="1800" dirty="0">
                <a:latin typeface="Arial" panose="020B0604020202020204" pitchFamily="34" charset="0"/>
              </a:rPr>
              <a:t> un </a:t>
            </a:r>
            <a:r>
              <a:rPr lang="en-US" altLang="en-US" sz="1800" dirty="0" err="1">
                <a:latin typeface="Arial" panose="020B0604020202020204" pitchFamily="34" charset="0"/>
              </a:rPr>
              <a:t>servicio</a:t>
            </a:r>
            <a:r>
              <a:rPr lang="en-US" altLang="en-US" sz="1800" dirty="0">
                <a:latin typeface="Arial" panose="020B0604020202020204" pitchFamily="34" charset="0"/>
              </a:rPr>
              <a:t> de </a:t>
            </a:r>
            <a:r>
              <a:rPr lang="en-US" altLang="en-US" sz="1800" b="1" dirty="0" err="1">
                <a:latin typeface="Arial" panose="020B0604020202020204" pitchFamily="34" charset="0"/>
              </a:rPr>
              <a:t>videoconferencia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1800" dirty="0" err="1">
                <a:latin typeface="Arial" panose="020B0604020202020204" pitchFamily="34" charset="0"/>
                <a:sym typeface="Wingdings" panose="05000000000000000000" pitchFamily="2" charset="2"/>
              </a:rPr>
              <a:t>Jitsi</a:t>
            </a:r>
            <a:r>
              <a:rPr lang="en-US" altLang="en-US" sz="1800" dirty="0">
                <a:latin typeface="Arial" panose="020B0604020202020204" pitchFamily="34" charset="0"/>
                <a:sym typeface="Wingdings" panose="05000000000000000000" pitchFamily="2" charset="2"/>
              </a:rPr>
              <a:t> Meet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Permitir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el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acceso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desde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diversos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dispositivos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incluyendo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b="1" dirty="0">
                <a:latin typeface="Arial" panose="020B0604020202020204" pitchFamily="34" charset="0"/>
              </a:rPr>
              <a:t>Smart TV, Android y VLC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588B726-DAB5-6AF7-BDA4-B3BE216C3B29}"/>
              </a:ext>
            </a:extLst>
          </p:cNvPr>
          <p:cNvSpPr txBox="1">
            <a:spLocks/>
          </p:cNvSpPr>
          <p:nvPr/>
        </p:nvSpPr>
        <p:spPr>
          <a:xfrm>
            <a:off x="853190" y="9186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 u="sng" dirty="0" err="1"/>
              <a:t>Objetivos</a:t>
            </a:r>
            <a:r>
              <a:rPr lang="en-US" i="1" u="sng" dirty="0"/>
              <a:t> del Proyecto</a:t>
            </a:r>
          </a:p>
        </p:txBody>
      </p:sp>
    </p:spTree>
    <p:extLst>
      <p:ext uri="{BB962C8B-B14F-4D97-AF65-F5344CB8AC3E}">
        <p14:creationId xmlns:p14="http://schemas.microsoft.com/office/powerpoint/2010/main" val="938636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53007-4446-E8C5-D6AD-A43AC572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AWS: Puertos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9252A5-DE8F-1812-2A0A-3DCC2A741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221594"/>
            <a:ext cx="10515599" cy="527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7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0AE77-D129-648A-7FAD-32A4D930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Primer Bloque – Streaming </a:t>
            </a:r>
            <a:r>
              <a:rPr lang="en-US" sz="2800" dirty="0"/>
              <a:t>(</a:t>
            </a:r>
            <a:r>
              <a:rPr lang="en-US" sz="2800" dirty="0" err="1"/>
              <a:t>Jellyfin</a:t>
            </a:r>
            <a:r>
              <a:rPr lang="en-US" sz="2800" dirty="0"/>
              <a:t>, </a:t>
            </a:r>
            <a:r>
              <a:rPr lang="en-US" sz="2800" dirty="0" err="1"/>
              <a:t>Owncast</a:t>
            </a:r>
            <a:r>
              <a:rPr lang="en-US" sz="2800" dirty="0"/>
              <a:t>, recorder)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F502F3-0404-5553-90AD-C7D56499C1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808298"/>
            <a:ext cx="385372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Jellyfin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multimedia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encargado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catalogar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biblioteca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Owncast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streaming auto-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alojado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emisiones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vivo con chat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Contenedor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graba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automáticamente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emisiones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Owncast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las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guarda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directamente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biblioteca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Jellyfin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n 10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8F51D396-287D-0B77-52FA-178631E96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91" y="1466749"/>
            <a:ext cx="4273445" cy="2561327"/>
          </a:xfrm>
          <a:prstGeom prst="rect">
            <a:avLst/>
          </a:prstGeom>
        </p:spPr>
      </p:pic>
      <p:pic>
        <p:nvPicPr>
          <p:cNvPr id="13" name="Imagen 12" descr="Captura de pantalla de una persona&#10;&#10;El contenido generado por IA puede ser incorrecto.">
            <a:extLst>
              <a:ext uri="{FF2B5EF4-FFF2-40B4-BE49-F238E27FC236}">
                <a16:creationId xmlns:a16="http://schemas.microsoft.com/office/drawing/2014/main" id="{96C71A23-0E7D-D45C-E5E5-B58A0F38F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603" y="3436619"/>
            <a:ext cx="5140901" cy="256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8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7FDAF-AF54-B522-567C-9C499267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Jellyfin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4B1F63-9BBD-8CE2-DCF5-385447161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8252"/>
            <a:ext cx="10918371" cy="102652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dirty="0"/>
              <a:t>Actúa como nuestro servidor multimedia. Se encarga de organizar, catalogar y reproducir la biblioteca.</a:t>
            </a:r>
            <a:endParaRPr lang="es-ES" sz="1800" b="1" dirty="0"/>
          </a:p>
          <a:p>
            <a:pPr marL="0" indent="0">
              <a:buNone/>
            </a:pPr>
            <a:r>
              <a:rPr lang="es-ES" sz="2900" b="1" dirty="0"/>
              <a:t>Mapeado de directorios </a:t>
            </a:r>
            <a:r>
              <a:rPr lang="es-ES" sz="2900" dirty="0"/>
              <a:t>para gestión de archivos multimedia y colaboración con los otros contenedores.</a:t>
            </a:r>
          </a:p>
          <a:p>
            <a:pPr marL="0" indent="0">
              <a:buNone/>
            </a:pPr>
            <a:r>
              <a:rPr lang="es-ES" sz="2900" dirty="0"/>
              <a:t>Directorio para las grabaciones de </a:t>
            </a:r>
            <a:r>
              <a:rPr lang="es-ES" sz="2900" dirty="0" err="1"/>
              <a:t>Owncast</a:t>
            </a:r>
            <a:r>
              <a:rPr lang="es-ES" sz="2900" dirty="0"/>
              <a:t> y </a:t>
            </a:r>
            <a:r>
              <a:rPr lang="es-ES" sz="2900" dirty="0" err="1"/>
              <a:t>Jitsi</a:t>
            </a:r>
            <a:r>
              <a:rPr lang="es-ES" sz="2900" dirty="0"/>
              <a:t> </a:t>
            </a:r>
            <a:r>
              <a:rPr lang="es-ES" sz="2900" dirty="0" err="1"/>
              <a:t>Meet</a:t>
            </a:r>
            <a:r>
              <a:rPr lang="es-ES" sz="2900" dirty="0"/>
              <a:t>.</a:t>
            </a:r>
            <a:endParaRPr lang="en-US" sz="29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E569D5-6B52-ABEF-6594-A97B8A41933C}"/>
              </a:ext>
            </a:extLst>
          </p:cNvPr>
          <p:cNvSpPr txBox="1"/>
          <p:nvPr/>
        </p:nvSpPr>
        <p:spPr>
          <a:xfrm>
            <a:off x="838199" y="2894444"/>
            <a:ext cx="33999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/>
              <a:t>Red “</a:t>
            </a:r>
            <a:r>
              <a:rPr lang="es-ES" sz="1800" b="1" dirty="0" err="1"/>
              <a:t>nginx_network</a:t>
            </a:r>
            <a:r>
              <a:rPr lang="es-ES" sz="1800" dirty="0"/>
              <a:t>” para conectarnos con </a:t>
            </a:r>
            <a:r>
              <a:rPr lang="es-ES" sz="1800" dirty="0" err="1"/>
              <a:t>Nginx</a:t>
            </a:r>
            <a:r>
              <a:rPr lang="es-ES" sz="1800" dirty="0"/>
              <a:t> Proxy Manager </a:t>
            </a:r>
            <a:endParaRPr lang="en-U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599CCE-A750-79C7-051D-909021E95B13}"/>
              </a:ext>
            </a:extLst>
          </p:cNvPr>
          <p:cNvSpPr txBox="1"/>
          <p:nvPr/>
        </p:nvSpPr>
        <p:spPr>
          <a:xfrm>
            <a:off x="838200" y="4140200"/>
            <a:ext cx="3225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Gestión de usuarios</a:t>
            </a:r>
            <a:r>
              <a:rPr lang="es-ES" dirty="0"/>
              <a:t>:</a:t>
            </a:r>
          </a:p>
          <a:p>
            <a:r>
              <a:rPr lang="es-ES" dirty="0" err="1"/>
              <a:t>Multiples</a:t>
            </a:r>
            <a:r>
              <a:rPr lang="es-ES" dirty="0"/>
              <a:t> posibilidades: Plugin LDAP, contenedores de gestión (</a:t>
            </a:r>
            <a:r>
              <a:rPr lang="es-ES" dirty="0" err="1"/>
              <a:t>jfa-go</a:t>
            </a:r>
            <a:r>
              <a:rPr lang="es-ES" dirty="0"/>
              <a:t>, </a:t>
            </a:r>
            <a:r>
              <a:rPr lang="es-ES" dirty="0" err="1"/>
              <a:t>wizarr</a:t>
            </a:r>
            <a:r>
              <a:rPr lang="es-ES" dirty="0"/>
              <a:t>, </a:t>
            </a:r>
            <a:r>
              <a:rPr lang="es-ES" dirty="0" err="1"/>
              <a:t>etc</a:t>
            </a:r>
            <a:r>
              <a:rPr lang="es-ES" dirty="0"/>
              <a:t>)</a:t>
            </a:r>
          </a:p>
          <a:p>
            <a:r>
              <a:rPr lang="es-ES" dirty="0"/>
              <a:t>Método sencillo y rápido (para gestiones básicas): Script + API Key + Archivo CSV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3C2745-EC59-B13B-56E8-79E666F8E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590" y="2373701"/>
            <a:ext cx="7230484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01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9A608-FB16-82AD-10D5-FC349BA58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Owncast</a:t>
            </a:r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E126CE-591F-6731-5F1C-BB043536C46C}"/>
              </a:ext>
            </a:extLst>
          </p:cNvPr>
          <p:cNvSpPr txBox="1"/>
          <p:nvPr/>
        </p:nvSpPr>
        <p:spPr>
          <a:xfrm>
            <a:off x="809274" y="1380902"/>
            <a:ext cx="58528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servidor de </a:t>
            </a:r>
            <a:r>
              <a:rPr lang="es-ES" dirty="0" err="1"/>
              <a:t>streaming</a:t>
            </a:r>
            <a:r>
              <a:rPr lang="es-ES" dirty="0"/>
              <a:t> de video </a:t>
            </a:r>
            <a:r>
              <a:rPr lang="es-ES" dirty="0" err="1"/>
              <a:t>auto-alojado</a:t>
            </a:r>
            <a:r>
              <a:rPr lang="es-ES" dirty="0"/>
              <a:t> (similar a una versión privada de </a:t>
            </a:r>
            <a:r>
              <a:rPr lang="es-ES" b="1" dirty="0" err="1"/>
              <a:t>Twitch</a:t>
            </a:r>
            <a:r>
              <a:rPr lang="es-ES" dirty="0"/>
              <a:t>). Uso del </a:t>
            </a:r>
            <a:r>
              <a:rPr lang="es-ES" b="1" dirty="0"/>
              <a:t>puerto TCP 1935 </a:t>
            </a:r>
            <a:r>
              <a:rPr lang="en-US" b="1" dirty="0"/>
              <a:t>Real-Time Messaging Protocol (RTMP)</a:t>
            </a:r>
            <a:r>
              <a:rPr lang="en-US" dirty="0"/>
              <a:t> para </a:t>
            </a:r>
            <a:r>
              <a:rPr lang="en-US" dirty="0" err="1"/>
              <a:t>captar</a:t>
            </a:r>
            <a:r>
              <a:rPr lang="en-US" dirty="0"/>
              <a:t> la </a:t>
            </a:r>
            <a:r>
              <a:rPr lang="en-US" dirty="0" err="1"/>
              <a:t>señal</a:t>
            </a:r>
            <a:r>
              <a:rPr lang="en-US" dirty="0"/>
              <a:t> del </a:t>
            </a:r>
            <a:r>
              <a:rPr lang="en-US" dirty="0" err="1"/>
              <a:t>dispositivo</a:t>
            </a:r>
            <a:r>
              <a:rPr lang="en-US" dirty="0"/>
              <a:t> </a:t>
            </a:r>
            <a:r>
              <a:rPr lang="en-US" dirty="0" err="1"/>
              <a:t>transmisor</a:t>
            </a:r>
            <a:r>
              <a:rPr lang="en-US" dirty="0"/>
              <a:t> de la </a:t>
            </a:r>
            <a:r>
              <a:rPr lang="en-US" dirty="0" err="1"/>
              <a:t>señal</a:t>
            </a:r>
            <a:r>
              <a:rPr lang="en-US" dirty="0"/>
              <a:t> de video.</a:t>
            </a:r>
            <a:r>
              <a:rPr lang="es-ES" dirty="0"/>
              <a:t> </a:t>
            </a:r>
          </a:p>
          <a:p>
            <a:endParaRPr lang="es-ES" dirty="0"/>
          </a:p>
          <a:p>
            <a:r>
              <a:rPr lang="es-ES" dirty="0"/>
              <a:t>Dispositivos transmisores: OBS Studio e IRL Pro.</a:t>
            </a:r>
          </a:p>
          <a:p>
            <a:r>
              <a:rPr lang="en-US" dirty="0"/>
              <a:t>Red “</a:t>
            </a:r>
            <a:r>
              <a:rPr lang="en-US" dirty="0" err="1"/>
              <a:t>cole_net</a:t>
            </a:r>
            <a:r>
              <a:rPr lang="en-US" dirty="0"/>
              <a:t>” para </a:t>
            </a:r>
            <a:r>
              <a:rPr lang="en-US" dirty="0" err="1"/>
              <a:t>conexión</a:t>
            </a:r>
            <a:r>
              <a:rPr lang="en-US" dirty="0"/>
              <a:t> </a:t>
            </a:r>
            <a:r>
              <a:rPr lang="en-US" dirty="0" err="1"/>
              <a:t>directa</a:t>
            </a:r>
            <a:r>
              <a:rPr lang="en-US" dirty="0"/>
              <a:t> con “recorder”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F8C5AE6-A0A6-9BA2-E025-41F4F74F8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7" y="3564107"/>
            <a:ext cx="8117114" cy="2910222"/>
          </a:xfrm>
          <a:prstGeom prst="rect">
            <a:avLst/>
          </a:prstGeo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9394C1CA-ADA8-7E95-13E7-B80AF0C7E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145" y="432244"/>
            <a:ext cx="4400581" cy="2861649"/>
          </a:xfrm>
          <a:prstGeom prst="rect">
            <a:avLst/>
          </a:prstGeom>
        </p:spPr>
      </p:pic>
      <p:pic>
        <p:nvPicPr>
          <p:cNvPr id="9" name="Imagen 8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305F2516-E131-F6F5-B370-225762A99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805" y="3016669"/>
            <a:ext cx="2590906" cy="340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0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49703-DE3F-61ED-6087-0A9474DD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recorder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BBD232-D1CB-8BA7-55BC-79688BCF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555"/>
            <a:ext cx="10738651" cy="957759"/>
          </a:xfrm>
        </p:spPr>
        <p:txBody>
          <a:bodyPr/>
          <a:lstStyle/>
          <a:p>
            <a:pPr lvl="0"/>
            <a:r>
              <a:rPr lang="es-ES" sz="1800" dirty="0"/>
              <a:t>Es un contenedor (basado en un </a:t>
            </a:r>
            <a:r>
              <a:rPr lang="es-ES" sz="1800" i="1" dirty="0" err="1"/>
              <a:t>build</a:t>
            </a:r>
            <a:r>
              <a:rPr lang="es-ES" sz="1800" dirty="0"/>
              <a:t> personalizado: Alpine con FFMPEG) cuyo único propósito es grabar la retransmisión en directo de </a:t>
            </a:r>
            <a:r>
              <a:rPr lang="es-ES" sz="1800" dirty="0" err="1"/>
              <a:t>Owncast</a:t>
            </a:r>
            <a:r>
              <a:rPr lang="es-ES" sz="1800" dirty="0"/>
              <a:t> y guardarlo en un directorio de </a:t>
            </a:r>
            <a:r>
              <a:rPr lang="es-ES" sz="1800" dirty="0" err="1"/>
              <a:t>Jellyfin</a:t>
            </a:r>
            <a:r>
              <a:rPr lang="es-ES" sz="1800" dirty="0"/>
              <a:t> para poder visionarlas en otro momento.</a:t>
            </a:r>
            <a:endParaRPr lang="en-US" sz="1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074185-9D3F-99EA-A9BB-B608E99E07AB}"/>
              </a:ext>
            </a:extLst>
          </p:cNvPr>
          <p:cNvSpPr txBox="1"/>
          <p:nvPr/>
        </p:nvSpPr>
        <p:spPr>
          <a:xfrm>
            <a:off x="159658" y="4506687"/>
            <a:ext cx="6560456" cy="1987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Grabación Automática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Monitoriza la actividad de 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Owncast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captura la retransmisión en tiempo real.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Sincronización de Datos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s-E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Las grabaciones se guardan en un directorio compartido con </a:t>
            </a:r>
            <a:r>
              <a:rPr lang="es-E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Jellyfin</a:t>
            </a:r>
            <a:r>
              <a:rPr lang="es-E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Dependencia Estructural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Está configurado para iniciarse solo cuando 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Owncast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esté operativo (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depends_on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805533D8-1A83-2BAD-32DA-2C2B5A118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33" y="2218270"/>
            <a:ext cx="7725410" cy="1066800"/>
          </a:xfrm>
          <a:prstGeom prst="rect">
            <a:avLst/>
          </a:prstGeom>
        </p:spPr>
      </p:pic>
      <p:pic>
        <p:nvPicPr>
          <p:cNvPr id="9" name="Imagen 8" descr="Texto, Aplicación&#10;&#10;El contenido generado por IA puede ser incorrecto.">
            <a:extLst>
              <a:ext uri="{FF2B5EF4-FFF2-40B4-BE49-F238E27FC236}">
                <a16:creationId xmlns:a16="http://schemas.microsoft.com/office/drawing/2014/main" id="{46294BB4-D263-39D6-19E0-89074A8F8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923" y="3105129"/>
            <a:ext cx="8229600" cy="116776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F1F182-FE88-014F-9F2D-3C921E6C9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723" y="4430423"/>
            <a:ext cx="4495128" cy="21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9E247-03CF-1195-84DC-5597713A8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Segundo Bloque: </a:t>
            </a:r>
            <a:r>
              <a:rPr lang="en-US" dirty="0" err="1"/>
              <a:t>Videoconferencias</a:t>
            </a:r>
            <a:r>
              <a:rPr lang="en-US" dirty="0"/>
              <a:t> </a:t>
            </a:r>
            <a:r>
              <a:rPr lang="en-US" sz="2800" dirty="0"/>
              <a:t>(</a:t>
            </a:r>
            <a:r>
              <a:rPr lang="en-US" sz="2800" dirty="0" err="1"/>
              <a:t>Jitsi</a:t>
            </a:r>
            <a:r>
              <a:rPr lang="en-US" sz="2800" dirty="0"/>
              <a:t> Meet)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605382-B2B6-ADA0-8EB0-9267A130D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31286" cy="4531632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s-ES" sz="2300" dirty="0"/>
              <a:t>Descargamos la última versión estable:</a:t>
            </a:r>
            <a:endParaRPr lang="en-US" sz="2300" dirty="0"/>
          </a:p>
          <a:p>
            <a:pPr marL="0" indent="0">
              <a:buNone/>
            </a:pPr>
            <a:r>
              <a:rPr lang="es-ES" sz="2300" b="1" dirty="0" err="1"/>
              <a:t>wget</a:t>
            </a:r>
            <a:r>
              <a:rPr lang="es-ES" sz="2300" b="1" dirty="0"/>
              <a:t> $(</a:t>
            </a:r>
            <a:r>
              <a:rPr lang="es-ES" sz="2300" b="1" dirty="0" err="1"/>
              <a:t>wget</a:t>
            </a:r>
            <a:r>
              <a:rPr lang="es-ES" sz="2300" b="1" dirty="0"/>
              <a:t> -q -O - https://api.github.com/repos/jitsi/docker-jitsi-meet/releases/latest | grep zip | </a:t>
            </a:r>
            <a:r>
              <a:rPr lang="es-ES" sz="2300" b="1" dirty="0" err="1"/>
              <a:t>cut</a:t>
            </a:r>
            <a:r>
              <a:rPr lang="es-ES" sz="2300" b="1" dirty="0"/>
              <a:t> -d\" -f4)</a:t>
            </a:r>
            <a:endParaRPr lang="en-US" sz="2300" dirty="0"/>
          </a:p>
          <a:p>
            <a:pPr lvl="0"/>
            <a:r>
              <a:rPr lang="es-ES" sz="2300" dirty="0"/>
              <a:t>Lo descomprimimos:</a:t>
            </a:r>
            <a:endParaRPr lang="en-US" sz="2300" dirty="0"/>
          </a:p>
          <a:p>
            <a:pPr marL="0" indent="0">
              <a:buNone/>
            </a:pPr>
            <a:r>
              <a:rPr lang="es-ES" sz="2300" b="1" dirty="0" err="1"/>
              <a:t>unzip</a:t>
            </a:r>
            <a:r>
              <a:rPr lang="es-ES" sz="2300" b="1" dirty="0"/>
              <a:t> “</a:t>
            </a:r>
            <a:r>
              <a:rPr lang="es-ES" sz="2300" b="1" dirty="0" err="1"/>
              <a:t>nombre_archivo</a:t>
            </a:r>
            <a:r>
              <a:rPr lang="es-ES" sz="2300" b="1" dirty="0"/>
              <a:t>”</a:t>
            </a:r>
            <a:endParaRPr lang="en-US" sz="2300" dirty="0"/>
          </a:p>
          <a:p>
            <a:pPr lvl="0"/>
            <a:r>
              <a:rPr lang="es-ES" sz="2300" dirty="0"/>
              <a:t>Nos introducimos en el directorio que acabamos de descomprimir y creamos un archivo “.</a:t>
            </a:r>
            <a:r>
              <a:rPr lang="es-ES" sz="2300" dirty="0" err="1"/>
              <a:t>env</a:t>
            </a:r>
            <a:r>
              <a:rPr lang="es-ES" sz="2300" dirty="0"/>
              <a:t>” a partir de “</a:t>
            </a:r>
            <a:r>
              <a:rPr lang="es-ES" sz="2300" dirty="0" err="1"/>
              <a:t>env.example</a:t>
            </a:r>
            <a:r>
              <a:rPr lang="es-ES" sz="2300" dirty="0"/>
              <a:t>”.</a:t>
            </a:r>
            <a:endParaRPr lang="en-US" sz="2300" dirty="0"/>
          </a:p>
          <a:p>
            <a:pPr marL="0" indent="0">
              <a:buNone/>
            </a:pPr>
            <a:r>
              <a:rPr lang="es-ES" sz="2300" b="1" dirty="0" err="1"/>
              <a:t>cp</a:t>
            </a:r>
            <a:r>
              <a:rPr lang="es-ES" sz="2300" b="1" dirty="0"/>
              <a:t> </a:t>
            </a:r>
            <a:r>
              <a:rPr lang="es-ES" sz="2300" b="1" dirty="0" err="1"/>
              <a:t>env.example</a:t>
            </a:r>
            <a:r>
              <a:rPr lang="es-ES" sz="2300" b="1" dirty="0"/>
              <a:t> .</a:t>
            </a:r>
            <a:r>
              <a:rPr lang="es-ES" sz="2300" b="1" dirty="0" err="1"/>
              <a:t>env</a:t>
            </a:r>
            <a:endParaRPr lang="en-US" sz="2300" dirty="0"/>
          </a:p>
          <a:p>
            <a:pPr lvl="0"/>
            <a:r>
              <a:rPr lang="es-ES" sz="2300" dirty="0"/>
              <a:t>Generamos contraseñas fuertes en el archivo “.</a:t>
            </a:r>
            <a:r>
              <a:rPr lang="es-ES" sz="2300" dirty="0" err="1"/>
              <a:t>env</a:t>
            </a:r>
            <a:r>
              <a:rPr lang="es-ES" sz="2300" dirty="0"/>
              <a:t>” ejecutando el siguiente script:</a:t>
            </a:r>
            <a:endParaRPr lang="en-US" sz="2300" dirty="0"/>
          </a:p>
          <a:p>
            <a:pPr marL="0" indent="0">
              <a:buNone/>
            </a:pPr>
            <a:r>
              <a:rPr lang="es-ES" sz="2300" b="1" dirty="0"/>
              <a:t>./gen-passwords.sh</a:t>
            </a:r>
            <a:endParaRPr lang="en-US" sz="2300" dirty="0"/>
          </a:p>
          <a:p>
            <a:pPr lvl="0"/>
            <a:r>
              <a:rPr lang="es-ES" sz="2300" dirty="0"/>
              <a:t>Creamos los directorios para CONFIG:</a:t>
            </a:r>
            <a:endParaRPr lang="en-US" sz="2300" dirty="0"/>
          </a:p>
          <a:p>
            <a:pPr marL="0" indent="0">
              <a:buNone/>
            </a:pPr>
            <a:r>
              <a:rPr lang="es-ES" sz="2300" b="1" dirty="0" err="1"/>
              <a:t>mkdir</a:t>
            </a:r>
            <a:r>
              <a:rPr lang="es-ES" sz="2300" b="1" dirty="0"/>
              <a:t> -p ~/.</a:t>
            </a:r>
            <a:r>
              <a:rPr lang="es-ES" sz="2300" b="1" dirty="0" err="1"/>
              <a:t>jitsi-meet-cfg</a:t>
            </a:r>
            <a:r>
              <a:rPr lang="es-ES" sz="2300" b="1" dirty="0"/>
              <a:t>/{</a:t>
            </a:r>
            <a:r>
              <a:rPr lang="es-ES" sz="2300" b="1" dirty="0" err="1"/>
              <a:t>web,transcripts,prosody</a:t>
            </a:r>
            <a:r>
              <a:rPr lang="es-ES" sz="2300" b="1" dirty="0"/>
              <a:t>/</a:t>
            </a:r>
            <a:r>
              <a:rPr lang="es-ES" sz="2300" b="1" dirty="0" err="1"/>
              <a:t>config,prosody</a:t>
            </a:r>
            <a:r>
              <a:rPr lang="es-ES" sz="2300" b="1" dirty="0"/>
              <a:t>/</a:t>
            </a:r>
            <a:r>
              <a:rPr lang="es-ES" sz="2300" b="1" dirty="0" err="1"/>
              <a:t>prosody-plugins-custom,jicofo,jvb,jigasi,jibri</a:t>
            </a:r>
            <a:r>
              <a:rPr lang="es-ES" sz="2300" b="1" dirty="0"/>
              <a:t>}</a:t>
            </a:r>
          </a:p>
          <a:p>
            <a:pPr marL="0" indent="0">
              <a:buNone/>
            </a:pPr>
            <a:endParaRPr lang="es-ES" sz="2300" b="1" dirty="0"/>
          </a:p>
          <a:p>
            <a:r>
              <a:rPr lang="es-ES" sz="2300" dirty="0"/>
              <a:t>Módulo para grabaciones con “</a:t>
            </a:r>
            <a:r>
              <a:rPr lang="es-ES" sz="2300" b="1" dirty="0" err="1"/>
              <a:t>Jibri</a:t>
            </a:r>
            <a:r>
              <a:rPr lang="es-ES" sz="2300" dirty="0"/>
              <a:t>”: “</a:t>
            </a:r>
            <a:r>
              <a:rPr lang="es-ES" sz="2300" b="1" dirty="0"/>
              <a:t>sudo </a:t>
            </a:r>
            <a:r>
              <a:rPr lang="es-ES" sz="2300" b="1" dirty="0" err="1"/>
              <a:t>modprobe</a:t>
            </a:r>
            <a:r>
              <a:rPr lang="es-ES" sz="2300" b="1" dirty="0"/>
              <a:t> </a:t>
            </a:r>
            <a:r>
              <a:rPr lang="es-ES" sz="2300" b="1" dirty="0" err="1"/>
              <a:t>snd-aloop</a:t>
            </a:r>
            <a:r>
              <a:rPr lang="es-ES" sz="2300" dirty="0"/>
              <a:t>”</a:t>
            </a:r>
            <a:endParaRPr lang="en-US" sz="23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28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0D7E4-C5CE-AB7F-29A7-88B9E31B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Jitsi</a:t>
            </a:r>
            <a:r>
              <a:rPr lang="es-ES" dirty="0"/>
              <a:t>: configuración de archivos (I)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29EB42-DF9A-3BDC-BB68-CB521A225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b="1" dirty="0" err="1"/>
              <a:t>docker-compose.yml</a:t>
            </a:r>
            <a:r>
              <a:rPr lang="es-ES" sz="1800" b="1" dirty="0"/>
              <a:t>: </a:t>
            </a:r>
            <a:r>
              <a:rPr lang="es-ES" sz="1800" dirty="0"/>
              <a:t>debemos incluir la red para que podamos usar el </a:t>
            </a:r>
            <a:r>
              <a:rPr lang="es-ES" sz="1800" b="1" dirty="0" err="1"/>
              <a:t>Nginx</a:t>
            </a:r>
            <a:r>
              <a:rPr lang="es-ES" sz="1800" b="1" dirty="0"/>
              <a:t> Proxy Manager</a:t>
            </a:r>
            <a:r>
              <a:rPr lang="es-ES" sz="1800" dirty="0"/>
              <a:t>. Tanto en la configuración del contenedor Web, como al final del documento.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sz="1800" b="1" dirty="0" err="1"/>
              <a:t>jibri.yml</a:t>
            </a:r>
            <a:r>
              <a:rPr lang="es-ES" sz="1800" b="1" dirty="0"/>
              <a:t>: </a:t>
            </a:r>
            <a:r>
              <a:rPr lang="es-ES" sz="1800" dirty="0"/>
              <a:t>mapear el directorio donde el contenedor guarda las videoconferencias y vamos a hacer que vayan a un directorio que creamos previamente en el contenedor de </a:t>
            </a:r>
            <a:r>
              <a:rPr lang="es-ES" sz="1800" dirty="0" err="1"/>
              <a:t>Jellyfin</a:t>
            </a:r>
            <a:r>
              <a:rPr lang="es-ES" sz="1800" dirty="0"/>
              <a:t>. De esta manera estarán disponible para su visionado.</a:t>
            </a:r>
            <a:endParaRPr lang="en-US" sz="1800" dirty="0"/>
          </a:p>
          <a:p>
            <a:pPr marL="0" indent="0">
              <a:buNone/>
            </a:pPr>
            <a:endParaRPr lang="es-ES" dirty="0"/>
          </a:p>
          <a:p>
            <a:endParaRPr lang="en-US" dirty="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F0675965-6D23-4474-B377-93F56EA82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88" y="2561771"/>
            <a:ext cx="4191000" cy="1266825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8B8A216F-1DDC-D5AC-2C8A-22EC30E7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526" y="2561771"/>
            <a:ext cx="5943435" cy="1266825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9E7C8099-8197-319A-7025-F6840013C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88" y="4835208"/>
            <a:ext cx="5943600" cy="134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44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C2716-7AE7-79B6-F358-0451F408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Jitsi</a:t>
            </a:r>
            <a:r>
              <a:rPr lang="es-ES" dirty="0"/>
              <a:t>: configuración de archivos (II)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00B418-136E-CDB5-E8CB-F8CB3A0DF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07971" cy="4351338"/>
          </a:xfrm>
        </p:spPr>
        <p:txBody>
          <a:bodyPr/>
          <a:lstStyle/>
          <a:p>
            <a:pPr marL="0" indent="0">
              <a:buNone/>
            </a:pPr>
            <a:r>
              <a:rPr lang="es-ES" sz="1800" b="1" dirty="0"/>
              <a:t>Configuración de .</a:t>
            </a:r>
            <a:r>
              <a:rPr lang="es-ES" sz="1800" b="1" dirty="0" err="1"/>
              <a:t>env</a:t>
            </a:r>
            <a:endParaRPr lang="en-US" sz="1800" b="1" dirty="0"/>
          </a:p>
          <a:p>
            <a:r>
              <a:rPr lang="es-ES" sz="1800" dirty="0"/>
              <a:t>Directorio donde se guardan los archivos de </a:t>
            </a:r>
            <a:r>
              <a:rPr lang="es-ES" sz="1800" b="1" dirty="0"/>
              <a:t>CONFIG</a:t>
            </a:r>
          </a:p>
          <a:p>
            <a:r>
              <a:rPr lang="es-ES" sz="1800" b="1" dirty="0"/>
              <a:t>Puertos</a:t>
            </a:r>
          </a:p>
          <a:p>
            <a:r>
              <a:rPr lang="es-ES" sz="1800" b="1" dirty="0"/>
              <a:t>PUBLIC_URL</a:t>
            </a:r>
            <a:r>
              <a:rPr lang="es-ES" sz="1800" dirty="0"/>
              <a:t>: Esto le dice a </a:t>
            </a:r>
            <a:r>
              <a:rPr lang="es-ES" sz="1800" dirty="0" err="1"/>
              <a:t>Jitsi</a:t>
            </a:r>
            <a:r>
              <a:rPr lang="es-ES" sz="1800" dirty="0"/>
              <a:t> exactamente qué dirección deben usar los navegadores para conectar. </a:t>
            </a:r>
          </a:p>
          <a:p>
            <a:r>
              <a:rPr lang="es-ES" sz="1800" b="1" dirty="0"/>
              <a:t>JVB_ADVERTISE_IPS y DOCKER_HOST_ADDRESS</a:t>
            </a:r>
            <a:r>
              <a:rPr lang="es-ES" sz="1800" dirty="0"/>
              <a:t>: Si no "anuncian" la IP real, los participantes se verán a sí mismos, pero no a los demás (pantallas negras), ya que el tráfico de video no sabría a dónde ir.</a:t>
            </a:r>
            <a:endParaRPr lang="en-US" sz="1800" dirty="0"/>
          </a:p>
          <a:p>
            <a:endParaRPr lang="en-US" dirty="0"/>
          </a:p>
        </p:txBody>
      </p:sp>
      <p:pic>
        <p:nvPicPr>
          <p:cNvPr id="4" name="Imagen 3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DB4E6638-48B6-DF57-9E84-6DE884115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82443"/>
            <a:ext cx="4524375" cy="6858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55AFDC9-E516-A9DF-6391-1E79E2A9C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68243"/>
            <a:ext cx="4543425" cy="14763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FA82375-E88A-25AA-D80B-58C135F1C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44618"/>
            <a:ext cx="4543425" cy="1476375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240F3E33-AB1B-ED78-D28B-792ED73AF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5223193"/>
            <a:ext cx="5943600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07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58356-05D1-2DF6-CB42-14C4EDD50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Jitsi</a:t>
            </a:r>
            <a:r>
              <a:rPr lang="es-ES" dirty="0"/>
              <a:t>: configuración de archivos (III)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8987F9-8170-9B5A-DD5C-51A8263CB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7811"/>
            <a:ext cx="3516086" cy="4351338"/>
          </a:xfrm>
        </p:spPr>
        <p:txBody>
          <a:bodyPr>
            <a:normAutofit/>
          </a:bodyPr>
          <a:lstStyle/>
          <a:p>
            <a:r>
              <a:rPr lang="es-ES" sz="1800" b="1" dirty="0" err="1"/>
              <a:t>Let's</a:t>
            </a:r>
            <a:r>
              <a:rPr lang="es-ES" sz="1800" b="1" dirty="0"/>
              <a:t> </a:t>
            </a:r>
            <a:r>
              <a:rPr lang="es-ES" sz="1800" b="1" dirty="0" err="1"/>
              <a:t>Encrypt</a:t>
            </a:r>
            <a:r>
              <a:rPr lang="es-ES" sz="1800" dirty="0"/>
              <a:t>: Deshabilitamos “</a:t>
            </a:r>
            <a:r>
              <a:rPr lang="es-ES" sz="1800" dirty="0" err="1"/>
              <a:t>Let's</a:t>
            </a:r>
            <a:r>
              <a:rPr lang="es-ES" sz="1800" dirty="0"/>
              <a:t> </a:t>
            </a:r>
            <a:r>
              <a:rPr lang="es-ES" sz="1800" dirty="0" err="1"/>
              <a:t>Encrypt</a:t>
            </a:r>
            <a:r>
              <a:rPr lang="es-ES" sz="1800" dirty="0"/>
              <a:t>” porque de ello se encargará </a:t>
            </a:r>
            <a:r>
              <a:rPr lang="es-ES" sz="1800" dirty="0" err="1"/>
              <a:t>Nginx</a:t>
            </a:r>
            <a:r>
              <a:rPr lang="es-ES" sz="1800" dirty="0"/>
              <a:t> Proxy Manager, no </a:t>
            </a:r>
            <a:r>
              <a:rPr lang="es-ES" sz="1800" dirty="0" err="1"/>
              <a:t>Jitsi</a:t>
            </a:r>
            <a:r>
              <a:rPr lang="es-ES" sz="1800" dirty="0"/>
              <a:t>.</a:t>
            </a:r>
            <a:endParaRPr lang="en-US" sz="1800" dirty="0"/>
          </a:p>
          <a:p>
            <a:r>
              <a:rPr lang="es-ES" sz="1800" b="1" dirty="0"/>
              <a:t>ETHERPAD</a:t>
            </a:r>
            <a:r>
              <a:rPr lang="es-ES" sz="1800" dirty="0"/>
              <a:t>: Documento compartido. </a:t>
            </a:r>
          </a:p>
          <a:p>
            <a:r>
              <a:rPr lang="es-ES" sz="1800" b="1" dirty="0"/>
              <a:t>WHITEBOARD</a:t>
            </a:r>
            <a:r>
              <a:rPr lang="es-ES" sz="1800" dirty="0"/>
              <a:t>: Nos permite tener una pizarra virtual colaborativa.</a:t>
            </a:r>
            <a:endParaRPr lang="en-US" sz="1800" dirty="0"/>
          </a:p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FE9E03-4DEB-4A90-B956-06952A93E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813" y="2107568"/>
            <a:ext cx="4143375" cy="8096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9C595E8-65BD-8001-355C-1B9D9FEC1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721" y="3261044"/>
            <a:ext cx="5877560" cy="9525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EE543BF-769C-4BF1-D80E-435C9943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701" y="4557395"/>
            <a:ext cx="5943600" cy="109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12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32D00-77BE-FA8D-AB3B-C88BFE82C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Jitsi</a:t>
            </a:r>
            <a:r>
              <a:rPr lang="es-ES" dirty="0"/>
              <a:t>: configuración de archivos (IV)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6954C2-8D55-AC72-3D13-376A47750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57" y="1854654"/>
            <a:ext cx="5257800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sz="1800" b="1" dirty="0"/>
              <a:t>Autenticación</a:t>
            </a:r>
            <a:r>
              <a:rPr lang="es-ES" sz="1800" dirty="0"/>
              <a:t>: </a:t>
            </a:r>
            <a:r>
              <a:rPr lang="es-ES" sz="1800" dirty="0" err="1"/>
              <a:t>Jitsi</a:t>
            </a:r>
            <a:r>
              <a:rPr lang="es-ES" sz="1800" dirty="0"/>
              <a:t> ofrece múltiples maneras de autenticarse: interna, LDAP, JWT tokens, Matrix, </a:t>
            </a:r>
            <a:r>
              <a:rPr lang="es-ES" sz="1800" dirty="0" err="1"/>
              <a:t>Hybrid</a:t>
            </a:r>
            <a:r>
              <a:rPr lang="es-ES" sz="1800" dirty="0"/>
              <a:t> Matrix Token y externa. Para nuestro caso, hemos elegido interna.</a:t>
            </a:r>
            <a:endParaRPr lang="en-US" sz="1800" dirty="0"/>
          </a:p>
          <a:p>
            <a:pPr lvl="1"/>
            <a:r>
              <a:rPr lang="es-ES" sz="1800" b="1" dirty="0"/>
              <a:t>ENABLE_AUTH</a:t>
            </a:r>
            <a:r>
              <a:rPr lang="es-ES" sz="1800" dirty="0"/>
              <a:t>=1: Ahora el sistema requiere un usuario. </a:t>
            </a:r>
            <a:endParaRPr lang="en-US" sz="1800" dirty="0"/>
          </a:p>
          <a:p>
            <a:pPr lvl="1"/>
            <a:r>
              <a:rPr lang="es-ES" sz="1800" b="1" dirty="0"/>
              <a:t>ENABLE_GUESTS</a:t>
            </a:r>
            <a:r>
              <a:rPr lang="es-ES" sz="1800" dirty="0"/>
              <a:t>=1: Permite que invitados entren a la reunión, pero solo si un anfitrión autenticado los deja pasar (sistema de lobby).</a:t>
            </a:r>
            <a:endParaRPr lang="en-US" sz="1800" dirty="0"/>
          </a:p>
          <a:p>
            <a:pPr lvl="1"/>
            <a:r>
              <a:rPr lang="es-ES" sz="1800" b="1" dirty="0"/>
              <a:t>AUTH_TYPE</a:t>
            </a:r>
            <a:r>
              <a:rPr lang="es-ES" sz="1800" dirty="0"/>
              <a:t>=</a:t>
            </a:r>
            <a:r>
              <a:rPr lang="es-ES" sz="1800" dirty="0" err="1"/>
              <a:t>internal</a:t>
            </a:r>
            <a:r>
              <a:rPr lang="es-ES" sz="1800" dirty="0"/>
              <a:t>: Se usará el tipo de autenticación interna.</a:t>
            </a:r>
            <a:endParaRPr lang="en-US" sz="1800" dirty="0"/>
          </a:p>
          <a:p>
            <a:pPr lvl="1"/>
            <a:r>
              <a:rPr lang="es-ES" sz="1800" b="1" dirty="0"/>
              <a:t>ENABLE_AUTO_LOGIN</a:t>
            </a:r>
            <a:r>
              <a:rPr lang="es-ES" sz="1800" dirty="0"/>
              <a:t>=0 Habilita/Deshabilita el </a:t>
            </a:r>
            <a:r>
              <a:rPr lang="es-ES" sz="1800" dirty="0" err="1"/>
              <a:t>autologin</a:t>
            </a:r>
            <a:r>
              <a:rPr lang="es-ES" sz="1800" dirty="0"/>
              <a:t>. Para esta práctica lo he dejado en 0 para poder mostrarlo en la presentación.</a:t>
            </a:r>
            <a:endParaRPr lang="en-US" sz="1800" dirty="0"/>
          </a:p>
          <a:p>
            <a:pPr lvl="1"/>
            <a:r>
              <a:rPr lang="es-ES" sz="1800" b="1" dirty="0"/>
              <a:t>JICOFO_AUTH_LIFETIME</a:t>
            </a:r>
            <a:r>
              <a:rPr lang="es-ES" sz="1800" dirty="0"/>
              <a:t>=24 </a:t>
            </a:r>
            <a:r>
              <a:rPr lang="es-ES" sz="1800" dirty="0" err="1"/>
              <a:t>hours</a:t>
            </a:r>
            <a:r>
              <a:rPr lang="es-ES" sz="1800" dirty="0"/>
              <a:t>: Especifica el tiempo para la finalización de sesión de un usuario autenticado.</a:t>
            </a:r>
            <a:endParaRPr lang="en-US" sz="1800" dirty="0"/>
          </a:p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CB239C-D6A8-E600-A1E4-C284273E8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626" y="1910011"/>
            <a:ext cx="5281861" cy="338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89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A4FF3-48D9-C6C4-4167-6A93F4B3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Jitsi</a:t>
            </a:r>
            <a:r>
              <a:rPr lang="es-ES" dirty="0"/>
              <a:t>: configuración de archivos (V)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4B8557-BC22-2A29-A37C-DECA368D9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714" y="1690688"/>
            <a:ext cx="6230257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s-ES" sz="1900" b="1" dirty="0" err="1"/>
              <a:t>Jibri</a:t>
            </a:r>
            <a:r>
              <a:rPr lang="es-ES" sz="1900" b="1" dirty="0"/>
              <a:t>/Grabaciones</a:t>
            </a:r>
            <a:r>
              <a:rPr lang="es-ES" sz="1900" dirty="0"/>
              <a:t>: Las grabaciones se manejan con el contenedor </a:t>
            </a:r>
            <a:r>
              <a:rPr lang="es-ES" sz="1900" dirty="0" err="1"/>
              <a:t>Jibri</a:t>
            </a:r>
            <a:r>
              <a:rPr lang="es-ES" sz="1900" dirty="0"/>
              <a:t>. Para habilitarlo:</a:t>
            </a:r>
            <a:endParaRPr lang="en-US" sz="1900" dirty="0"/>
          </a:p>
          <a:p>
            <a:pPr lvl="1"/>
            <a:r>
              <a:rPr lang="es-ES" sz="1900" b="1" dirty="0"/>
              <a:t>ENABLE_RECORDING=1</a:t>
            </a:r>
            <a:endParaRPr lang="en-US" sz="1900" b="1" dirty="0"/>
          </a:p>
          <a:p>
            <a:pPr lvl="1"/>
            <a:r>
              <a:rPr lang="es-ES" sz="1900" b="1" dirty="0"/>
              <a:t>XMPP_SERVER=</a:t>
            </a:r>
            <a:r>
              <a:rPr lang="es-ES" sz="1900" b="1" dirty="0" err="1"/>
              <a:t>xmpp.meet.jitsi</a:t>
            </a:r>
            <a:r>
              <a:rPr lang="es-ES" sz="1900" dirty="0"/>
              <a:t>: </a:t>
            </a:r>
            <a:r>
              <a:rPr lang="es-ES" sz="1900" dirty="0" err="1"/>
              <a:t>Jibri</a:t>
            </a:r>
            <a:r>
              <a:rPr lang="es-ES" sz="1900" dirty="0"/>
              <a:t> necesita saber dónde está el servidor XMPP internamente</a:t>
            </a:r>
            <a:endParaRPr lang="en-US" sz="1900" dirty="0"/>
          </a:p>
          <a:p>
            <a:pPr lvl="1"/>
            <a:r>
              <a:rPr lang="es-ES" sz="1900" b="1" dirty="0"/>
              <a:t>JIBRI_RECORDING_DIR</a:t>
            </a:r>
            <a:r>
              <a:rPr lang="es-ES" sz="1900" dirty="0"/>
              <a:t>=/</a:t>
            </a:r>
            <a:r>
              <a:rPr lang="es-ES" sz="1900" dirty="0" err="1"/>
              <a:t>recordings</a:t>
            </a:r>
            <a:r>
              <a:rPr lang="es-ES" sz="1900" dirty="0"/>
              <a:t>: Directorio de grabaciones (interno del contenedor).</a:t>
            </a:r>
            <a:endParaRPr lang="en-US" sz="1900" dirty="0"/>
          </a:p>
          <a:p>
            <a:pPr lvl="1"/>
            <a:r>
              <a:rPr lang="es-ES" sz="1900" dirty="0"/>
              <a:t>En esta ocasión he usado una serie de opciones durante la prueba en un equipo con IP Privada; las cuales fueron necesarias para poder llevar a cabo las grabaciones. Permiten ignorar errores de certificado para que </a:t>
            </a:r>
            <a:r>
              <a:rPr lang="es-ES" sz="1900" dirty="0" err="1"/>
              <a:t>Jibri</a:t>
            </a:r>
            <a:r>
              <a:rPr lang="es-ES" sz="1900" dirty="0"/>
              <a:t> pueda entrar por IP:</a:t>
            </a:r>
            <a:endParaRPr lang="en-US" sz="1900" dirty="0"/>
          </a:p>
          <a:p>
            <a:pPr lvl="2"/>
            <a:r>
              <a:rPr lang="es-ES" sz="1900" b="1" dirty="0"/>
              <a:t>XMPP_TRUST_ALL_CERTS</a:t>
            </a:r>
            <a:r>
              <a:rPr lang="es-ES" sz="1900" dirty="0"/>
              <a:t>=true</a:t>
            </a:r>
            <a:endParaRPr lang="en-US" sz="1900" dirty="0"/>
          </a:p>
          <a:p>
            <a:pPr lvl="2"/>
            <a:r>
              <a:rPr lang="es-ES" sz="1900" b="1" dirty="0"/>
              <a:t>JIBRI_HTTP_API_EXTERNAL_TLS</a:t>
            </a:r>
            <a:r>
              <a:rPr lang="es-ES" sz="1900" dirty="0"/>
              <a:t>=false</a:t>
            </a:r>
            <a:endParaRPr lang="en-US" sz="1900" dirty="0"/>
          </a:p>
          <a:p>
            <a:pPr lvl="2"/>
            <a:r>
              <a:rPr lang="es-ES" sz="1900" b="1" dirty="0"/>
              <a:t>IGNORE_CERTIFICATE_ERRORS</a:t>
            </a:r>
            <a:r>
              <a:rPr lang="es-ES" sz="1900" dirty="0"/>
              <a:t>=true</a:t>
            </a:r>
            <a:endParaRPr lang="en-US" sz="1900" dirty="0"/>
          </a:p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93D152-E44E-B160-85FE-40CC5B1EC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015" y="1690688"/>
            <a:ext cx="4254740" cy="355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47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A86F4-EA3B-C57E-5662-AC87E3935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Jitsi</a:t>
            </a:r>
            <a:r>
              <a:rPr lang="es-ES" dirty="0"/>
              <a:t>: gestión de usuarios	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97F8AB-9E03-5B77-80F4-DD77F018E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Para la gestión de usuarios se usa el contenedor de </a:t>
            </a:r>
            <a:r>
              <a:rPr lang="es-ES" sz="1800" dirty="0" err="1"/>
              <a:t>Prosody</a:t>
            </a:r>
            <a:r>
              <a:rPr lang="es-ES" sz="1800" dirty="0"/>
              <a:t> de </a:t>
            </a:r>
            <a:r>
              <a:rPr lang="es-ES" sz="1800" dirty="0" err="1"/>
              <a:t>Jitsi</a:t>
            </a:r>
            <a:r>
              <a:rPr lang="es-ES" sz="1800" dirty="0"/>
              <a:t>. </a:t>
            </a:r>
            <a:endParaRPr lang="en-US" sz="1800" dirty="0"/>
          </a:p>
          <a:p>
            <a:r>
              <a:rPr lang="es-ES" sz="1800" dirty="0"/>
              <a:t>Ver usuarios:</a:t>
            </a:r>
            <a:endParaRPr lang="en-US" sz="1800" dirty="0"/>
          </a:p>
          <a:p>
            <a:pPr marL="0" indent="0">
              <a:buNone/>
            </a:pPr>
            <a:r>
              <a:rPr lang="es-ES" sz="1800" b="1" dirty="0" err="1"/>
              <a:t>docker</a:t>
            </a:r>
            <a:r>
              <a:rPr lang="es-ES" sz="1800" b="1" dirty="0"/>
              <a:t> </a:t>
            </a:r>
            <a:r>
              <a:rPr lang="es-ES" sz="1800" b="1" dirty="0" err="1"/>
              <a:t>compose</a:t>
            </a:r>
            <a:r>
              <a:rPr lang="es-ES" sz="1800" b="1" dirty="0"/>
              <a:t> </a:t>
            </a:r>
            <a:r>
              <a:rPr lang="es-ES" sz="1800" b="1" dirty="0" err="1"/>
              <a:t>exec</a:t>
            </a:r>
            <a:r>
              <a:rPr lang="es-ES" sz="1800" b="1" dirty="0"/>
              <a:t> jitsi-docker-jitsi-meet-35879bb-prosody-1 </a:t>
            </a:r>
            <a:r>
              <a:rPr lang="es-ES" sz="1800" b="1" dirty="0" err="1"/>
              <a:t>find</a:t>
            </a:r>
            <a:r>
              <a:rPr lang="es-ES" sz="1800" b="1" dirty="0"/>
              <a:t> /</a:t>
            </a:r>
            <a:r>
              <a:rPr lang="es-ES" sz="1800" b="1" dirty="0" err="1"/>
              <a:t>config</a:t>
            </a:r>
            <a:r>
              <a:rPr lang="es-ES" sz="1800" b="1" dirty="0"/>
              <a:t>/data/meet%2ejitsi/</a:t>
            </a:r>
            <a:r>
              <a:rPr lang="es-ES" sz="1800" b="1" dirty="0" err="1"/>
              <a:t>accounts</a:t>
            </a:r>
            <a:r>
              <a:rPr lang="es-ES" sz="1800" b="1" dirty="0"/>
              <a:t> -</a:t>
            </a:r>
            <a:r>
              <a:rPr lang="es-ES" sz="1800" b="1" dirty="0" err="1"/>
              <a:t>type</a:t>
            </a:r>
            <a:r>
              <a:rPr lang="es-ES" sz="1800" b="1" dirty="0"/>
              <a:t> f -</a:t>
            </a:r>
            <a:r>
              <a:rPr lang="es-ES" sz="1800" b="1" dirty="0" err="1"/>
              <a:t>exec</a:t>
            </a:r>
            <a:r>
              <a:rPr lang="es-ES" sz="1800" b="1" dirty="0"/>
              <a:t> </a:t>
            </a:r>
            <a:r>
              <a:rPr lang="es-ES" sz="1800" b="1" dirty="0" err="1"/>
              <a:t>basename</a:t>
            </a:r>
            <a:r>
              <a:rPr lang="es-ES" sz="1800" b="1" dirty="0"/>
              <a:t> {} .</a:t>
            </a:r>
            <a:r>
              <a:rPr lang="es-ES" sz="1800" b="1" dirty="0" err="1"/>
              <a:t>dat</a:t>
            </a:r>
            <a:r>
              <a:rPr lang="es-ES" sz="1800" b="1" dirty="0"/>
              <a:t> \;</a:t>
            </a:r>
            <a:endParaRPr lang="en-US" sz="1800" dirty="0"/>
          </a:p>
          <a:p>
            <a:r>
              <a:rPr lang="es-ES" sz="1800" dirty="0"/>
              <a:t>Añadir usuario:</a:t>
            </a:r>
            <a:endParaRPr lang="en-US" sz="1800" dirty="0"/>
          </a:p>
          <a:p>
            <a:pPr marL="0" indent="0">
              <a:buNone/>
            </a:pPr>
            <a:r>
              <a:rPr lang="es-ES" sz="1800" b="1" dirty="0" err="1"/>
              <a:t>docker</a:t>
            </a:r>
            <a:r>
              <a:rPr lang="es-ES" sz="1800" b="1" dirty="0"/>
              <a:t> </a:t>
            </a:r>
            <a:r>
              <a:rPr lang="es-ES" sz="1800" b="1" dirty="0" err="1"/>
              <a:t>compose</a:t>
            </a:r>
            <a:r>
              <a:rPr lang="es-ES" sz="1800" b="1" dirty="0"/>
              <a:t> </a:t>
            </a:r>
            <a:r>
              <a:rPr lang="es-ES" sz="1800" b="1" dirty="0" err="1"/>
              <a:t>exec</a:t>
            </a:r>
            <a:r>
              <a:rPr lang="es-ES" sz="1800" b="1" dirty="0"/>
              <a:t> jitsi-docker-jitsi-meet-35879bb-prosody-1 </a:t>
            </a:r>
            <a:r>
              <a:rPr lang="es-ES" sz="1800" b="1" dirty="0" err="1"/>
              <a:t>prosodyctl</a:t>
            </a:r>
            <a:r>
              <a:rPr lang="es-ES" sz="1800" b="1" dirty="0"/>
              <a:t> --</a:t>
            </a:r>
            <a:r>
              <a:rPr lang="es-ES" sz="1800" b="1" dirty="0" err="1"/>
              <a:t>config</a:t>
            </a:r>
            <a:r>
              <a:rPr lang="es-ES" sz="1800" b="1" dirty="0"/>
              <a:t> /</a:t>
            </a:r>
            <a:r>
              <a:rPr lang="es-ES" sz="1800" b="1" dirty="0" err="1"/>
              <a:t>config</a:t>
            </a:r>
            <a:r>
              <a:rPr lang="es-ES" sz="1800" b="1" dirty="0"/>
              <a:t>/</a:t>
            </a:r>
            <a:r>
              <a:rPr lang="es-ES" sz="1800" b="1" dirty="0" err="1"/>
              <a:t>prosody.cfg.lua</a:t>
            </a:r>
            <a:r>
              <a:rPr lang="es-ES" sz="1800" b="1" dirty="0"/>
              <a:t> </a:t>
            </a:r>
            <a:r>
              <a:rPr lang="es-ES" sz="1800" b="1" dirty="0" err="1"/>
              <a:t>register</a:t>
            </a:r>
            <a:r>
              <a:rPr lang="es-ES" sz="1800" b="1" dirty="0"/>
              <a:t> </a:t>
            </a:r>
            <a:r>
              <a:rPr lang="es-ES" sz="1800" b="1" dirty="0" err="1"/>
              <a:t>TheDesiredUsername</a:t>
            </a:r>
            <a:r>
              <a:rPr lang="es-ES" sz="1800" b="1" dirty="0"/>
              <a:t> </a:t>
            </a:r>
            <a:r>
              <a:rPr lang="es-ES" sz="1800" b="1" dirty="0" err="1"/>
              <a:t>meet.jitsi</a:t>
            </a:r>
            <a:r>
              <a:rPr lang="es-ES" sz="1800" b="1" dirty="0"/>
              <a:t> </a:t>
            </a:r>
            <a:r>
              <a:rPr lang="es-ES" sz="1800" b="1" dirty="0" err="1"/>
              <a:t>TheDesiredPassword</a:t>
            </a:r>
            <a:endParaRPr lang="en-US" sz="1800" dirty="0"/>
          </a:p>
          <a:p>
            <a:r>
              <a:rPr lang="es-ES" sz="1800" dirty="0"/>
              <a:t>Borrar usuario:</a:t>
            </a:r>
            <a:endParaRPr lang="en-US" sz="1800" dirty="0"/>
          </a:p>
          <a:p>
            <a:pPr marL="0" indent="0">
              <a:buNone/>
            </a:pPr>
            <a:r>
              <a:rPr lang="es-ES" sz="1800" b="1" dirty="0" err="1"/>
              <a:t>docker</a:t>
            </a:r>
            <a:r>
              <a:rPr lang="es-ES" sz="1800" b="1" dirty="0"/>
              <a:t> </a:t>
            </a:r>
            <a:r>
              <a:rPr lang="es-ES" sz="1800" b="1" dirty="0" err="1"/>
              <a:t>compose</a:t>
            </a:r>
            <a:r>
              <a:rPr lang="es-ES" sz="1800" b="1" dirty="0"/>
              <a:t> </a:t>
            </a:r>
            <a:r>
              <a:rPr lang="es-ES" sz="1800" b="1" dirty="0" err="1"/>
              <a:t>exec</a:t>
            </a:r>
            <a:r>
              <a:rPr lang="es-ES" sz="1800" b="1" dirty="0"/>
              <a:t> jitsi-docker-jitsi-meet-35879bb-prosody-1 </a:t>
            </a:r>
            <a:r>
              <a:rPr lang="es-ES" sz="1800" b="1" dirty="0" err="1"/>
              <a:t>prosodyctl</a:t>
            </a:r>
            <a:r>
              <a:rPr lang="es-ES" sz="1800" b="1" dirty="0"/>
              <a:t> --</a:t>
            </a:r>
            <a:r>
              <a:rPr lang="es-ES" sz="1800" b="1" dirty="0" err="1"/>
              <a:t>config</a:t>
            </a:r>
            <a:r>
              <a:rPr lang="es-ES" sz="1800" b="1" dirty="0"/>
              <a:t> /</a:t>
            </a:r>
            <a:r>
              <a:rPr lang="es-ES" sz="1800" b="1" dirty="0" err="1"/>
              <a:t>config</a:t>
            </a:r>
            <a:r>
              <a:rPr lang="es-ES" sz="1800" b="1" dirty="0"/>
              <a:t>/</a:t>
            </a:r>
            <a:r>
              <a:rPr lang="es-ES" sz="1800" b="1" dirty="0" err="1"/>
              <a:t>prosody.cfg.lua</a:t>
            </a:r>
            <a:r>
              <a:rPr lang="es-ES" sz="1800" b="1" dirty="0"/>
              <a:t> </a:t>
            </a:r>
            <a:r>
              <a:rPr lang="es-ES" sz="1800" b="1" dirty="0" err="1"/>
              <a:t>unregister</a:t>
            </a:r>
            <a:r>
              <a:rPr lang="es-ES" sz="1800" b="1" dirty="0"/>
              <a:t> </a:t>
            </a:r>
            <a:r>
              <a:rPr lang="es-ES" sz="1800" b="1" dirty="0" err="1"/>
              <a:t>TheDesiredUsername</a:t>
            </a:r>
            <a:r>
              <a:rPr lang="es-ES" sz="1800" b="1" dirty="0"/>
              <a:t> </a:t>
            </a:r>
            <a:r>
              <a:rPr lang="es-ES" sz="1800" b="1" dirty="0" err="1"/>
              <a:t>meet.jitsi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670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77FD4-0E1F-EE02-F3E6-490C177C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Jitsi</a:t>
            </a:r>
            <a:r>
              <a:rPr lang="es-ES" dirty="0"/>
              <a:t> </a:t>
            </a:r>
            <a:r>
              <a:rPr lang="es-ES" dirty="0" err="1"/>
              <a:t>Meets</a:t>
            </a:r>
            <a:r>
              <a:rPr lang="es-ES" dirty="0"/>
              <a:t>: Levantar contenedores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341695-E627-DD0A-9CB6-227E4849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 dirty="0" err="1"/>
              <a:t>Jitsi</a:t>
            </a:r>
            <a:r>
              <a:rPr lang="es-ES" sz="1900" dirty="0"/>
              <a:t> usa además de el archivo “</a:t>
            </a:r>
            <a:r>
              <a:rPr lang="es-ES" sz="1900" b="1" dirty="0" err="1"/>
              <a:t>docker-compose.yml</a:t>
            </a:r>
            <a:r>
              <a:rPr lang="es-ES" sz="1900" dirty="0"/>
              <a:t>” otros archivos </a:t>
            </a:r>
            <a:r>
              <a:rPr lang="es-ES" sz="1900" b="1" dirty="0"/>
              <a:t>.</a:t>
            </a:r>
            <a:r>
              <a:rPr lang="es-ES" sz="1900" b="1" dirty="0" err="1"/>
              <a:t>yml</a:t>
            </a:r>
            <a:r>
              <a:rPr lang="es-ES" sz="1900" b="1" dirty="0"/>
              <a:t> </a:t>
            </a:r>
            <a:r>
              <a:rPr lang="es-ES" sz="1900" dirty="0"/>
              <a:t>para diferentes servicios:</a:t>
            </a:r>
          </a:p>
          <a:p>
            <a:pPr lvl="0"/>
            <a:r>
              <a:rPr lang="es-ES" sz="1900" b="1" dirty="0" err="1"/>
              <a:t>Jibri</a:t>
            </a:r>
            <a:r>
              <a:rPr lang="es-ES" sz="1900" b="1" dirty="0"/>
              <a:t> (</a:t>
            </a:r>
            <a:r>
              <a:rPr lang="es-ES" sz="1900" b="1" dirty="0" err="1"/>
              <a:t>jibri.yml</a:t>
            </a:r>
            <a:r>
              <a:rPr lang="es-ES" sz="1900" b="1" dirty="0"/>
              <a:t>):</a:t>
            </a:r>
            <a:r>
              <a:rPr lang="es-ES" sz="1900" dirty="0"/>
              <a:t> Gestiona las grabaciones.</a:t>
            </a:r>
            <a:endParaRPr lang="en-US" sz="1900" dirty="0"/>
          </a:p>
          <a:p>
            <a:pPr lvl="0"/>
            <a:r>
              <a:rPr lang="es-ES" sz="1900" b="1" dirty="0" err="1"/>
              <a:t>Whiteboard</a:t>
            </a:r>
            <a:r>
              <a:rPr lang="es-ES" sz="1900" b="1" dirty="0"/>
              <a:t> (</a:t>
            </a:r>
            <a:r>
              <a:rPr lang="es-ES" sz="1900" b="1" dirty="0" err="1"/>
              <a:t>whiteboard.yml</a:t>
            </a:r>
            <a:r>
              <a:rPr lang="es-ES" sz="1900" b="1" dirty="0"/>
              <a:t>):</a:t>
            </a:r>
            <a:r>
              <a:rPr lang="es-ES" sz="1900" dirty="0"/>
              <a:t> Habilita la pizarra interactiva.</a:t>
            </a:r>
            <a:endParaRPr lang="en-US" sz="1900" dirty="0"/>
          </a:p>
          <a:p>
            <a:pPr lvl="0"/>
            <a:r>
              <a:rPr lang="es-ES" sz="1900" b="1" dirty="0" err="1"/>
              <a:t>Etherpad</a:t>
            </a:r>
            <a:r>
              <a:rPr lang="es-ES" sz="1900" b="1" dirty="0"/>
              <a:t> (</a:t>
            </a:r>
            <a:r>
              <a:rPr lang="es-ES" sz="1900" b="1" dirty="0" err="1"/>
              <a:t>etherpad.yml</a:t>
            </a:r>
            <a:r>
              <a:rPr lang="es-ES" sz="1900" b="1" dirty="0"/>
              <a:t>):</a:t>
            </a:r>
            <a:r>
              <a:rPr lang="es-ES" sz="1900" dirty="0"/>
              <a:t> Permite la edición de documentos compartidos en tiempo real.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Para </a:t>
            </a:r>
            <a:r>
              <a:rPr lang="en-US" sz="1900" dirty="0" err="1"/>
              <a:t>iniciar</a:t>
            </a:r>
            <a:r>
              <a:rPr lang="en-US" sz="1900" dirty="0"/>
              <a:t>: </a:t>
            </a:r>
          </a:p>
          <a:p>
            <a:pPr marL="0" indent="0">
              <a:buNone/>
            </a:pPr>
            <a:r>
              <a:rPr lang="es-ES" sz="1900" b="1" dirty="0" err="1"/>
              <a:t>docker</a:t>
            </a:r>
            <a:r>
              <a:rPr lang="es-ES" sz="1900" b="1" dirty="0"/>
              <a:t> </a:t>
            </a:r>
            <a:r>
              <a:rPr lang="es-ES" sz="1900" b="1" dirty="0" err="1"/>
              <a:t>compose</a:t>
            </a:r>
            <a:r>
              <a:rPr lang="es-ES" sz="1900" b="1" dirty="0"/>
              <a:t> -f </a:t>
            </a:r>
            <a:r>
              <a:rPr lang="es-ES" sz="1900" b="1" dirty="0" err="1"/>
              <a:t>docker-compose.yml</a:t>
            </a:r>
            <a:r>
              <a:rPr lang="es-ES" sz="1900" b="1" dirty="0"/>
              <a:t> -f </a:t>
            </a:r>
            <a:r>
              <a:rPr lang="es-ES" sz="1900" b="1" dirty="0" err="1"/>
              <a:t>whiteboard.yml</a:t>
            </a:r>
            <a:r>
              <a:rPr lang="es-ES" sz="1900" b="1" dirty="0"/>
              <a:t> -f </a:t>
            </a:r>
            <a:r>
              <a:rPr lang="es-ES" sz="1900" b="1" dirty="0" err="1"/>
              <a:t>etherpad.yml</a:t>
            </a:r>
            <a:r>
              <a:rPr lang="es-ES" sz="1900" b="1" dirty="0"/>
              <a:t> -f </a:t>
            </a:r>
            <a:r>
              <a:rPr lang="es-ES" sz="1900" b="1" dirty="0" err="1"/>
              <a:t>jibri.yml</a:t>
            </a:r>
            <a:r>
              <a:rPr lang="es-ES" sz="1900" b="1" dirty="0"/>
              <a:t> up -d</a:t>
            </a:r>
            <a:endParaRPr lang="en-US" sz="1900" dirty="0"/>
          </a:p>
          <a:p>
            <a:pPr marL="0" indent="0">
              <a:buNone/>
            </a:pPr>
            <a:r>
              <a:rPr lang="es-ES" sz="1800" dirty="0"/>
              <a:t>Para detener y eliminar los contenedores:</a:t>
            </a:r>
          </a:p>
          <a:p>
            <a:pPr marL="0" indent="0">
              <a:buNone/>
            </a:pPr>
            <a:r>
              <a:rPr lang="es-ES" sz="1900" b="1" dirty="0" err="1"/>
              <a:t>docker</a:t>
            </a:r>
            <a:r>
              <a:rPr lang="es-ES" sz="1900" b="1" dirty="0"/>
              <a:t> </a:t>
            </a:r>
            <a:r>
              <a:rPr lang="es-ES" sz="1900" b="1" dirty="0" err="1"/>
              <a:t>compose</a:t>
            </a:r>
            <a:r>
              <a:rPr lang="es-ES" sz="1900" b="1" dirty="0"/>
              <a:t> -f </a:t>
            </a:r>
            <a:r>
              <a:rPr lang="es-ES" sz="1900" b="1" dirty="0" err="1"/>
              <a:t>docker-compose.yml</a:t>
            </a:r>
            <a:r>
              <a:rPr lang="es-ES" sz="1900" b="1" dirty="0"/>
              <a:t> -f </a:t>
            </a:r>
            <a:r>
              <a:rPr lang="es-ES" sz="1900" b="1" dirty="0" err="1"/>
              <a:t>whiteboard.yml</a:t>
            </a:r>
            <a:r>
              <a:rPr lang="es-ES" sz="1900" b="1" dirty="0"/>
              <a:t> -f </a:t>
            </a:r>
            <a:r>
              <a:rPr lang="es-ES" sz="1900" b="1" dirty="0" err="1"/>
              <a:t>etherpad.yml</a:t>
            </a:r>
            <a:r>
              <a:rPr lang="es-ES" sz="1900" b="1" dirty="0"/>
              <a:t> -f </a:t>
            </a:r>
            <a:r>
              <a:rPr lang="es-ES" sz="1900" b="1" dirty="0" err="1"/>
              <a:t>jibri.yml</a:t>
            </a:r>
            <a:r>
              <a:rPr lang="es-ES" sz="1900" b="1" dirty="0"/>
              <a:t> </a:t>
            </a:r>
            <a:r>
              <a:rPr lang="es-ES" sz="1900" b="1" dirty="0" err="1"/>
              <a:t>down</a:t>
            </a:r>
            <a:endParaRPr lang="en-US" sz="19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568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5945B-1417-0C65-E9BE-90A081C0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Tercer bloque: </a:t>
            </a:r>
            <a:r>
              <a:rPr lang="es-ES" dirty="0" err="1"/>
              <a:t>Nginx</a:t>
            </a:r>
            <a:r>
              <a:rPr lang="es-ES" dirty="0"/>
              <a:t> Proxy Manager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F0F3F2-A2D9-125A-B1ED-1C07984AE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4403"/>
            <a:ext cx="2699479" cy="3667636"/>
          </a:xfrm>
        </p:spPr>
        <p:txBody>
          <a:bodyPr>
            <a:normAutofit lnSpcReduction="10000"/>
          </a:bodyPr>
          <a:lstStyle/>
          <a:p>
            <a:r>
              <a:rPr lang="es-ES" sz="1800" b="1" dirty="0" err="1"/>
              <a:t>Nginx</a:t>
            </a:r>
            <a:r>
              <a:rPr lang="es-ES" sz="1800" b="1" dirty="0"/>
              <a:t> Proxy Manager </a:t>
            </a:r>
            <a:r>
              <a:rPr lang="es-ES" sz="1800" dirty="0"/>
              <a:t>gestiona el tráfico del servidor, evitando conflictos de puertos, y automatiza la obtención y renovación de certificados SSL.</a:t>
            </a:r>
          </a:p>
          <a:p>
            <a:r>
              <a:rPr lang="es-ES" sz="1800" dirty="0"/>
              <a:t>Los </a:t>
            </a:r>
            <a:r>
              <a:rPr lang="es-ES" sz="1800" b="1" dirty="0"/>
              <a:t>puertos</a:t>
            </a:r>
            <a:r>
              <a:rPr lang="es-ES" sz="1800" dirty="0"/>
              <a:t> </a:t>
            </a:r>
            <a:r>
              <a:rPr lang="es-ES" sz="1800" b="1" dirty="0"/>
              <a:t>80</a:t>
            </a:r>
            <a:r>
              <a:rPr lang="es-ES" sz="1800" dirty="0"/>
              <a:t> y </a:t>
            </a:r>
            <a:r>
              <a:rPr lang="es-ES" sz="1800" b="1" dirty="0"/>
              <a:t>443</a:t>
            </a:r>
            <a:r>
              <a:rPr lang="es-ES" sz="1800" dirty="0"/>
              <a:t> gestionan el tráfico web público (HTTP/HTTPS), mientras que el </a:t>
            </a:r>
            <a:r>
              <a:rPr lang="es-ES" sz="1800" b="1" dirty="0"/>
              <a:t>81</a:t>
            </a:r>
            <a:r>
              <a:rPr lang="es-ES" sz="1800" dirty="0"/>
              <a:t> es el acceso privado para administración.</a:t>
            </a:r>
            <a:endParaRPr lang="en-US" sz="1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A144D7-3221-A927-EAA5-23C72FAB0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754" y="2264403"/>
            <a:ext cx="6972765" cy="349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74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91994-33B2-5086-5EBB-2BA6E89F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NPM: Configurando Hosts (I)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5900C0-5AD7-D459-099F-7F5C85E13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661" y="1825625"/>
            <a:ext cx="5676562" cy="1200941"/>
          </a:xfrm>
        </p:spPr>
        <p:txBody>
          <a:bodyPr>
            <a:normAutofit/>
          </a:bodyPr>
          <a:lstStyle/>
          <a:p>
            <a:r>
              <a:rPr lang="es-ES" sz="1800" dirty="0"/>
              <a:t>Hosts </a:t>
            </a:r>
            <a:r>
              <a:rPr lang="es-ES" sz="1800" dirty="0">
                <a:sym typeface="Wingdings" panose="05000000000000000000" pitchFamily="2" charset="2"/>
              </a:rPr>
              <a:t></a:t>
            </a:r>
            <a:r>
              <a:rPr lang="es-ES" sz="1800" dirty="0"/>
              <a:t>Proxy Hosts </a:t>
            </a:r>
            <a:r>
              <a:rPr lang="es-ES" sz="1800" dirty="0">
                <a:sym typeface="Wingdings" panose="05000000000000000000" pitchFamily="2" charset="2"/>
              </a:rPr>
              <a:t> </a:t>
            </a:r>
            <a:r>
              <a:rPr lang="es-ES" sz="1800" dirty="0" err="1">
                <a:sym typeface="Wingdings" panose="05000000000000000000" pitchFamily="2" charset="2"/>
              </a:rPr>
              <a:t>Add</a:t>
            </a:r>
            <a:r>
              <a:rPr lang="es-ES" sz="1800" dirty="0">
                <a:sym typeface="Wingdings" panose="05000000000000000000" pitchFamily="2" charset="2"/>
              </a:rPr>
              <a:t> New Proxy Hosts</a:t>
            </a:r>
          </a:p>
          <a:p>
            <a:r>
              <a:rPr lang="es-ES" sz="1800" dirty="0">
                <a:sym typeface="Wingdings" panose="05000000000000000000" pitchFamily="2" charset="2"/>
              </a:rPr>
              <a:t>Comunicación entre NPM y los demás contenedores/servidores de la instancia.</a:t>
            </a:r>
          </a:p>
          <a:p>
            <a:endParaRPr lang="en-US" sz="1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964A33-912F-BD3C-17F7-6037EEAE2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401" y="1690688"/>
            <a:ext cx="4573760" cy="470058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9369B4C-CD4F-2837-1CBA-89AE5C7B5B6C}"/>
              </a:ext>
            </a:extLst>
          </p:cNvPr>
          <p:cNvSpPr txBox="1"/>
          <p:nvPr/>
        </p:nvSpPr>
        <p:spPr>
          <a:xfrm>
            <a:off x="838200" y="3026566"/>
            <a:ext cx="5369485" cy="3364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Block 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Common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Exploits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Está activado. Esto añade una capa extra de seguridad (protección contra ataques comunes como inyecciones SQL o intentos de ejecución de código remoto), lo cual es muy recomendable al exponer servicios a internet.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Websockets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Support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soporte de 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Websockets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crítico en este tipo de servidores porque permite la comunicación bidireccional y persistente entre el cliente y el servidor, superando las limitaciones del protocolo HTTP tradicional.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108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835D8-3B45-F442-94EE-1B8C4BE25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NPM: Configurando Hosts (II)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87A94D-C5A5-0FDE-C451-A9FE1A99B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72"/>
            <a:ext cx="5257800" cy="4698431"/>
          </a:xfrm>
        </p:spPr>
        <p:txBody>
          <a:bodyPr>
            <a:normAutofit/>
          </a:bodyPr>
          <a:lstStyle/>
          <a:p>
            <a:r>
              <a:rPr lang="es-ES" sz="1800" dirty="0"/>
              <a:t>Tenemos que especificar que queremos pedir un certificado.</a:t>
            </a:r>
            <a:endParaRPr lang="es-ES" sz="1800" b="1" dirty="0"/>
          </a:p>
          <a:p>
            <a:r>
              <a:rPr lang="es-ES" sz="1800" b="1" dirty="0" err="1"/>
              <a:t>Force</a:t>
            </a:r>
            <a:r>
              <a:rPr lang="es-ES" sz="1800" b="1" dirty="0"/>
              <a:t> SSL:</a:t>
            </a:r>
            <a:r>
              <a:rPr lang="es-ES" sz="1800" dirty="0"/>
              <a:t> Redirige automáticamente el tráfico HTTP a HTTPS, garantizando conexiones siempre cifradas.</a:t>
            </a:r>
          </a:p>
          <a:p>
            <a:r>
              <a:rPr lang="en-US" sz="1800" b="1" dirty="0"/>
              <a:t>HTTP/2 Support:</a:t>
            </a:r>
            <a:r>
              <a:rPr lang="en-US" sz="1800" dirty="0"/>
              <a:t> </a:t>
            </a:r>
            <a:r>
              <a:rPr lang="en-US" sz="1800" dirty="0" err="1"/>
              <a:t>Optimiza</a:t>
            </a:r>
            <a:r>
              <a:rPr lang="en-US" sz="1800" dirty="0"/>
              <a:t> la </a:t>
            </a:r>
            <a:r>
              <a:rPr lang="en-US" sz="1800" dirty="0" err="1"/>
              <a:t>velocidad</a:t>
            </a:r>
            <a:r>
              <a:rPr lang="en-US" sz="1800" dirty="0"/>
              <a:t> de carga </a:t>
            </a:r>
            <a:r>
              <a:rPr lang="en-US" sz="1800" dirty="0" err="1"/>
              <a:t>permitiendo</a:t>
            </a:r>
            <a:r>
              <a:rPr lang="en-US" sz="1800" dirty="0"/>
              <a:t> </a:t>
            </a:r>
            <a:r>
              <a:rPr lang="en-US" sz="1800" dirty="0" err="1"/>
              <a:t>múltiples</a:t>
            </a:r>
            <a:r>
              <a:rPr lang="en-US" sz="1800" dirty="0"/>
              <a:t> </a:t>
            </a:r>
            <a:r>
              <a:rPr lang="en-US" sz="1800" dirty="0" err="1"/>
              <a:t>transferencias</a:t>
            </a:r>
            <a:r>
              <a:rPr lang="en-US" sz="1800" dirty="0"/>
              <a:t> </a:t>
            </a:r>
            <a:r>
              <a:rPr lang="en-US" sz="1800" dirty="0" err="1"/>
              <a:t>simultáneas</a:t>
            </a:r>
            <a:r>
              <a:rPr lang="en-US" sz="1800" dirty="0"/>
              <a:t> </a:t>
            </a:r>
            <a:r>
              <a:rPr lang="en-US" sz="1800" dirty="0" err="1"/>
              <a:t>mediante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protocolo</a:t>
            </a:r>
            <a:r>
              <a:rPr lang="en-US" sz="1800" dirty="0"/>
              <a:t>.</a:t>
            </a:r>
          </a:p>
          <a:p>
            <a:r>
              <a:rPr lang="es-ES" sz="1800" b="1" dirty="0"/>
              <a:t>HSTS </a:t>
            </a:r>
            <a:r>
              <a:rPr lang="es-ES" sz="1800" b="1" dirty="0" err="1"/>
              <a:t>Enabled</a:t>
            </a:r>
            <a:r>
              <a:rPr lang="es-ES" sz="1800" b="1" dirty="0"/>
              <a:t>:</a:t>
            </a:r>
            <a:r>
              <a:rPr lang="es-ES" sz="1800" dirty="0"/>
              <a:t> Obliga a los navegadores a conectar exclusivamente mediante HTTPS tras la primera visita, evitando conexiones inseguras futuras.</a:t>
            </a:r>
          </a:p>
          <a:p>
            <a:r>
              <a:rPr lang="es-ES" sz="1800" b="1" dirty="0"/>
              <a:t>HSTS </a:t>
            </a:r>
            <a:r>
              <a:rPr lang="es-ES" sz="1800" b="1" dirty="0" err="1"/>
              <a:t>Sub-domains</a:t>
            </a:r>
            <a:r>
              <a:rPr lang="es-ES" sz="1800" b="1" dirty="0"/>
              <a:t>:</a:t>
            </a:r>
            <a:r>
              <a:rPr lang="es-ES" sz="1800" dirty="0"/>
              <a:t> Aplica la política HSTS a todos los subdominios, reforzando la seguridad de toda tu estructura.</a:t>
            </a:r>
            <a:endParaRPr lang="en-US" sz="1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AED99D-E717-C406-64DB-C32BD0984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35" y="1507572"/>
            <a:ext cx="5331533" cy="456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45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17099-B514-E841-E8C7-FE4AD7147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NPM: Configurando Hosts (III)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D85D96-7CB8-74E7-57A7-D85388A92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792"/>
            <a:ext cx="9699885" cy="16033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dirty="0"/>
              <a:t>Fíjese en SSL que tienen todos los certificados de </a:t>
            </a:r>
            <a:r>
              <a:rPr lang="es-ES" dirty="0" err="1"/>
              <a:t>Let's</a:t>
            </a:r>
            <a:r>
              <a:rPr lang="es-ES" dirty="0"/>
              <a:t> </a:t>
            </a:r>
            <a:r>
              <a:rPr lang="es-ES" dirty="0" err="1"/>
              <a:t>Encrypt</a:t>
            </a:r>
            <a:endParaRPr lang="en-US" dirty="0"/>
          </a:p>
          <a:p>
            <a:pPr marL="0" indent="0">
              <a:buNone/>
            </a:pPr>
            <a:r>
              <a:rPr lang="es-ES" dirty="0"/>
              <a:t>Ahora podremos usar las URL seguras:</a:t>
            </a:r>
            <a:endParaRPr lang="en-US" dirty="0"/>
          </a:p>
          <a:p>
            <a:r>
              <a:rPr lang="es-ES" dirty="0" err="1"/>
              <a:t>Owncast</a:t>
            </a:r>
            <a:r>
              <a:rPr lang="es-ES" dirty="0"/>
              <a:t>: </a:t>
            </a:r>
            <a:r>
              <a:rPr lang="es-ES" u="sng" dirty="0">
                <a:hlinkClick r:id="rId2"/>
              </a:rPr>
              <a:t>https://live.im07.institutodh.net/</a:t>
            </a:r>
            <a:r>
              <a:rPr lang="es-ES" dirty="0"/>
              <a:t> </a:t>
            </a:r>
            <a:endParaRPr lang="en-US" dirty="0"/>
          </a:p>
          <a:p>
            <a:r>
              <a:rPr lang="es-ES" dirty="0" err="1"/>
              <a:t>Jellyfin</a:t>
            </a:r>
            <a:r>
              <a:rPr lang="es-ES" dirty="0"/>
              <a:t>: </a:t>
            </a:r>
            <a:r>
              <a:rPr lang="es-ES" u="sng" dirty="0">
                <a:hlinkClick r:id="rId3"/>
              </a:rPr>
              <a:t>https://media.im07.institutodh.net/</a:t>
            </a:r>
            <a:endParaRPr lang="en-US" dirty="0"/>
          </a:p>
          <a:p>
            <a:r>
              <a:rPr lang="es-ES" dirty="0" err="1"/>
              <a:t>Jitsi</a:t>
            </a:r>
            <a:r>
              <a:rPr lang="es-ES" dirty="0"/>
              <a:t> </a:t>
            </a:r>
            <a:r>
              <a:rPr lang="es-ES" dirty="0" err="1"/>
              <a:t>Meet</a:t>
            </a:r>
            <a:r>
              <a:rPr lang="es-ES" dirty="0"/>
              <a:t>: </a:t>
            </a:r>
            <a:r>
              <a:rPr lang="es-ES" u="sng" dirty="0">
                <a:hlinkClick r:id="rId4"/>
              </a:rPr>
              <a:t>https://meet.im07.institutodh.net/</a:t>
            </a:r>
            <a:r>
              <a:rPr lang="es-ES" dirty="0"/>
              <a:t> </a:t>
            </a:r>
            <a:endParaRPr lang="en-US" dirty="0"/>
          </a:p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7D6DEAF-9354-63E6-932F-013BFFC45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429000"/>
            <a:ext cx="10104620" cy="300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78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AE2E8-BE2D-2FB2-1D04-76B6D623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contenido</a:t>
            </a:r>
            <a:r>
              <a:rPr lang="en-US" dirty="0"/>
              <a:t> multimedia (</a:t>
            </a:r>
            <a:r>
              <a:rPr lang="en-US" dirty="0" err="1"/>
              <a:t>Becario</a:t>
            </a:r>
            <a:r>
              <a:rPr lang="en-U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19FE6-2F6B-F140-B412-F103E7252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9864777" cy="812644"/>
          </a:xfrm>
        </p:spPr>
        <p:txBody>
          <a:bodyPr>
            <a:normAutofit lnSpcReduction="10000"/>
          </a:bodyPr>
          <a:lstStyle/>
          <a:p>
            <a:r>
              <a:rPr lang="es-ES" sz="1800" dirty="0"/>
              <a:t>Para la administración de contenido en </a:t>
            </a:r>
            <a:r>
              <a:rPr lang="es-ES" sz="1800" dirty="0" err="1"/>
              <a:t>Jellyfin</a:t>
            </a:r>
            <a:r>
              <a:rPr lang="es-ES" sz="1800" dirty="0"/>
              <a:t> existen otras soluciones como el uso de contenedores especializados (</a:t>
            </a:r>
            <a:r>
              <a:rPr lang="es-ES" sz="1800" dirty="0" err="1"/>
              <a:t>TinyMediaManager</a:t>
            </a:r>
            <a:r>
              <a:rPr lang="es-ES" sz="1800" dirty="0"/>
              <a:t>). En esta ocasión vamos a usar una solución más sencilla y directa. Usaremos el protocolo SFTP.</a:t>
            </a:r>
            <a:endParaRPr lang="en-US" sz="1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1C6F8A-1F1C-B879-A808-C19A4202F27A}"/>
              </a:ext>
            </a:extLst>
          </p:cNvPr>
          <p:cNvSpPr txBox="1"/>
          <p:nvPr/>
        </p:nvSpPr>
        <p:spPr>
          <a:xfrm>
            <a:off x="838200" y="2599447"/>
            <a:ext cx="8870429" cy="3240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Primero preparamos al usuario becario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sin acceso a la terminal (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shell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por seguridad, limitándolo solo a la transferencia de archivos.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 grupo de gestión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sudo 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addgroup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sftp_users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 usuario sin acceso a 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shell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(-s /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bin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/false)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sudo 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useradd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-m -g 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sftp_users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-s /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bin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/false becario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Asignar contraseña (la que usará en FileZilla)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sudo 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passwd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becario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112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A7B3B-6E23-6A18-9A68-00CA09528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contenido</a:t>
            </a:r>
            <a:r>
              <a:rPr lang="en-US" dirty="0"/>
              <a:t> multimedia (</a:t>
            </a:r>
            <a:r>
              <a:rPr lang="en-US" dirty="0" err="1"/>
              <a:t>Becario</a:t>
            </a:r>
            <a:r>
              <a:rPr lang="en-U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237CC0-87B0-A76D-2309-A60CC476A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25131" cy="1325563"/>
          </a:xfrm>
        </p:spPr>
        <p:txBody>
          <a:bodyPr/>
          <a:lstStyle/>
          <a:p>
            <a:pPr marL="0" indent="0">
              <a:buNone/>
            </a:pPr>
            <a:r>
              <a:rPr lang="es-ES" sz="1800" b="1" dirty="0"/>
              <a:t>Segundo</a:t>
            </a:r>
            <a:r>
              <a:rPr lang="es-ES" sz="1800" dirty="0"/>
              <a:t>: Carpetas de contenido: Aquí sí permitimos que el becario trabaje</a:t>
            </a:r>
          </a:p>
          <a:p>
            <a:r>
              <a:rPr lang="es-ES" sz="1800" dirty="0"/>
              <a:t>sudo </a:t>
            </a:r>
            <a:r>
              <a:rPr lang="es-ES" sz="1800" dirty="0" err="1"/>
              <a:t>chown</a:t>
            </a:r>
            <a:r>
              <a:rPr lang="es-ES" sz="1800" dirty="0"/>
              <a:t> -R </a:t>
            </a:r>
            <a:r>
              <a:rPr lang="es-ES" sz="1800" dirty="0" err="1"/>
              <a:t>becario:sftp_users</a:t>
            </a:r>
            <a:r>
              <a:rPr lang="es-ES" sz="1800" dirty="0"/>
              <a:t> /</a:t>
            </a:r>
            <a:r>
              <a:rPr lang="es-ES" sz="1800" dirty="0" err="1"/>
              <a:t>video_streaming</a:t>
            </a:r>
            <a:r>
              <a:rPr lang="es-ES" sz="1800" dirty="0"/>
              <a:t>/</a:t>
            </a:r>
            <a:r>
              <a:rPr lang="es-ES" sz="1800" dirty="0" err="1"/>
              <a:t>jellyfin_owncast</a:t>
            </a:r>
            <a:r>
              <a:rPr lang="es-ES" sz="1800" dirty="0"/>
              <a:t>/biblioteca/*</a:t>
            </a:r>
            <a:endParaRPr lang="en-US" sz="1800" dirty="0"/>
          </a:p>
          <a:p>
            <a:r>
              <a:rPr lang="es-ES" sz="1800" dirty="0"/>
              <a:t>sudo </a:t>
            </a:r>
            <a:r>
              <a:rPr lang="es-ES" sz="1800" dirty="0" err="1"/>
              <a:t>chmod</a:t>
            </a:r>
            <a:r>
              <a:rPr lang="es-ES" sz="1800" dirty="0"/>
              <a:t> -R 775 /</a:t>
            </a:r>
            <a:r>
              <a:rPr lang="es-ES" sz="1800" dirty="0" err="1"/>
              <a:t>video_streaming</a:t>
            </a:r>
            <a:r>
              <a:rPr lang="es-ES" sz="1800" dirty="0"/>
              <a:t>/</a:t>
            </a:r>
            <a:r>
              <a:rPr lang="es-ES" sz="1800" dirty="0" err="1"/>
              <a:t>jellyfin_owncast</a:t>
            </a:r>
            <a:r>
              <a:rPr lang="es-ES" sz="1800" dirty="0"/>
              <a:t>/biblioteca/*</a:t>
            </a:r>
            <a:endParaRPr lang="en-US" sz="1800" dirty="0"/>
          </a:p>
          <a:p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FFBCCC-4602-486A-C4A3-9739DD0F7BE6}"/>
              </a:ext>
            </a:extLst>
          </p:cNvPr>
          <p:cNvSpPr txBox="1"/>
          <p:nvPr/>
        </p:nvSpPr>
        <p:spPr>
          <a:xfrm>
            <a:off x="838200" y="3018160"/>
            <a:ext cx="6093500" cy="345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Configuración del Servidor SSH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Modificamos /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etc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ssh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sshd_config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habilitar las contraseñas y definir las reglas del becario.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Asegúrate de que estas líneas estén activas: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PasswordAuthentication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yes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KbdInteractiveAuthentication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yes (o 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ChallengeResponseAuthentication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yes en versiones antiguas)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Añade al final del archivo el bloque de restricción: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16BFEF5-FA20-75AA-CDDA-CB698CF83EFD}"/>
              </a:ext>
            </a:extLst>
          </p:cNvPr>
          <p:cNvSpPr txBox="1"/>
          <p:nvPr/>
        </p:nvSpPr>
        <p:spPr>
          <a:xfrm>
            <a:off x="6931700" y="3219457"/>
            <a:ext cx="6093500" cy="3240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Match </a:t>
            </a:r>
            <a:r>
              <a:rPr lang="es-ES" sz="1800" b="1" kern="100" dirty="0" err="1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becario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s-ES" sz="1800" b="1" kern="100" dirty="0" err="1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ChrootDirectory</a:t>
            </a: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/</a:t>
            </a:r>
            <a:r>
              <a:rPr lang="es-ES" sz="1800" b="1" kern="100" dirty="0" err="1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video_streaming</a:t>
            </a: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s-ES" sz="1800" b="1" kern="100" dirty="0" err="1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jellyfin_owncast</a:t>
            </a: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/biblioteca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s-ES" sz="1800" b="1" kern="100" dirty="0" err="1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ForceCommand</a:t>
            </a: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b="1" kern="100" dirty="0" err="1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internal-sftp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s-ES" sz="1800" b="1" kern="100" dirty="0" err="1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PasswordAuthentication</a:t>
            </a: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yes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s-ES" sz="1800" b="1" kern="100" dirty="0" err="1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PermitTunnel</a:t>
            </a: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s-ES" sz="1800" b="1" kern="100" dirty="0" err="1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AllowAgentForwarding</a:t>
            </a: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s-ES" sz="1800" b="1" kern="100" dirty="0" err="1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AllowTcpForwarding</a:t>
            </a:r>
            <a:r>
              <a:rPr lang="es-ES" sz="18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549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7A822-DF20-4C7D-6FE6-DF82E9B4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Gestión de contenido multimedia (Becario)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7AD03D-B274-747D-0996-001E21493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568" y="1825625"/>
            <a:ext cx="4548890" cy="4667250"/>
          </a:xfrm>
        </p:spPr>
        <p:txBody>
          <a:bodyPr>
            <a:normAutofit/>
          </a:bodyPr>
          <a:lstStyle/>
          <a:p>
            <a:r>
              <a:rPr lang="en-US" sz="1800" dirty="0"/>
              <a:t>En AWS Ubuntu, </a:t>
            </a:r>
            <a:r>
              <a:rPr lang="en-US" sz="1800" b="1" dirty="0" err="1"/>
              <a:t>debemos</a:t>
            </a:r>
            <a:r>
              <a:rPr lang="en-US" sz="1800" b="1" dirty="0"/>
              <a:t> </a:t>
            </a:r>
            <a:r>
              <a:rPr lang="en-US" sz="1800" b="1" dirty="0" err="1"/>
              <a:t>asegurar</a:t>
            </a:r>
            <a:r>
              <a:rPr lang="en-US" sz="1800" b="1" dirty="0"/>
              <a:t> </a:t>
            </a:r>
            <a:r>
              <a:rPr lang="en-US" sz="1800" b="1" dirty="0" err="1"/>
              <a:t>que</a:t>
            </a:r>
            <a:r>
              <a:rPr lang="en-US" sz="1800" b="1" dirty="0"/>
              <a:t> no </a:t>
            </a:r>
            <a:r>
              <a:rPr lang="en-US" sz="1800" b="1" dirty="0" err="1"/>
              <a:t>haya</a:t>
            </a:r>
            <a:r>
              <a:rPr lang="en-US" sz="1800" b="1" dirty="0"/>
              <a:t> </a:t>
            </a:r>
            <a:r>
              <a:rPr lang="en-US" sz="1800" b="1" dirty="0" err="1"/>
              <a:t>archivos</a:t>
            </a:r>
            <a:r>
              <a:rPr lang="en-US" sz="1800" b="1" dirty="0"/>
              <a:t> </a:t>
            </a:r>
            <a:r>
              <a:rPr lang="en-US" sz="1800" b="1" dirty="0" err="1"/>
              <a:t>en</a:t>
            </a:r>
            <a:r>
              <a:rPr lang="en-US" sz="1800" b="1" dirty="0"/>
              <a:t> .d </a:t>
            </a:r>
            <a:r>
              <a:rPr lang="en-US" sz="1800" b="1" dirty="0" err="1"/>
              <a:t>anulando</a:t>
            </a:r>
            <a:r>
              <a:rPr lang="en-US" sz="1800" b="1" dirty="0"/>
              <a:t> </a:t>
            </a:r>
            <a:r>
              <a:rPr lang="en-US" sz="1800" b="1" dirty="0" err="1"/>
              <a:t>nuestra</a:t>
            </a:r>
            <a:r>
              <a:rPr lang="en-US" sz="1800" b="1" dirty="0"/>
              <a:t> </a:t>
            </a:r>
            <a:r>
              <a:rPr lang="en-US" sz="1800" b="1" dirty="0" err="1"/>
              <a:t>configuración</a:t>
            </a:r>
            <a:r>
              <a:rPr lang="en-US" sz="1800" b="1" dirty="0"/>
              <a:t>:</a:t>
            </a:r>
          </a:p>
          <a:p>
            <a:pPr marL="0" indent="0">
              <a:buNone/>
            </a:pPr>
            <a:r>
              <a:rPr lang="en-US" sz="1800" dirty="0"/>
              <a:t>Si </a:t>
            </a:r>
            <a:r>
              <a:rPr lang="en-US" sz="1800" dirty="0" err="1"/>
              <a:t>existe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archivo</a:t>
            </a:r>
            <a:r>
              <a:rPr lang="en-US" sz="1800" dirty="0"/>
              <a:t>, </a:t>
            </a:r>
            <a:r>
              <a:rPr lang="en-US" sz="1800" dirty="0" err="1"/>
              <a:t>debemos</a:t>
            </a:r>
            <a:r>
              <a:rPr lang="en-US" sz="1800" dirty="0"/>
              <a:t> </a:t>
            </a:r>
            <a:r>
              <a:rPr lang="en-US" sz="1800" dirty="0" err="1"/>
              <a:t>asegurarnos</a:t>
            </a:r>
            <a:r>
              <a:rPr lang="en-US" sz="1800" dirty="0"/>
              <a:t> de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diga</a:t>
            </a:r>
            <a:r>
              <a:rPr lang="en-US" sz="1800" dirty="0"/>
              <a:t> </a:t>
            </a:r>
            <a:r>
              <a:rPr lang="en-US" sz="1800" b="1" dirty="0" err="1"/>
              <a:t>PasswordAuthentication</a:t>
            </a:r>
            <a:r>
              <a:rPr lang="en-US" sz="1800" b="1" dirty="0"/>
              <a:t> yes</a:t>
            </a:r>
          </a:p>
          <a:p>
            <a:pPr marL="0" indent="0">
              <a:buNone/>
            </a:pPr>
            <a:r>
              <a:rPr lang="en-US" sz="1800" b="1" dirty="0" err="1"/>
              <a:t>sudo</a:t>
            </a:r>
            <a:r>
              <a:rPr lang="en-US" sz="1800" b="1" dirty="0"/>
              <a:t> nano /</a:t>
            </a:r>
            <a:r>
              <a:rPr lang="en-US" sz="1800" b="1" dirty="0" err="1"/>
              <a:t>etc</a:t>
            </a:r>
            <a:r>
              <a:rPr lang="en-US" sz="1800" b="1" dirty="0"/>
              <a:t>/ssh/</a:t>
            </a:r>
            <a:r>
              <a:rPr lang="en-US" sz="1800" b="1" dirty="0" err="1"/>
              <a:t>sshd_config.d</a:t>
            </a:r>
            <a:r>
              <a:rPr lang="en-US" sz="1800" b="1" dirty="0"/>
              <a:t>/60-cloudimg-settings.conf</a:t>
            </a:r>
          </a:p>
          <a:p>
            <a:r>
              <a:rPr lang="en-US" sz="1800" dirty="0" err="1"/>
              <a:t>Reinicio</a:t>
            </a:r>
            <a:r>
              <a:rPr lang="en-US" sz="1800" dirty="0"/>
              <a:t> y </a:t>
            </a:r>
            <a:r>
              <a:rPr lang="en-US" sz="1800" dirty="0" err="1"/>
              <a:t>Aplicación</a:t>
            </a:r>
            <a:endParaRPr lang="en-US" sz="1800" dirty="0"/>
          </a:p>
          <a:p>
            <a:r>
              <a:rPr lang="en-US" sz="1800" dirty="0"/>
              <a:t>Para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reconozca</a:t>
            </a:r>
            <a:r>
              <a:rPr lang="en-US" sz="1800" dirty="0"/>
              <a:t> </a:t>
            </a:r>
            <a:r>
              <a:rPr lang="en-US" sz="1800" dirty="0" err="1"/>
              <a:t>los</a:t>
            </a:r>
            <a:r>
              <a:rPr lang="en-US" sz="1800" dirty="0"/>
              <a:t> </a:t>
            </a:r>
            <a:r>
              <a:rPr lang="en-US" sz="1800" dirty="0" err="1"/>
              <a:t>nuevos</a:t>
            </a:r>
            <a:r>
              <a:rPr lang="en-US" sz="1800" dirty="0"/>
              <a:t> </a:t>
            </a:r>
            <a:r>
              <a:rPr lang="en-US" sz="1800" dirty="0" err="1"/>
              <a:t>permisos</a:t>
            </a:r>
            <a:r>
              <a:rPr lang="en-US" sz="1800" dirty="0"/>
              <a:t> y la </a:t>
            </a:r>
            <a:r>
              <a:rPr lang="en-US" sz="1800" dirty="0" err="1"/>
              <a:t>configuración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b="1" dirty="0" err="1"/>
              <a:t>sudo</a:t>
            </a:r>
            <a:r>
              <a:rPr lang="en-US" sz="1800" b="1" dirty="0"/>
              <a:t> </a:t>
            </a:r>
            <a:r>
              <a:rPr lang="en-US" sz="1800" b="1" dirty="0" err="1"/>
              <a:t>systemctl</a:t>
            </a:r>
            <a:r>
              <a:rPr lang="en-US" sz="1800" b="1" dirty="0"/>
              <a:t> daemon-reload</a:t>
            </a:r>
          </a:p>
          <a:p>
            <a:pPr marL="0" indent="0">
              <a:buNone/>
            </a:pPr>
            <a:r>
              <a:rPr lang="en-US" sz="1800" b="1" dirty="0" err="1"/>
              <a:t>sudo</a:t>
            </a:r>
            <a:r>
              <a:rPr lang="en-US" sz="1800" b="1" dirty="0"/>
              <a:t> </a:t>
            </a:r>
            <a:r>
              <a:rPr lang="en-US" sz="1800" b="1" dirty="0" err="1"/>
              <a:t>systemctl</a:t>
            </a:r>
            <a:r>
              <a:rPr lang="en-US" sz="1800" b="1" dirty="0"/>
              <a:t> restart ssh</a:t>
            </a:r>
          </a:p>
          <a:p>
            <a:pPr marL="0" indent="0">
              <a:buNone/>
            </a:pPr>
            <a:r>
              <a:rPr lang="en-US" sz="1800" b="1" dirty="0" err="1"/>
              <a:t>sudo</a:t>
            </a:r>
            <a:r>
              <a:rPr lang="en-US" sz="1800" b="1" dirty="0"/>
              <a:t> </a:t>
            </a:r>
            <a:r>
              <a:rPr lang="en-US" sz="1800" b="1" dirty="0" err="1"/>
              <a:t>systemctl</a:t>
            </a:r>
            <a:r>
              <a:rPr lang="en-US" sz="1800" b="1" dirty="0"/>
              <a:t> restart </a:t>
            </a:r>
            <a:r>
              <a:rPr lang="en-US" sz="1800" b="1" dirty="0" err="1"/>
              <a:t>ssh.socket</a:t>
            </a:r>
            <a:endParaRPr lang="en-US" sz="1800" b="1" dirty="0"/>
          </a:p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B9D7A0-C24D-ED55-E4E3-795FB7D66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458" y="1495017"/>
            <a:ext cx="5943600" cy="260159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5FFE6E-EF7E-7C57-3E1E-B278C0F2F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788" y="3747974"/>
            <a:ext cx="3288216" cy="295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73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C0E91-5F0D-258F-9DBC-0C0662E6E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Scripts para la gestión de contenedores.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E5E294-1662-B6F4-18BA-443A16D6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768"/>
            <a:ext cx="11237686" cy="4212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dirty="0"/>
              <a:t>Como el proyecto ha ido avanzando por bloques y algunos servidores vienen con su propio archivo “</a:t>
            </a:r>
            <a:r>
              <a:rPr lang="es-ES" sz="1800" b="1" dirty="0" err="1"/>
              <a:t>docker-compose.yml</a:t>
            </a:r>
            <a:r>
              <a:rPr lang="es-ES" sz="1800" dirty="0"/>
              <a:t>”, he decidido que en vez de unirlos todos en uno solo, es mejor mantenerlos cada uno en su sitio. Para facilitar las tareas de levantar, parar y recrear, se hace uso de scripts. </a:t>
            </a:r>
            <a:r>
              <a:rPr lang="en-US" sz="1800" dirty="0"/>
              <a:t> </a:t>
            </a:r>
            <a:r>
              <a:rPr lang="es-ES" sz="1800" b="1" dirty="0"/>
              <a:t>“down_all.sh”</a:t>
            </a:r>
            <a:r>
              <a:rPr lang="en-US" sz="1800" dirty="0"/>
              <a:t> </a:t>
            </a:r>
            <a:r>
              <a:rPr lang="es-ES" sz="1800" b="1" dirty="0"/>
              <a:t>“rebuild.sh”</a:t>
            </a:r>
            <a:r>
              <a:rPr lang="en-US" sz="1800" dirty="0"/>
              <a:t> </a:t>
            </a:r>
            <a:r>
              <a:rPr lang="es-ES" sz="1800" b="1" dirty="0"/>
              <a:t>“up_all.sh”</a:t>
            </a:r>
            <a:r>
              <a:rPr lang="en-US" sz="1800" b="1" dirty="0"/>
              <a:t>. </a:t>
            </a:r>
            <a:r>
              <a:rPr lang="es-ES" sz="1800" dirty="0"/>
              <a:t>A cada uno se le ha dado permisos de ejecución:</a:t>
            </a:r>
            <a:r>
              <a:rPr lang="en-US" sz="1800" dirty="0"/>
              <a:t> </a:t>
            </a:r>
            <a:r>
              <a:rPr lang="es-ES" sz="1800" b="1" dirty="0" err="1"/>
              <a:t>chmod</a:t>
            </a:r>
            <a:r>
              <a:rPr lang="es-ES" sz="1800" b="1" dirty="0"/>
              <a:t> +x “script”</a:t>
            </a:r>
            <a:endParaRPr lang="en-US" sz="1800" dirty="0"/>
          </a:p>
          <a:p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D55993-8375-AD36-25C1-5535E2152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63885"/>
            <a:ext cx="10954657" cy="419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53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2169</Words>
  <Application>Microsoft Office PowerPoint</Application>
  <PresentationFormat>Panorámica</PresentationFormat>
  <Paragraphs>180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Wingdings</vt:lpstr>
      <vt:lpstr>Tema de Office</vt:lpstr>
      <vt:lpstr>Presentación de PowerPoint</vt:lpstr>
      <vt:lpstr>Infraestructura (AWS y Docker)</vt:lpstr>
      <vt:lpstr>AWS: Puertos</vt:lpstr>
      <vt:lpstr>Primer Bloque – Streaming (Jellyfin, Owncast, recorder)</vt:lpstr>
      <vt:lpstr>Jellyfin</vt:lpstr>
      <vt:lpstr>Owncast</vt:lpstr>
      <vt:lpstr>recorder</vt:lpstr>
      <vt:lpstr>Segundo Bloque: Videoconferencias (Jitsi Meet)</vt:lpstr>
      <vt:lpstr>Jitsi: configuración de archivos (I)</vt:lpstr>
      <vt:lpstr>Jitsi: configuración de archivos (II)</vt:lpstr>
      <vt:lpstr>Jitsi: configuración de archivos (III)</vt:lpstr>
      <vt:lpstr>Jitsi: configuración de archivos (IV)</vt:lpstr>
      <vt:lpstr>Jitsi: configuración de archivos (V)</vt:lpstr>
      <vt:lpstr>Jitsi: gestión de usuarios </vt:lpstr>
      <vt:lpstr>Jitsi Meets: Levantar contenedores</vt:lpstr>
      <vt:lpstr>Tercer bloque: Nginx Proxy Manager</vt:lpstr>
      <vt:lpstr>NPM: Configurando Hosts (I)</vt:lpstr>
      <vt:lpstr>NPM: Configurando Hosts (II)</vt:lpstr>
      <vt:lpstr>NPM: Configurando Hosts (III)</vt:lpstr>
      <vt:lpstr>Gestión de contenido multimedia (Becario)</vt:lpstr>
      <vt:lpstr>Gestión de contenido multimedia (Becario)</vt:lpstr>
      <vt:lpstr>Gestión de contenido multimedia (Becario)</vt:lpstr>
      <vt:lpstr>Scripts para la gestión de contenedores.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Cristóbal Suárez Abad</cp:lastModifiedBy>
  <cp:revision>28</cp:revision>
  <dcterms:created xsi:type="dcterms:W3CDTF">2026-03-08T08:41:32Z</dcterms:created>
  <dcterms:modified xsi:type="dcterms:W3CDTF">2026-03-08T13:51:52Z</dcterms:modified>
</cp:coreProperties>
</file>