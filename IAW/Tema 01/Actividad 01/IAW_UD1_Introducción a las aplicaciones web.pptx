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PT Sans Narrow"/>
      <p:regular r:id="rId24"/>
      <p:bold r:id="rId25"/>
    </p:embeddedFont>
    <p:embeddedFont>
      <p:font typeface="Corbel"/>
      <p:regular r:id="rId26"/>
      <p:bold r:id="rId27"/>
      <p:italic r:id="rId28"/>
      <p:boldItalic r:id="rId29"/>
    </p:embeddedFont>
    <p:embeddedFont>
      <p:font typeface="Open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TSansNarrow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orbel-regular.fntdata"/><Relationship Id="rId25" Type="http://schemas.openxmlformats.org/officeDocument/2006/relationships/font" Target="fonts/PTSansNarrow-bold.fntdata"/><Relationship Id="rId28" Type="http://schemas.openxmlformats.org/officeDocument/2006/relationships/font" Target="fonts/Corbel-italic.fntdata"/><Relationship Id="rId27" Type="http://schemas.openxmlformats.org/officeDocument/2006/relationships/font" Target="fonts/Corbel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Corbel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bold.fntdata"/><Relationship Id="rId30" Type="http://schemas.openxmlformats.org/officeDocument/2006/relationships/font" Target="fonts/OpenSans-regular.fntdata"/><Relationship Id="rId11" Type="http://schemas.openxmlformats.org/officeDocument/2006/relationships/slide" Target="slides/slide6.xml"/><Relationship Id="rId33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32" Type="http://schemas.openxmlformats.org/officeDocument/2006/relationships/font" Target="fonts/Open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6165db8833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6165db8833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edc4ce39e2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edc4ce39e2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6165db8833_0_9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6165db8833_0_9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edc4ce39e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edc4ce39e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edc4ce39e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edc4ce39e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edc4ce39e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edc4ce39e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edc4ce39e2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edc4ce39e2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edc4ce39e2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edc4ce39e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edc4ce39e2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edc4ce39e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edc4ce39e2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edc4ce39e2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edc4ce39e2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edc4ce39e2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edc4ce39e2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edc4ce39e2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edc4ce39e2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edc4ce39e2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edc4ce39e2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edc4ce39e2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edc4ce39e2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edc4ce39e2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edc4ce39e2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edc4ce39e2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edc4ce39e2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edc4ce39e2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www.youtube.com/watch?v=3MMMcx2tCCs" TargetMode="External"/><Relationship Id="rId4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ingenieriadesoftware.es/diferencia-compilador-interprete-transpilador/" TargetMode="External"/><Relationship Id="rId4" Type="http://schemas.openxmlformats.org/officeDocument/2006/relationships/hyperlink" Target="https://ingenieriadesoftware.es/diferencia-compilador-interprete-transpilador/" TargetMode="External"/><Relationship Id="rId5" Type="http://schemas.openxmlformats.org/officeDocument/2006/relationships/hyperlink" Target="https://ingenieriadesoftware.es/diferencia-compilador-interprete-transpilador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8279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UD1. Introducción a las aplicaciones web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IAW - 2º ASIR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s"/>
              <a:t>Diferencia entre aplicación web y de escritorio.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★"/>
            </a:pPr>
            <a:r>
              <a:rPr lang="es"/>
              <a:t>Funcionamiento de las aplicaciones web.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★"/>
            </a:pPr>
            <a:r>
              <a:rPr lang="es"/>
              <a:t>Generaciones de aplicaciones web.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★"/>
            </a:pPr>
            <a:r>
              <a:rPr lang="es"/>
              <a:t>Arquitectura de una aplicación web.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★"/>
            </a:pPr>
            <a:r>
              <a:rPr lang="es"/>
              <a:t>Tecnologías usadas en las aplicaciones web del lado del cliente y del servidor.</a:t>
            </a:r>
            <a:endParaRPr/>
          </a:p>
        </p:txBody>
      </p:sp>
      <p:sp>
        <p:nvSpPr>
          <p:cNvPr id="73" name="Google Shape;73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Objetivos de la unidad</a:t>
            </a:r>
            <a:endParaRPr/>
          </a:p>
        </p:txBody>
      </p:sp>
      <p:sp>
        <p:nvSpPr>
          <p:cNvPr id="74" name="Google Shape;7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Índice de contenidos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s"/>
              <a:t>Conceptos generales en aplicaciones web.</a:t>
            </a:r>
            <a:endParaRPr b="1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b="1" lang="es"/>
              <a:t>Generaciones de aplicaciones web.</a:t>
            </a:r>
            <a:endParaRPr b="1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b="1" lang="es"/>
              <a:t>Funcionamiento de las aplicaciones web.</a:t>
            </a:r>
            <a:endParaRPr b="1"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AutoNum type="arabicPeriod"/>
            </a:pPr>
            <a:r>
              <a:rPr b="1" lang="es"/>
              <a:t>Creación de aplicaciones web.</a:t>
            </a:r>
            <a:endParaRPr b="1"/>
          </a:p>
        </p:txBody>
      </p:sp>
      <p:sp>
        <p:nvSpPr>
          <p:cNvPr id="81" name="Google Shape;8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64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/>
              <a:t>1. </a:t>
            </a:r>
            <a:r>
              <a:rPr lang="es" sz="3400"/>
              <a:t>Conceptos generales en aplicaciones web</a:t>
            </a:r>
            <a:endParaRPr sz="3400"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7329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¿Qué es una aplicación web?</a:t>
            </a:r>
            <a:endParaRPr b="1" sz="22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Se trata de una aplicación creada para ser ejecutada en un navegador.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Normalmente una aplicación web es menos potente que una aplicación de escritorio al no poder optimizar su código para la máquina que se está ejecutando.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Depende de la habilidad y potencia del navegador.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1600"/>
              </a:spcAft>
              <a:buSzPts val="1400"/>
              <a:buChar char="●"/>
            </a:pPr>
            <a:r>
              <a:rPr lang="es" sz="1400"/>
              <a:t>Las aplicaciones web se suelen crear en HTML y sus tecnologías asociadas como CSS, Javascript, PHP, etc...</a:t>
            </a:r>
            <a:endParaRPr sz="1400"/>
          </a:p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0675" y="3453100"/>
            <a:ext cx="3165225" cy="135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311700" y="64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/>
              <a:t>1. Conceptos generales en aplicaciones web</a:t>
            </a:r>
            <a:endParaRPr sz="3400"/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311700" y="732925"/>
            <a:ext cx="8520600" cy="40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Ventajas de las aplicación web</a:t>
            </a:r>
            <a:endParaRPr b="1" sz="22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6AA84F"/>
              </a:buClr>
              <a:buSzPts val="1400"/>
              <a:buChar char="✓"/>
            </a:pPr>
            <a:r>
              <a:rPr lang="es" sz="1400"/>
              <a:t>Gran compatibilidad.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rgbClr val="6AA84F"/>
              </a:buClr>
              <a:buSzPts val="1400"/>
              <a:buChar char="✓"/>
            </a:pPr>
            <a:r>
              <a:rPr lang="es" sz="1400"/>
              <a:t>Requerimientos “mínimos” en el cliente.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rgbClr val="6AA84F"/>
              </a:buClr>
              <a:buSzPts val="1400"/>
              <a:buChar char="✓"/>
            </a:pPr>
            <a:r>
              <a:rPr lang="es" sz="1400"/>
              <a:t>Fáciles de manejar por el usuario.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rgbClr val="6AA84F"/>
              </a:buClr>
              <a:buSzPts val="1400"/>
              <a:buChar char="✓"/>
            </a:pPr>
            <a:r>
              <a:rPr lang="es" sz="1400"/>
              <a:t>Facilidad de mantenimiento.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rgbClr val="6AA84F"/>
              </a:buClr>
              <a:buSzPts val="1400"/>
              <a:buChar char="✓"/>
            </a:pPr>
            <a:r>
              <a:rPr lang="es" sz="1400"/>
              <a:t>Datos centralizados.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rgbClr val="6AA84F"/>
              </a:buClr>
              <a:buSzPts val="1400"/>
              <a:buChar char="✓"/>
            </a:pPr>
            <a:r>
              <a:rPr lang="es" sz="1400"/>
              <a:t>No es necesario instalarla en el dispositivo.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rgbClr val="6AA84F"/>
              </a:buClr>
              <a:buSzPts val="1400"/>
              <a:buChar char="✓"/>
            </a:pPr>
            <a:r>
              <a:rPr lang="es" sz="1400"/>
              <a:t>Muy accesibles.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1600"/>
              </a:spcAft>
              <a:buClr>
                <a:srgbClr val="6AA84F"/>
              </a:buClr>
              <a:buSzPts val="1400"/>
              <a:buChar char="✓"/>
            </a:pPr>
            <a:r>
              <a:rPr lang="es" sz="1400"/>
              <a:t>Se permite el uso de pc o clientes ligeros para su utilización.</a:t>
            </a:r>
            <a:endParaRPr sz="1400"/>
          </a:p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7800" y="1729900"/>
            <a:ext cx="1842725" cy="193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311700" y="64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/>
              <a:t>1. Conceptos generales en aplicaciones web</a:t>
            </a:r>
            <a:endParaRPr sz="3400"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311700" y="732925"/>
            <a:ext cx="5066400" cy="40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Desventajas de una aplicación web</a:t>
            </a:r>
            <a:endParaRPr b="1" sz="22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1400"/>
              <a:buChar char="✖"/>
            </a:pPr>
            <a:r>
              <a:rPr lang="es" sz="1400"/>
              <a:t>Menos potentes que las aplicaciones de escritorio.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rgbClr val="FF0000"/>
              </a:buClr>
              <a:buSzPts val="1400"/>
              <a:buChar char="✖"/>
            </a:pPr>
            <a:r>
              <a:rPr lang="es" sz="1400"/>
              <a:t>Aprovechan peor el hardware.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rgbClr val="FF0000"/>
              </a:buClr>
              <a:buSzPts val="1400"/>
              <a:buChar char="✖"/>
            </a:pPr>
            <a:r>
              <a:rPr lang="es" sz="1400"/>
              <a:t>Se requiere conectividad.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rgbClr val="FF0000"/>
              </a:buClr>
              <a:buSzPts val="1400"/>
              <a:buChar char="✖"/>
            </a:pPr>
            <a:r>
              <a:rPr lang="es" sz="1400"/>
              <a:t>Las aplicaciones web son más difíciles de implementar y depurar.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1600"/>
              </a:spcAft>
              <a:buClr>
                <a:srgbClr val="FF0000"/>
              </a:buClr>
              <a:buSzPts val="1400"/>
              <a:buChar char="✖"/>
            </a:pPr>
            <a:r>
              <a:rPr lang="es" sz="1400"/>
              <a:t>Delegación del control de nuestra información.</a:t>
            </a:r>
            <a:endParaRPr sz="1400"/>
          </a:p>
        </p:txBody>
      </p:sp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05" name="Google Shape;10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5025" y="1608175"/>
            <a:ext cx="1820725" cy="163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311700" y="64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/>
              <a:t>2</a:t>
            </a:r>
            <a:r>
              <a:rPr lang="es" sz="3400"/>
              <a:t>. Generaciones de aplicaciones web</a:t>
            </a:r>
            <a:endParaRPr sz="3400"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311700" y="732925"/>
            <a:ext cx="8520600" cy="40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La </a:t>
            </a:r>
            <a:r>
              <a:rPr b="1" i="1" lang="es" sz="1600"/>
              <a:t>Web 1.0</a:t>
            </a:r>
            <a:r>
              <a:rPr lang="es" sz="1600"/>
              <a:t> es la original, el principio, el primer contacto que existen con las páginas web. En ellas básicamente nos limitamos a </a:t>
            </a:r>
            <a:r>
              <a:rPr b="1" i="1" lang="es" sz="1600"/>
              <a:t>consumir contenido sin más</a:t>
            </a:r>
            <a:r>
              <a:rPr lang="es" sz="1600"/>
              <a:t> actualización o interacción.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La </a:t>
            </a:r>
            <a:r>
              <a:rPr b="1" i="1" lang="es" sz="1600"/>
              <a:t>Web 2.0</a:t>
            </a:r>
            <a:r>
              <a:rPr lang="es" sz="1600"/>
              <a:t> fue la primera gran evolución. La conocida </a:t>
            </a:r>
            <a:r>
              <a:rPr b="1" i="1" lang="es" sz="1600"/>
              <a:t>web social</a:t>
            </a:r>
            <a:r>
              <a:rPr lang="es" sz="1600"/>
              <a:t> nos ha permitido intercambiar información entre usuarios a través de blogs o las populares redes sociales que hoy usan millones de usuarios en todo el mundo.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1600"/>
              </a:spcAft>
              <a:buSzPts val="1600"/>
              <a:buChar char="●"/>
            </a:pPr>
            <a:r>
              <a:rPr lang="es" sz="1600"/>
              <a:t>La </a:t>
            </a:r>
            <a:r>
              <a:rPr b="1" i="1" lang="es" sz="1600"/>
              <a:t>Web 3.0 (web semántica)</a:t>
            </a:r>
            <a:r>
              <a:rPr lang="es" sz="1600"/>
              <a:t> es un salto diferencial en la forma en que accedemos a la información. Los </a:t>
            </a:r>
            <a:r>
              <a:rPr b="1" i="1" lang="es" sz="1600"/>
              <a:t>buscadores</a:t>
            </a:r>
            <a:r>
              <a:rPr lang="es" sz="1600"/>
              <a:t> son clave pero no por sus mejores algoritmos, mayor indexación de información u otros extras, sino porque obtenemos </a:t>
            </a:r>
            <a:r>
              <a:rPr b="1" i="1" lang="es" sz="1600"/>
              <a:t>información más personalizada</a:t>
            </a:r>
            <a:r>
              <a:rPr lang="es" sz="1600"/>
              <a:t>, descartando información que para cada uno de nosotros será irrelevante.</a:t>
            </a:r>
            <a:endParaRPr sz="1600"/>
          </a:p>
        </p:txBody>
      </p:sp>
      <p:sp>
        <p:nvSpPr>
          <p:cNvPr id="112" name="Google Shape;11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311700" y="64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/>
              <a:t>2. Generaciones de aplicaciones web</a:t>
            </a:r>
            <a:endParaRPr sz="3400"/>
          </a:p>
        </p:txBody>
      </p:sp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311700" y="732925"/>
            <a:ext cx="8520600" cy="40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1600"/>
              </a:spcAft>
              <a:buSzPts val="1600"/>
              <a:buChar char="●"/>
            </a:pPr>
            <a:r>
              <a:rPr lang="es" sz="1600"/>
              <a:t>La </a:t>
            </a:r>
            <a:r>
              <a:rPr b="1" i="1" lang="es" sz="1600"/>
              <a:t>Web 4.0</a:t>
            </a:r>
            <a:r>
              <a:rPr lang="es" sz="1600"/>
              <a:t> es el próximo gran avance y se centrará en ofrecer un </a:t>
            </a:r>
            <a:r>
              <a:rPr b="1" i="1" lang="es" sz="1600"/>
              <a:t>comportamiento más inteligente</a:t>
            </a:r>
            <a:r>
              <a:rPr lang="es" sz="1600"/>
              <a:t>, más predictivo, de modo que podamos con sólo realizar una afirmación poner en marcha un conjunto de acciones que tendrán como resultando aquello que pedimos o decimos.</a:t>
            </a:r>
            <a:endParaRPr sz="1600"/>
          </a:p>
        </p:txBody>
      </p:sp>
      <p:sp>
        <p:nvSpPr>
          <p:cNvPr id="119" name="Google Shape;11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descr="Tipos de Web : 1.0, 2.0, 3.0 y 4.0" id="120" name="Google Shape;120;p20" title="Tipos de Web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2225" y="2198050"/>
            <a:ext cx="3546250" cy="26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311700" y="64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/>
              <a:t>3</a:t>
            </a:r>
            <a:r>
              <a:rPr lang="es" sz="3400"/>
              <a:t>. Funcionamiento de las aplicaciones web</a:t>
            </a:r>
            <a:endParaRPr sz="3400"/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311700" y="732925"/>
            <a:ext cx="8520600" cy="40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Dos estrategias diferentes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b="1" i="1" lang="es" sz="1600"/>
              <a:t>LADO CLIENTE (FRONT-END)</a:t>
            </a:r>
            <a:r>
              <a:rPr lang="es" sz="1600"/>
              <a:t>: Son elementos que se incorporan al código HTML de una aplicación web (como CSS y Javascript) y deben ser </a:t>
            </a:r>
            <a:r>
              <a:rPr lang="es" sz="1600"/>
              <a:t>interpretados</a:t>
            </a:r>
            <a:r>
              <a:rPr lang="es" sz="1600"/>
              <a:t> por el navegador.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1600"/>
              </a:spcAft>
              <a:buSzPts val="1600"/>
              <a:buChar char="●"/>
            </a:pPr>
            <a:r>
              <a:rPr b="1" i="1" lang="es" sz="1600"/>
              <a:t>LADO SERVIDOR (BACK-END)</a:t>
            </a:r>
            <a:r>
              <a:rPr lang="es" sz="1600"/>
              <a:t>: Son aplicaciones que se alojan y se ejecutan en el servidor, empleando otros lenguajes de programación y no estando condicionados por los navegadores. </a:t>
            </a:r>
            <a:endParaRPr sz="1600"/>
          </a:p>
        </p:txBody>
      </p:sp>
      <p:sp>
        <p:nvSpPr>
          <p:cNvPr id="127" name="Google Shape;12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28" name="Google Shape;128;p21"/>
          <p:cNvSpPr txBox="1"/>
          <p:nvPr/>
        </p:nvSpPr>
        <p:spPr>
          <a:xfrm>
            <a:off x="1751125" y="3546225"/>
            <a:ext cx="5612400" cy="43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u="sng">
                <a:solidFill>
                  <a:srgbClr val="4A86E8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Diferencia </a:t>
            </a:r>
            <a:r>
              <a:rPr b="1" i="1" lang="es" sz="1600" u="sng">
                <a:solidFill>
                  <a:srgbClr val="4A86E8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entre</a:t>
            </a:r>
            <a:r>
              <a:rPr b="1" i="1" lang="es" u="sng">
                <a:solidFill>
                  <a:srgbClr val="4A86E8"/>
                </a:solid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interpretar y compilar</a:t>
            </a:r>
            <a:endParaRPr b="1" i="1">
              <a:solidFill>
                <a:srgbClr val="4A86E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/>
          <p:nvPr>
            <p:ph type="title"/>
          </p:nvPr>
        </p:nvSpPr>
        <p:spPr>
          <a:xfrm>
            <a:off x="311700" y="64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/>
              <a:t>3. Funcionamiento de las aplicaciones web</a:t>
            </a:r>
            <a:endParaRPr sz="3400"/>
          </a:p>
        </p:txBody>
      </p:sp>
      <p:sp>
        <p:nvSpPr>
          <p:cNvPr id="134" name="Google Shape;134;p22"/>
          <p:cNvSpPr txBox="1"/>
          <p:nvPr>
            <p:ph idx="1" type="body"/>
          </p:nvPr>
        </p:nvSpPr>
        <p:spPr>
          <a:xfrm>
            <a:off x="311700" y="732925"/>
            <a:ext cx="8520600" cy="40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Funcionamiento en el lado cliente</a:t>
            </a:r>
            <a:endParaRPr sz="16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i="1" sz="16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i="1"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i="1"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b="1" i="1" lang="es" sz="1600"/>
              <a:t>HTML. </a:t>
            </a:r>
            <a:r>
              <a:rPr lang="es" sz="1600"/>
              <a:t>Lenguaje base para las páginas devueltas por un servidor web ante una petición HTTP.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b="1" i="1" lang="es" sz="1600"/>
              <a:t>CSS. </a:t>
            </a:r>
            <a:r>
              <a:rPr lang="es" sz="1600"/>
              <a:t>Complemento del lenguaje HTML para dotar de estilos a las páginas web.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1600"/>
              </a:spcAft>
              <a:buSzPts val="1600"/>
              <a:buChar char="●"/>
            </a:pPr>
            <a:r>
              <a:rPr b="1" i="1" lang="es" sz="1600"/>
              <a:t>JavaScript.</a:t>
            </a:r>
            <a:r>
              <a:rPr lang="es" sz="1600"/>
              <a:t> Aporta interactividad a las páginas web. Cada vez hay más módulos que amplían la potencia y funcionalidad de las mismas.</a:t>
            </a:r>
            <a:endParaRPr sz="1600"/>
          </a:p>
        </p:txBody>
      </p:sp>
      <p:sp>
        <p:nvSpPr>
          <p:cNvPr id="135" name="Google Shape;13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36" name="Google Shape;1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3975" y="1404200"/>
            <a:ext cx="3416425" cy="102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7850" y="896425"/>
            <a:ext cx="3981874" cy="163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311700" y="64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/>
              <a:t>3. Funcionamiento de las aplicaciones web</a:t>
            </a:r>
            <a:endParaRPr sz="3400"/>
          </a:p>
        </p:txBody>
      </p:sp>
      <p:sp>
        <p:nvSpPr>
          <p:cNvPr id="143" name="Google Shape;143;p23"/>
          <p:cNvSpPr txBox="1"/>
          <p:nvPr>
            <p:ph idx="1" type="body"/>
          </p:nvPr>
        </p:nvSpPr>
        <p:spPr>
          <a:xfrm>
            <a:off x="311700" y="732925"/>
            <a:ext cx="8520600" cy="40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Funcionamiento en el lado servidor</a:t>
            </a:r>
            <a:endParaRPr sz="16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i="1" sz="16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i="1"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i="1" sz="16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1600"/>
              </a:spcAft>
              <a:buSzPts val="1600"/>
              <a:buChar char="●"/>
            </a:pPr>
            <a:r>
              <a:rPr lang="es" sz="1600"/>
              <a:t>Cuando un usuario realiza una </a:t>
            </a:r>
            <a:r>
              <a:rPr b="1" i="1" lang="es" sz="1600"/>
              <a:t>petición</a:t>
            </a:r>
            <a:r>
              <a:rPr lang="es" sz="1600"/>
              <a:t> a un recurso web, el servidor entiende que tiene elementos a </a:t>
            </a:r>
            <a:r>
              <a:rPr b="1" i="1" lang="es" sz="1600"/>
              <a:t>interpretar</a:t>
            </a:r>
            <a:r>
              <a:rPr lang="es" sz="1600"/>
              <a:t> en el lado del servidor y solicita al servidor de aplicaciones su ejecución para posteriormente enviar los </a:t>
            </a:r>
            <a:r>
              <a:rPr b="1" i="1" lang="es" sz="1600"/>
              <a:t>resultados</a:t>
            </a:r>
            <a:r>
              <a:rPr lang="es" sz="1600"/>
              <a:t> al cliente en forma  documento HTML.</a:t>
            </a:r>
            <a:endParaRPr sz="1600"/>
          </a:p>
        </p:txBody>
      </p:sp>
      <p:sp>
        <p:nvSpPr>
          <p:cNvPr id="144" name="Google Shape;14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45" name="Google Shape;14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49" y="1260226"/>
            <a:ext cx="3858702" cy="741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5663" y="1260226"/>
            <a:ext cx="1504340" cy="1033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24151" y="1884776"/>
            <a:ext cx="1702073" cy="978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80309" y="2490391"/>
            <a:ext cx="3275763" cy="1048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7382" y="2571741"/>
            <a:ext cx="2146536" cy="1006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3"/>
          <p:cNvSpPr/>
          <p:nvPr/>
        </p:nvSpPr>
        <p:spPr>
          <a:xfrm rot="10800000">
            <a:off x="2840037" y="2941127"/>
            <a:ext cx="479700" cy="26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1AEBD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51" name="Google Shape;151;p23"/>
          <p:cNvSpPr/>
          <p:nvPr/>
        </p:nvSpPr>
        <p:spPr>
          <a:xfrm rot="2497655">
            <a:off x="6665796" y="1608729"/>
            <a:ext cx="479613" cy="267323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1AEBD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52" name="Google Shape;152;p23"/>
          <p:cNvSpPr/>
          <p:nvPr/>
        </p:nvSpPr>
        <p:spPr>
          <a:xfrm>
            <a:off x="4386117" y="1617468"/>
            <a:ext cx="479700" cy="26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1AEBD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53" name="Google Shape;153;p23"/>
          <p:cNvSpPr/>
          <p:nvPr/>
        </p:nvSpPr>
        <p:spPr>
          <a:xfrm rot="8559881">
            <a:off x="6800191" y="2718293"/>
            <a:ext cx="435794" cy="29698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1AEBD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type="title"/>
          </p:nvPr>
        </p:nvSpPr>
        <p:spPr>
          <a:xfrm>
            <a:off x="311700" y="64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/>
              <a:t>4</a:t>
            </a:r>
            <a:r>
              <a:rPr lang="es" sz="3400"/>
              <a:t>. Creación de una aplicación web</a:t>
            </a:r>
            <a:endParaRPr sz="3400"/>
          </a:p>
        </p:txBody>
      </p:sp>
      <p:sp>
        <p:nvSpPr>
          <p:cNvPr id="159" name="Google Shape;159;p24"/>
          <p:cNvSpPr txBox="1"/>
          <p:nvPr>
            <p:ph idx="1" type="body"/>
          </p:nvPr>
        </p:nvSpPr>
        <p:spPr>
          <a:xfrm>
            <a:off x="311700" y="732925"/>
            <a:ext cx="8520600" cy="40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Servidor web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Es un software capaz de interpretar las </a:t>
            </a:r>
            <a:r>
              <a:rPr b="1" i="1" lang="es" sz="1600"/>
              <a:t>peticiones</a:t>
            </a:r>
            <a:r>
              <a:rPr lang="es" sz="1600"/>
              <a:t> web realizadas con el protocolo </a:t>
            </a:r>
            <a:r>
              <a:rPr b="1" lang="es" sz="1600"/>
              <a:t>HTTP/HTTPS</a:t>
            </a:r>
            <a:r>
              <a:rPr lang="es" sz="1600"/>
              <a:t> y devolver el </a:t>
            </a:r>
            <a:r>
              <a:rPr b="1" i="1" lang="es" sz="1600"/>
              <a:t>resultado</a:t>
            </a:r>
            <a:r>
              <a:rPr lang="es" sz="1600"/>
              <a:t> de la petición. Normalmente es el navegador el que pide al servidor web el recurso que desea el usuario. La mayoría de las respuestas a estas peticiones son páginas en HTML.</a:t>
            </a:r>
            <a:endParaRPr sz="16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1600"/>
              </a:spcAft>
              <a:buSzPts val="1600"/>
              <a:buChar char="●"/>
            </a:pPr>
            <a:r>
              <a:rPr lang="es" sz="1600"/>
              <a:t>El servidor web </a:t>
            </a:r>
            <a:r>
              <a:rPr b="1" i="1" lang="es" sz="1600"/>
              <a:t>no</a:t>
            </a:r>
            <a:r>
              <a:rPr lang="es" sz="1600"/>
              <a:t> se molesta en </a:t>
            </a:r>
            <a:r>
              <a:rPr b="1" i="1" lang="es" sz="1600"/>
              <a:t>descifrar</a:t>
            </a:r>
            <a:r>
              <a:rPr lang="es" sz="1600"/>
              <a:t> el código de los documentos que entregan. Esta tarea la dejan en manos del </a:t>
            </a:r>
            <a:r>
              <a:rPr b="1" i="1" lang="es" sz="1600"/>
              <a:t>cliente</a:t>
            </a:r>
            <a:r>
              <a:rPr lang="es" sz="1600"/>
              <a:t> que hizo la petición, es decir, la realiza el propio navegador.</a:t>
            </a:r>
            <a:r>
              <a:rPr b="1" i="1" lang="es" sz="1600"/>
              <a:t> </a:t>
            </a:r>
            <a:r>
              <a:rPr lang="es" sz="1600"/>
              <a:t> </a:t>
            </a:r>
            <a:endParaRPr sz="1600"/>
          </a:p>
        </p:txBody>
      </p:sp>
      <p:sp>
        <p:nvSpPr>
          <p:cNvPr id="160" name="Google Shape;16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61" name="Google Shape;16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1350" y="2571752"/>
            <a:ext cx="4766819" cy="14348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type="title"/>
          </p:nvPr>
        </p:nvSpPr>
        <p:spPr>
          <a:xfrm>
            <a:off x="311700" y="64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/>
              <a:t>4. Creación de una aplicación web</a:t>
            </a:r>
            <a:endParaRPr sz="3400"/>
          </a:p>
        </p:txBody>
      </p:sp>
      <p:sp>
        <p:nvSpPr>
          <p:cNvPr id="167" name="Google Shape;167;p25"/>
          <p:cNvSpPr txBox="1"/>
          <p:nvPr>
            <p:ph idx="1" type="body"/>
          </p:nvPr>
        </p:nvSpPr>
        <p:spPr>
          <a:xfrm>
            <a:off x="311700" y="732925"/>
            <a:ext cx="8520600" cy="40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Servidor de </a:t>
            </a:r>
            <a:r>
              <a:rPr b="1" lang="es" sz="22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aplicaciones</a:t>
            </a:r>
            <a:r>
              <a:rPr b="1" lang="es" sz="22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web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El servidor de aplicaciones es el encargado de </a:t>
            </a:r>
            <a:r>
              <a:rPr b="1" i="1" lang="es" sz="1600"/>
              <a:t>traducir</a:t>
            </a:r>
            <a:r>
              <a:rPr lang="es" sz="1600"/>
              <a:t> las instrucciones hechas por el </a:t>
            </a:r>
            <a:r>
              <a:rPr b="1" i="1" lang="es" sz="1600"/>
              <a:t>lenguaje del lado del servidor</a:t>
            </a:r>
            <a:r>
              <a:rPr lang="es" sz="1600"/>
              <a:t> y entregar el </a:t>
            </a:r>
            <a:r>
              <a:rPr b="1" i="1" lang="es" sz="1600"/>
              <a:t>resultado</a:t>
            </a:r>
            <a:r>
              <a:rPr lang="es" sz="1600"/>
              <a:t> de la misma al servidor web que hizo la solicitud. Además este código puede contener instrucciones que impliquen a un </a:t>
            </a:r>
            <a:r>
              <a:rPr b="1" i="1" lang="es" sz="1600"/>
              <a:t>tercero</a:t>
            </a:r>
            <a:r>
              <a:rPr lang="es" sz="1600"/>
              <a:t> (por ejemplo un servidor de BBDD). 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1600"/>
              </a:spcAft>
              <a:buSzPts val="1600"/>
              <a:buChar char="●"/>
            </a:pPr>
            <a:r>
              <a:rPr lang="es" sz="1600"/>
              <a:t>En la práctica los servidores de aplicaciones son simplemente unos </a:t>
            </a:r>
            <a:r>
              <a:rPr b="1" i="1" lang="es" sz="1600"/>
              <a:t>módulos de software</a:t>
            </a:r>
            <a:r>
              <a:rPr lang="es" sz="1600"/>
              <a:t> </a:t>
            </a:r>
            <a:r>
              <a:rPr b="1" i="1" lang="es" sz="1600"/>
              <a:t>que se añaden al servidor web</a:t>
            </a:r>
            <a:r>
              <a:rPr lang="es" sz="1600"/>
              <a:t>. Dependiendo de la tecnología de servidor utilizada, tendremos servidores de tipo PHP, .Net, Java, etc.</a:t>
            </a:r>
            <a:endParaRPr sz="1600"/>
          </a:p>
        </p:txBody>
      </p:sp>
      <p:sp>
        <p:nvSpPr>
          <p:cNvPr id="168" name="Google Shape;16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69" name="Google Shape;16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5275" y="3634525"/>
            <a:ext cx="2097566" cy="120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>
            <p:ph type="title"/>
          </p:nvPr>
        </p:nvSpPr>
        <p:spPr>
          <a:xfrm>
            <a:off x="311700" y="64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/>
              <a:t>4. Creación de una aplicación web</a:t>
            </a:r>
            <a:endParaRPr sz="3400"/>
          </a:p>
        </p:txBody>
      </p:sp>
      <p:sp>
        <p:nvSpPr>
          <p:cNvPr id="175" name="Google Shape;175;p26"/>
          <p:cNvSpPr txBox="1"/>
          <p:nvPr>
            <p:ph idx="1" type="body"/>
          </p:nvPr>
        </p:nvSpPr>
        <p:spPr>
          <a:xfrm>
            <a:off x="311700" y="732925"/>
            <a:ext cx="8520600" cy="40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Arquitectura de tres capas</a:t>
            </a:r>
            <a:endParaRPr sz="16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b="1" i="1" lang="es" sz="1400"/>
              <a:t>CAPA DE PRESENTACIÓN</a:t>
            </a:r>
            <a:r>
              <a:rPr lang="es" sz="1400"/>
              <a:t>. Se encarga de manejar, formatear y presentar la información al usuario. Consta del código de programación del lado del cliente (HTML, JavaScript, CSS, etc…)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b="1" i="1" lang="es" sz="1400"/>
              <a:t>CAPA LÓGICA</a:t>
            </a:r>
            <a:r>
              <a:rPr lang="es" sz="1400"/>
              <a:t>. Contiene los documentos escritos en el lenguaje que debe interpretarse en el lado del servidor y cuyo resultado se enviará al servidor web.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1600"/>
              </a:spcAft>
              <a:buSzPts val="1400"/>
              <a:buChar char="●"/>
            </a:pPr>
            <a:r>
              <a:rPr b="1" i="1" lang="es" sz="1400"/>
              <a:t>CAPA DE NEGOCIO</a:t>
            </a:r>
            <a:r>
              <a:rPr lang="es" sz="1400"/>
              <a:t>. Es la que contiene la información y debe protegerla de accesos no autorizados. En esta capa fundamentalmente se encuentra el SGBD. El servidor de aplicaciones realiza peticiones al SGBD para responder a las necesidades solicitadas por el usuario en su petición, pero desde la capa de presentación no se pueden acceder a esos recursos de datos.</a:t>
            </a:r>
            <a:endParaRPr sz="1400"/>
          </a:p>
        </p:txBody>
      </p:sp>
      <p:sp>
        <p:nvSpPr>
          <p:cNvPr id="176" name="Google Shape;17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77" name="Google Shape;17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6500" y="3945900"/>
            <a:ext cx="4754450" cy="111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/>
          <p:nvPr>
            <p:ph type="title"/>
          </p:nvPr>
        </p:nvSpPr>
        <p:spPr>
          <a:xfrm>
            <a:off x="311700" y="64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/>
              <a:t>4. Creación de una aplicación web</a:t>
            </a:r>
            <a:endParaRPr sz="3400"/>
          </a:p>
        </p:txBody>
      </p:sp>
      <p:sp>
        <p:nvSpPr>
          <p:cNvPr id="183" name="Google Shape;183;p27"/>
          <p:cNvSpPr txBox="1"/>
          <p:nvPr>
            <p:ph idx="1" type="body"/>
          </p:nvPr>
        </p:nvSpPr>
        <p:spPr>
          <a:xfrm>
            <a:off x="311700" y="732925"/>
            <a:ext cx="8520600" cy="40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Arquitectura de tres capas</a:t>
            </a:r>
            <a:endParaRPr sz="1400"/>
          </a:p>
        </p:txBody>
      </p:sp>
      <p:sp>
        <p:nvSpPr>
          <p:cNvPr id="184" name="Google Shape;18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85" name="Google Shape;18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875" y="1384413"/>
            <a:ext cx="3821524" cy="1470175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6" name="Google Shape;18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9650" y="1365950"/>
            <a:ext cx="3821526" cy="1507137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7" name="Google Shape;18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94800" y="3211426"/>
            <a:ext cx="4036200" cy="16479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/>
          <p:nvPr>
            <p:ph type="title"/>
          </p:nvPr>
        </p:nvSpPr>
        <p:spPr>
          <a:xfrm>
            <a:off x="311700" y="64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/>
              <a:t>4. Creación de una aplicación web</a:t>
            </a:r>
            <a:endParaRPr sz="3400"/>
          </a:p>
        </p:txBody>
      </p:sp>
      <p:sp>
        <p:nvSpPr>
          <p:cNvPr id="193" name="Google Shape;193;p28"/>
          <p:cNvSpPr txBox="1"/>
          <p:nvPr>
            <p:ph idx="1" type="body"/>
          </p:nvPr>
        </p:nvSpPr>
        <p:spPr>
          <a:xfrm>
            <a:off x="311700" y="732925"/>
            <a:ext cx="8520600" cy="40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Programación back-end y front-end</a:t>
            </a:r>
            <a:endParaRPr sz="16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b="1" i="1" lang="es" sz="1400"/>
              <a:t>FRONT-END</a:t>
            </a:r>
            <a:r>
              <a:rPr lang="es" sz="1400"/>
              <a:t>. </a:t>
            </a:r>
            <a:r>
              <a:rPr lang="es" sz="1400"/>
              <a:t>Es la programación de la interfaz de usuario (capa de presentación). Por una parte suelen ser diseñadores de maquetas  y por otra parte estarían los programadores encargados de pasar esos diseños a páginas HTML y CSS. </a:t>
            </a:r>
            <a:r>
              <a:rPr i="1" lang="es" sz="1400" u="sng"/>
              <a:t>Su objetivo es conseguir que la aplicación sea atractiva al usuario y fácil de usar</a:t>
            </a:r>
            <a:r>
              <a:rPr lang="es" sz="1400"/>
              <a:t>. 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1600"/>
              </a:spcAft>
              <a:buSzPts val="1400"/>
              <a:buChar char="●"/>
            </a:pPr>
            <a:r>
              <a:rPr b="1" i="1" lang="es" sz="1400"/>
              <a:t>BACK-END</a:t>
            </a:r>
            <a:r>
              <a:rPr lang="es" sz="1400"/>
              <a:t>. Se incluye en este punto la programación de las capas lógica y de negocio. Es la parte encargada de que la aplicación funcione debidamente. </a:t>
            </a:r>
            <a:r>
              <a:rPr i="1" lang="es" sz="1400" u="sng"/>
              <a:t>Su objetivo es el acceso rápido a datos, gestión de errores, seguridad, eficiencia, etc...</a:t>
            </a:r>
            <a:r>
              <a:rPr lang="es" sz="1400"/>
              <a:t> </a:t>
            </a:r>
            <a:endParaRPr sz="1400"/>
          </a:p>
        </p:txBody>
      </p:sp>
      <p:sp>
        <p:nvSpPr>
          <p:cNvPr id="194" name="Google Shape;19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95" name="Google Shape;195;p28"/>
          <p:cNvSpPr txBox="1"/>
          <p:nvPr/>
        </p:nvSpPr>
        <p:spPr>
          <a:xfrm>
            <a:off x="742175" y="3863725"/>
            <a:ext cx="7964400" cy="4002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CGI</a:t>
            </a:r>
            <a:r>
              <a:rPr i="1" lang="es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fue la primera tecnología que permitió crear aplicaciones web en el lado servidor</a:t>
            </a:r>
            <a:r>
              <a:rPr b="1" i="1" lang="es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9"/>
          <p:cNvSpPr txBox="1"/>
          <p:nvPr>
            <p:ph type="title"/>
          </p:nvPr>
        </p:nvSpPr>
        <p:spPr>
          <a:xfrm>
            <a:off x="311700" y="64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/>
              <a:t>4. Creación de una aplicación web</a:t>
            </a:r>
            <a:endParaRPr sz="3400"/>
          </a:p>
        </p:txBody>
      </p:sp>
      <p:sp>
        <p:nvSpPr>
          <p:cNvPr id="201" name="Google Shape;201;p29"/>
          <p:cNvSpPr txBox="1"/>
          <p:nvPr>
            <p:ph idx="1" type="body"/>
          </p:nvPr>
        </p:nvSpPr>
        <p:spPr>
          <a:xfrm>
            <a:off x="311700" y="732925"/>
            <a:ext cx="8520600" cy="40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Lenguajes de programación para aplicaciones web del lado de servidor</a:t>
            </a:r>
            <a:endParaRPr sz="16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b="1" i="1" lang="es" sz="1400"/>
              <a:t>Perl. </a:t>
            </a:r>
            <a:r>
              <a:rPr lang="es" sz="1400"/>
              <a:t>Lenguaje clásico para crear aplicaciones web tipo CGI. Poderoso para manejar ficheros y expresiones regulares.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b="1" i="1" lang="es" sz="1400"/>
              <a:t>Python. </a:t>
            </a:r>
            <a:r>
              <a:rPr lang="es" sz="1400"/>
              <a:t>Lenguaje fácil y potente que además dispone de numerosas facilidades para crear aplicaciones de red y gráficas. </a:t>
            </a:r>
            <a:r>
              <a:rPr lang="es" sz="1400" u="sng">
                <a:solidFill>
                  <a:srgbClr val="FF0000"/>
                </a:solidFill>
              </a:rPr>
              <a:t>(Gran auge en los últimos tiempos en el mercado laboral).</a:t>
            </a:r>
            <a:endParaRPr sz="1400" u="sng">
              <a:solidFill>
                <a:srgbClr val="FF0000"/>
              </a:solidFill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b="1" i="1" lang="es" sz="1400"/>
              <a:t>Ruby</a:t>
            </a:r>
            <a:r>
              <a:rPr lang="es" sz="1400"/>
              <a:t>. Parecido al anterior, pero con mucho menos uso.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b="1" i="1" lang="es" sz="1400"/>
              <a:t>Java</a:t>
            </a:r>
            <a:r>
              <a:rPr lang="es" sz="1400"/>
              <a:t>. Lenguaje más popular, potente y versátil, pero más difícil de aprender.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1600"/>
              </a:spcAft>
              <a:buSzPts val="1400"/>
              <a:buChar char="●"/>
            </a:pPr>
            <a:r>
              <a:rPr b="1" i="1" lang="es" sz="1400"/>
              <a:t>C#</a:t>
            </a:r>
            <a:r>
              <a:rPr lang="es" sz="1400"/>
              <a:t>.</a:t>
            </a:r>
            <a:r>
              <a:rPr lang="es" sz="1400"/>
              <a:t> Muy utilizado en servidores de aplicaciones .NET.</a:t>
            </a:r>
            <a:endParaRPr sz="1400"/>
          </a:p>
        </p:txBody>
      </p:sp>
      <p:sp>
        <p:nvSpPr>
          <p:cNvPr id="202" name="Google Shape;20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0"/>
          <p:cNvSpPr txBox="1"/>
          <p:nvPr>
            <p:ph type="title"/>
          </p:nvPr>
        </p:nvSpPr>
        <p:spPr>
          <a:xfrm>
            <a:off x="311700" y="64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/>
              <a:t>4. Creación de una aplicación web</a:t>
            </a:r>
            <a:endParaRPr sz="3400"/>
          </a:p>
        </p:txBody>
      </p:sp>
      <p:sp>
        <p:nvSpPr>
          <p:cNvPr id="208" name="Google Shape;208;p30"/>
          <p:cNvSpPr txBox="1"/>
          <p:nvPr>
            <p:ph idx="1" type="body"/>
          </p:nvPr>
        </p:nvSpPr>
        <p:spPr>
          <a:xfrm>
            <a:off x="311700" y="732925"/>
            <a:ext cx="8520600" cy="40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Lenguajes de script de servidor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400"/>
              <a:t>Se basan en la incrustación del código dentro de la página HTML, incluyendo marcas o etiquetas del tipo </a:t>
            </a:r>
            <a:r>
              <a:rPr b="1" i="1" lang="es" sz="1400"/>
              <a:t>&lt;?php</a:t>
            </a:r>
            <a:r>
              <a:rPr lang="es" sz="1400"/>
              <a:t> o </a:t>
            </a:r>
            <a:r>
              <a:rPr b="1" i="1" lang="es" sz="1400"/>
              <a:t>&lt;%jsp</a:t>
            </a:r>
            <a:r>
              <a:rPr lang="es" sz="1400"/>
              <a:t> o haciendo referencia a ficheros del servidor de aplicaciones .php o .jsp.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b="1" i="1" lang="es" sz="1400"/>
              <a:t>PHP</a:t>
            </a:r>
            <a:r>
              <a:rPr lang="es" sz="1400"/>
              <a:t>. El más utilizado. Se basa en lenguaje C y en Perl. Fácil de aprender.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b="1" i="1" lang="es" sz="1400"/>
              <a:t>JSP</a:t>
            </a:r>
            <a:r>
              <a:rPr lang="es" sz="1400"/>
              <a:t>. Lenguaje basado en Java.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1600"/>
              </a:spcAft>
              <a:buSzPts val="1400"/>
              <a:buChar char="●"/>
            </a:pPr>
            <a:r>
              <a:rPr b="1" i="1" lang="es" sz="1400"/>
              <a:t>ASP</a:t>
            </a:r>
            <a:r>
              <a:rPr lang="es" sz="1400"/>
              <a:t>. Tecnología de Microsoft similar a PHP pero para servidores de aplicaciones IIS. La última versión ASP.net</a:t>
            </a:r>
            <a:endParaRPr sz="1400"/>
          </a:p>
        </p:txBody>
      </p:sp>
      <p:sp>
        <p:nvSpPr>
          <p:cNvPr id="209" name="Google Shape;20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009668"/>
      </a:accent2>
      <a:accent3>
        <a:srgbClr val="4DB6AC"/>
      </a:accent3>
      <a:accent4>
        <a:srgbClr val="FF9800"/>
      </a:accent4>
      <a:accent5>
        <a:srgbClr val="CE93D8"/>
      </a:accent5>
      <a:accent6>
        <a:srgbClr val="EEFF41"/>
      </a:accent6>
      <a:hlink>
        <a:srgbClr val="CE93D8"/>
      </a:hlink>
      <a:folHlink>
        <a:srgbClr val="CE93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