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9B73C-486F-4961-ADAF-B5C18DE8FA42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D5C44-FA11-4414-B1A2-40C18578E6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50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D5C44-FA11-4414-B1A2-40C18578E6F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988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D5C44-FA11-4414-B1A2-40C18578E6FD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2260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90FAD-ED69-B2CB-63EC-A7804916E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C5009C-96EB-DE04-509D-66E3ADAC9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68A033-0477-B478-8258-BD6A13C6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02D59F-85B5-F88A-9BE9-0967F4DE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873F44-964F-8788-9AC4-F5C96A8A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889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C5993-58CC-B5C9-5A0D-23D70696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973139-1F1A-DCE4-8CAA-9941A06F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1EE019-F4F1-0961-C29D-863B11FD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EA50CD-9634-DFB3-7F66-C049FC1D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5FC8C4-DF1D-CA28-3FFC-EC137AFB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712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3249D-2862-E53A-DB74-D6D45593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4B655E-BE93-A772-23CB-9A1E2CA49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FE6D0E-AA74-9468-560B-D34C7D56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CC9896-9CEF-9CA6-5540-5389005A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1A4C8-DF9D-CFEE-D0EF-EE2C2D75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57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A0FE7-28D2-20EF-9257-C3CEAEC2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4C4BA5-11DC-B9AD-CCFF-48D71B9D8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A2311C-F7BE-87F3-B108-EBF1A4FE1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A0A5FE-0085-2145-31E1-DDEADC09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A5B30-7DCE-808E-138B-48315A4C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2066EC-CB63-CFE6-27B6-D7E8DE5E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796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19A1D-F7ED-A186-7FA4-F3D58F5A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3DEDEA-D668-D293-8693-883CE5C62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25878F-0BF1-FB54-11FD-BE4E33644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0012EA-937F-3F37-71A5-95260E74A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E076B74-4422-A821-890E-CB1E6247E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3A7580-BA65-77DF-5B0E-0B3A4032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AA7B5F3-889F-D977-FE0F-05D23880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A168DC2-8AB1-1474-2C64-AB1A8523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781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82509-31A2-AE41-1C00-77B0DD55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4AC9EC-7111-C36B-2345-2C3920DDE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37A44E-B644-4FCD-C6DA-091BF70C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73D8FC-9A20-FC94-F5F6-E0DF9790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952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B2E9BA-8435-BFC5-1565-5B795CC8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54CAF6-2AD5-CDCE-AA2B-24D5ACA5E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C7A1AA-7D51-F08D-DDAE-CDCFD1DF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191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69678-D799-E384-C404-23BF0168D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2AFC3-34AA-70ED-9A21-F8EA329EA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56A051-74A1-8BAD-0142-9B9EDFAED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CB2087-83C2-6F7F-97F1-4D28BE53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18B5B1-92CB-D77A-C7AC-09E17FC2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FEEE7C-76EF-8160-1873-6639CB47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820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BF954-A7D8-4DB6-1E5B-915B5BFE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F9C66D-4794-170C-57FC-78BE7B5E91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91105E-4962-AC4F-D1EB-9F9BE0695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F2C485-D7EA-3F1B-2275-2ECA39BF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1040EB-5FCD-2BE1-311A-CAD86F9BC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62DC1D-E770-1293-B264-5E87B70A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92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A35DA-F5FE-A72D-C9B0-D7A77356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8236DE-F78B-5AA2-638B-99118DE8F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BDE16-183F-447D-2852-834E36D8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E36E76-3E60-5C1E-3AEA-460B0CCF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2C3D43-225C-5253-E6D2-7C3DEBAD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314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142DB0-2AA5-C706-5292-6468247AC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D4EBD56-8843-56AE-DAF8-2DA1463D1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8FEDE3-09A6-2138-B3AB-3F63A5EC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CE667-A03B-8A48-F832-F53644E1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27F19C-E6EE-1B7D-6E6A-DA4FBB92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199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E1719A-AE26-B45D-C547-DD6436982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4B7B1C-1097-5AFB-87C3-95AC872B6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07D613-B422-DA08-D613-14EEAFF26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8BBD5-0963-4FD2-B5E0-E3F69FA2CFF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984A5B-FB5B-631C-956F-169C0CA66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269BAB-9019-0492-A94D-E7D523D3A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3DE52-E06A-4766-83BC-6C646ADE60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9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10.2.7.90/wordpress/wp-admi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10.2.7.90/wordpres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10.2.7.90/wordpress/fog-project/" TargetMode="External"/><Relationship Id="rId2" Type="http://schemas.openxmlformats.org/officeDocument/2006/relationships/hyperlink" Target="https://10.2.7.90/wordpress/proyecto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://10.2.7.90/wordpress/servidor-de-streamin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10.2.7.90/wordpress/mdk2/" TargetMode="External"/><Relationship Id="rId2" Type="http://schemas.openxmlformats.org/officeDocument/2006/relationships/hyperlink" Target="http://10.2.7.90/wordpress/videojuego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://10.2.7.90/wordpress/deus-ex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wpbeginner.com/glossary/profil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rixinternet.ie/managing-user-roles-and-permissions-in-wordpress-the-complete-guide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wordpress.org/lesson/what-is-a-plugin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C76A59-62C4-0D32-6DB0-3BC463206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2" y="891652"/>
            <a:ext cx="4412021" cy="3030724"/>
          </a:xfrm>
        </p:spPr>
        <p:txBody>
          <a:bodyPr anchor="b">
            <a:normAutofit/>
          </a:bodyPr>
          <a:lstStyle/>
          <a:p>
            <a:pPr algn="r"/>
            <a:r>
              <a:rPr lang="es-ES" sz="4000" dirty="0">
                <a:solidFill>
                  <a:srgbClr val="FFFFFF"/>
                </a:solidFill>
              </a:rPr>
              <a:t>UD6 Gestor de contenidos I. </a:t>
            </a:r>
            <a:r>
              <a:rPr lang="es-ES" sz="4000" dirty="0" err="1">
                <a:solidFill>
                  <a:srgbClr val="FFFFFF"/>
                </a:solidFill>
              </a:rPr>
              <a:t>Wordpress</a:t>
            </a:r>
            <a:endParaRPr lang="es-ES" sz="40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4AC5FB-8E04-9704-20F7-9CCEBC762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791" y="4745317"/>
            <a:ext cx="4126272" cy="1375145"/>
          </a:xfrm>
        </p:spPr>
        <p:txBody>
          <a:bodyPr>
            <a:normAutofit/>
          </a:bodyPr>
          <a:lstStyle/>
          <a:p>
            <a:pPr algn="r"/>
            <a:r>
              <a:rPr lang="es-ES" sz="2000">
                <a:solidFill>
                  <a:srgbClr val="FFFFFF"/>
                </a:solidFill>
              </a:rPr>
              <a:t>Cristóbal Suárez Abad</a:t>
            </a:r>
          </a:p>
          <a:p>
            <a:pPr algn="r"/>
            <a:r>
              <a:rPr lang="es-ES" sz="2000">
                <a:solidFill>
                  <a:srgbClr val="FFFFFF"/>
                </a:solidFill>
              </a:rPr>
              <a:t>Implantación de Aplicaciones Web</a:t>
            </a:r>
          </a:p>
          <a:p>
            <a:pPr algn="r"/>
            <a:r>
              <a:rPr lang="es-ES" sz="2000">
                <a:solidFill>
                  <a:srgbClr val="FFFFFF"/>
                </a:solidFill>
              </a:rPr>
              <a:t>2º ASIR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A584DB-4316-1FA3-8A49-31B08C2C8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9435"/>
            <a:ext cx="560832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9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FC22B-C55F-F8B9-6891-DF7C8CBF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b="1"/>
              <a:t>Instalación de Wordpress (RA2 10%)</a:t>
            </a:r>
            <a:br>
              <a:rPr lang="es-ES" b="1"/>
            </a:br>
            <a:r>
              <a:rPr lang="es-ES" sz="2400" b="1"/>
              <a:t>¿Cuáles son los requerimientos para poder instalar Wordpress?</a:t>
            </a:r>
            <a:br>
              <a:rPr lang="es-ES" b="1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4332EA-5E9F-2E6C-04D2-F591366D8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Software:</a:t>
            </a:r>
          </a:p>
          <a:p>
            <a:pPr lvl="0"/>
            <a:r>
              <a:rPr lang="es-ES" sz="1800" b="1" dirty="0"/>
              <a:t>PHP</a:t>
            </a:r>
            <a:r>
              <a:rPr lang="es-ES" sz="1800" dirty="0"/>
              <a:t>: Versión 8.3 o superior.</a:t>
            </a:r>
          </a:p>
          <a:p>
            <a:pPr lvl="0"/>
            <a:r>
              <a:rPr lang="es-ES" sz="1800" b="1" dirty="0"/>
              <a:t>Base de datos</a:t>
            </a:r>
            <a:r>
              <a:rPr lang="es-ES" sz="1800" dirty="0"/>
              <a:t>: </a:t>
            </a:r>
            <a:r>
              <a:rPr lang="es-ES" sz="1800" dirty="0" err="1"/>
              <a:t>MariaDB</a:t>
            </a:r>
            <a:r>
              <a:rPr lang="es-ES" sz="1800" dirty="0"/>
              <a:t> versión 10.6 o superior, o MySQL versión 8.0 o superior.</a:t>
            </a:r>
          </a:p>
          <a:p>
            <a:pPr lvl="0"/>
            <a:r>
              <a:rPr lang="es-ES" sz="1800" b="1" dirty="0"/>
              <a:t>Servidor web</a:t>
            </a:r>
            <a:r>
              <a:rPr lang="es-ES" sz="1800" dirty="0"/>
              <a:t>: Apache o </a:t>
            </a:r>
            <a:r>
              <a:rPr lang="es-ES" sz="1800" dirty="0" err="1"/>
              <a:t>Nginx</a:t>
            </a:r>
            <a:r>
              <a:rPr lang="es-ES" sz="1800" dirty="0"/>
              <a:t> (idealmente con el módulo </a:t>
            </a:r>
            <a:r>
              <a:rPr lang="es-ES" sz="1800" dirty="0" err="1"/>
              <a:t>mod_rewrite</a:t>
            </a:r>
            <a:r>
              <a:rPr lang="es-ES" sz="1800" dirty="0"/>
              <a:t>), aunque sirve cualquier servidor que sea compatible con PHP y MySQL.</a:t>
            </a:r>
          </a:p>
          <a:p>
            <a:pPr lvl="0"/>
            <a:r>
              <a:rPr lang="es-ES" sz="1800" b="1" dirty="0"/>
              <a:t>HTTPS</a:t>
            </a:r>
            <a:r>
              <a:rPr lang="es-ES" sz="1800" dirty="0"/>
              <a:t>: Es obligatorio para cualquier instalación con el fin de cifrar la conexión del sitio.</a:t>
            </a:r>
          </a:p>
          <a:p>
            <a:pPr lvl="0"/>
            <a:endParaRPr lang="es-ES" sz="1800" dirty="0"/>
          </a:p>
          <a:p>
            <a:pPr marL="0" indent="0">
              <a:buNone/>
            </a:pPr>
            <a:r>
              <a:rPr lang="es-ES" dirty="0"/>
              <a:t>Hardware:</a:t>
            </a:r>
          </a:p>
          <a:p>
            <a:pPr lvl="0"/>
            <a:r>
              <a:rPr lang="es-ES" sz="1800" b="1" dirty="0"/>
              <a:t>CPU: </a:t>
            </a:r>
            <a:r>
              <a:rPr lang="es-ES" sz="1800" dirty="0"/>
              <a:t>1 núcleo con mínimo 1GHz.</a:t>
            </a:r>
          </a:p>
          <a:p>
            <a:pPr lvl="0"/>
            <a:r>
              <a:rPr lang="es-ES" sz="1800" b="1" dirty="0"/>
              <a:t>RAM</a:t>
            </a:r>
            <a:r>
              <a:rPr lang="es-ES" sz="1800" dirty="0"/>
              <a:t>: 512MB.</a:t>
            </a:r>
          </a:p>
          <a:p>
            <a:pPr lvl="0"/>
            <a:r>
              <a:rPr lang="es-ES" sz="1800" b="1" dirty="0"/>
              <a:t>Almacenamiento</a:t>
            </a:r>
            <a:r>
              <a:rPr lang="es-ES" sz="1800" dirty="0"/>
              <a:t>: 1GB.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2282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08165-B950-7B64-2EB8-B6AA236A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200" b="1" dirty="0"/>
              <a:t>¿Qué elementos vamos a instalar?</a:t>
            </a:r>
            <a:br>
              <a:rPr lang="es-ES" b="1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C1B89B-D612-95A5-EB19-00C5ED85E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4341"/>
            <a:ext cx="10515600" cy="5172622"/>
          </a:xfrm>
        </p:spPr>
        <p:txBody>
          <a:bodyPr>
            <a:normAutofit/>
          </a:bodyPr>
          <a:lstStyle/>
          <a:p>
            <a:pPr lvl="0"/>
            <a:r>
              <a:rPr lang="es-ES" sz="1900" b="1" dirty="0"/>
              <a:t>Servidor Ubuntu</a:t>
            </a:r>
            <a:endParaRPr lang="es-ES" sz="1900" dirty="0"/>
          </a:p>
          <a:p>
            <a:pPr lvl="0"/>
            <a:r>
              <a:rPr lang="es-ES" sz="1900" b="1" dirty="0"/>
              <a:t>Servidor Web:</a:t>
            </a:r>
            <a:r>
              <a:rPr lang="es-ES" sz="1900" dirty="0"/>
              <a:t> </a:t>
            </a:r>
            <a:r>
              <a:rPr lang="es-ES" sz="1900" b="1" dirty="0"/>
              <a:t>Apache2</a:t>
            </a:r>
            <a:r>
              <a:rPr lang="es-ES" sz="1900" dirty="0"/>
              <a:t>.</a:t>
            </a:r>
          </a:p>
          <a:p>
            <a:pPr lvl="0"/>
            <a:r>
              <a:rPr lang="es-ES" sz="1900" b="1" dirty="0"/>
              <a:t>Sistema de Gestión de Base de Datos:</a:t>
            </a:r>
            <a:r>
              <a:rPr lang="es-ES" sz="1900" dirty="0"/>
              <a:t> </a:t>
            </a:r>
            <a:r>
              <a:rPr lang="es-ES" sz="1900" b="1" dirty="0"/>
              <a:t>MySQL Server</a:t>
            </a:r>
            <a:r>
              <a:rPr lang="es-ES" sz="1900" dirty="0"/>
              <a:t> (</a:t>
            </a:r>
            <a:r>
              <a:rPr lang="es-ES" sz="1900" dirty="0" err="1"/>
              <a:t>mysql</a:t>
            </a:r>
            <a:r>
              <a:rPr lang="es-ES" sz="1900" dirty="0"/>
              <a:t>-server).</a:t>
            </a:r>
          </a:p>
          <a:p>
            <a:pPr lvl="0"/>
            <a:r>
              <a:rPr lang="es-ES" sz="1900" b="1" dirty="0"/>
              <a:t>Lenguaje de Programación:</a:t>
            </a:r>
            <a:r>
              <a:rPr lang="es-ES" sz="1900" dirty="0"/>
              <a:t> </a:t>
            </a:r>
            <a:r>
              <a:rPr lang="es-ES" sz="1900" b="1" dirty="0"/>
              <a:t>PHP</a:t>
            </a:r>
            <a:r>
              <a:rPr lang="es-ES" sz="1900" dirty="0"/>
              <a:t> (</a:t>
            </a:r>
            <a:r>
              <a:rPr lang="es-ES" sz="1900" dirty="0" err="1"/>
              <a:t>php</a:t>
            </a:r>
            <a:r>
              <a:rPr lang="es-ES" sz="1900" dirty="0"/>
              <a:t>) junto con varios módulos:</a:t>
            </a:r>
          </a:p>
          <a:p>
            <a:pPr lvl="1"/>
            <a:r>
              <a:rPr lang="es-ES" sz="1900" b="1" dirty="0"/>
              <a:t>libapache2-mod-php</a:t>
            </a:r>
            <a:r>
              <a:rPr lang="es-ES" sz="1900" dirty="0"/>
              <a:t>: Integración con Apache.</a:t>
            </a:r>
          </a:p>
          <a:p>
            <a:pPr lvl="1"/>
            <a:r>
              <a:rPr lang="es-ES" sz="1900" b="1" dirty="0" err="1"/>
              <a:t>php-mbstring</a:t>
            </a:r>
            <a:r>
              <a:rPr lang="es-ES" sz="1900" b="1" dirty="0"/>
              <a:t> y </a:t>
            </a:r>
            <a:r>
              <a:rPr lang="es-ES" sz="1900" b="1" dirty="0" err="1"/>
              <a:t>php-mysql</a:t>
            </a:r>
            <a:r>
              <a:rPr lang="es-ES" sz="1900" dirty="0"/>
              <a:t>: Integración con MySQL.</a:t>
            </a:r>
          </a:p>
          <a:p>
            <a:pPr lvl="1"/>
            <a:r>
              <a:rPr lang="es-ES" sz="1900" b="1" dirty="0" err="1"/>
              <a:t>php-fpm</a:t>
            </a:r>
            <a:r>
              <a:rPr lang="es-ES" sz="1900" dirty="0"/>
              <a:t>: Mejora el rendimiento en servidores web.</a:t>
            </a:r>
          </a:p>
          <a:p>
            <a:pPr lvl="0"/>
            <a:r>
              <a:rPr lang="es-ES" sz="1900" b="1" dirty="0" err="1"/>
              <a:t>phpMyAdmin</a:t>
            </a:r>
            <a:r>
              <a:rPr lang="es-ES" sz="1900" b="1" dirty="0"/>
              <a:t>:</a:t>
            </a:r>
            <a:r>
              <a:rPr lang="es-ES" sz="1900" dirty="0"/>
              <a:t> Aplicación web para administrar de forma gráfica la base de datos MySQL (creación de la base de datos </a:t>
            </a:r>
            <a:r>
              <a:rPr lang="es-ES" sz="1900" dirty="0" err="1"/>
              <a:t>wordpress</a:t>
            </a:r>
            <a:r>
              <a:rPr lang="es-ES" sz="1900" dirty="0"/>
              <a:t> y asignación de permisos al usuario </a:t>
            </a:r>
            <a:r>
              <a:rPr lang="es-ES" sz="1900" dirty="0" err="1"/>
              <a:t>wp_user</a:t>
            </a:r>
            <a:r>
              <a:rPr lang="es-ES" sz="1900" dirty="0"/>
              <a:t>). Realmente no es necesaria, pero facilita la administración de la base de datos.</a:t>
            </a:r>
          </a:p>
          <a:p>
            <a:pPr lvl="0"/>
            <a:r>
              <a:rPr lang="es-ES" sz="1900" b="1" dirty="0"/>
              <a:t>WordPress: </a:t>
            </a:r>
            <a:r>
              <a:rPr lang="es-ES" sz="1900" dirty="0"/>
              <a:t>El propio Gestor de Contenidos (CMS).</a:t>
            </a:r>
          </a:p>
          <a:p>
            <a:pPr lvl="0"/>
            <a:r>
              <a:rPr lang="es-ES" sz="1900" b="1" dirty="0" err="1"/>
              <a:t>Certbot</a:t>
            </a:r>
            <a:r>
              <a:rPr lang="es-ES" sz="1900" b="1" dirty="0"/>
              <a:t> + </a:t>
            </a:r>
            <a:r>
              <a:rPr lang="es-ES" sz="1900" b="1" dirty="0" err="1"/>
              <a:t>Let's</a:t>
            </a:r>
            <a:r>
              <a:rPr lang="es-ES" sz="1900" b="1" dirty="0"/>
              <a:t> </a:t>
            </a:r>
            <a:r>
              <a:rPr lang="es-ES" sz="1900" b="1" dirty="0" err="1"/>
              <a:t>Encrypt</a:t>
            </a:r>
            <a:r>
              <a:rPr lang="es-ES" sz="1900" dirty="0"/>
              <a:t>: necesarios para tener HTTPS habilitado.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923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6E8C2-FA83-A7C4-6AAF-281892CD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s-ES" sz="2200" dirty="0"/>
              <a:t>Muestra final de que todo funciona correctamente</a:t>
            </a:r>
            <a:br>
              <a:rPr lang="es-ES" sz="2200" dirty="0"/>
            </a:br>
            <a:r>
              <a:rPr lang="es-ES" sz="2200" dirty="0">
                <a:hlinkClick r:id="rId2"/>
              </a:rPr>
              <a:t>https://10.2.7.90/wordpress/wp-admin/</a:t>
            </a:r>
            <a:r>
              <a:rPr lang="es-ES" sz="2200" dirty="0"/>
              <a:t>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6FE897C-BC21-D353-D7C7-4E3855041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092262"/>
            <a:ext cx="10134600" cy="514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0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AAF36-A9E9-AE85-6AA8-B26CCA89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Personalización de </a:t>
            </a:r>
            <a:r>
              <a:rPr lang="es-ES" b="1" dirty="0" err="1"/>
              <a:t>Wordpress</a:t>
            </a:r>
            <a:r>
              <a:rPr lang="es-ES" b="1" dirty="0"/>
              <a:t> (RA7 20%)</a:t>
            </a:r>
            <a:br>
              <a:rPr lang="es-ES" b="1" dirty="0"/>
            </a:br>
            <a:r>
              <a:rPr lang="es-ES" sz="2200" dirty="0"/>
              <a:t>Gestión de temas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8CB42A-7EE6-A7A4-DF33-95D8F8074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 dirty="0"/>
              <a:t>Usamos</a:t>
            </a:r>
            <a:r>
              <a:rPr lang="es-ES" dirty="0"/>
              <a:t>: </a:t>
            </a:r>
            <a:r>
              <a:rPr lang="es-ES" sz="1800" dirty="0" err="1"/>
              <a:t>Plugins</a:t>
            </a:r>
            <a:r>
              <a:rPr lang="es-ES" sz="1800" dirty="0"/>
              <a:t> </a:t>
            </a:r>
            <a:r>
              <a:rPr lang="es-ES" sz="1800" dirty="0">
                <a:sym typeface="Wingdings" panose="05000000000000000000" pitchFamily="2" charset="2"/>
              </a:rPr>
              <a:t></a:t>
            </a:r>
            <a:r>
              <a:rPr lang="es-ES" sz="1800" dirty="0"/>
              <a:t> Añadir </a:t>
            </a:r>
            <a:r>
              <a:rPr lang="es-ES" sz="1800" dirty="0" err="1"/>
              <a:t>Plugins</a:t>
            </a:r>
            <a:r>
              <a:rPr lang="es-ES" sz="1800" dirty="0"/>
              <a:t> </a:t>
            </a:r>
            <a:r>
              <a:rPr lang="es-ES" sz="1800" dirty="0">
                <a:sym typeface="Wingdings" panose="05000000000000000000" pitchFamily="2" charset="2"/>
              </a:rPr>
              <a:t></a:t>
            </a:r>
            <a:r>
              <a:rPr lang="es-ES" sz="1800" dirty="0"/>
              <a:t> Child </a:t>
            </a:r>
            <a:r>
              <a:rPr lang="es-ES" sz="1800" dirty="0" err="1"/>
              <a:t>Theme</a:t>
            </a:r>
            <a:r>
              <a:rPr lang="es-ES" sz="1800" dirty="0"/>
              <a:t> </a:t>
            </a:r>
            <a:r>
              <a:rPr lang="es-ES" sz="1800" dirty="0" err="1"/>
              <a:t>Configurator</a:t>
            </a:r>
            <a:r>
              <a:rPr lang="es-ES" sz="1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87686E-E963-880F-8CE0-A3733E11A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946" y="2786542"/>
            <a:ext cx="3395584" cy="29261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8A8D7ED-FBDE-8DD1-A68B-97BC9C4A7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32" y="2786542"/>
            <a:ext cx="7045585" cy="128491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EFEC9B7-0A32-20B4-C460-8D37731F8F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70" y="4389917"/>
            <a:ext cx="7103847" cy="12849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995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16147-5D74-985D-72FF-00792B0BC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2200" b="1" dirty="0"/>
              <a:t>Gestión de widgets (secciones).</a:t>
            </a:r>
            <a:br>
              <a:rPr lang="es-ES" b="1" dirty="0"/>
            </a:br>
            <a:r>
              <a:rPr lang="es-ES" sz="2000" dirty="0"/>
              <a:t>Son bloques de contenido que permiten añadir funcionalidades</a:t>
            </a:r>
            <a:br>
              <a:rPr lang="es-ES" sz="2000" dirty="0"/>
            </a:br>
            <a:r>
              <a:rPr lang="es-ES" sz="2000" dirty="0"/>
              <a:t>Se suelen usar en las barras laterales y los pies de página.</a:t>
            </a:r>
            <a:br>
              <a:rPr lang="es-ES" sz="2000" dirty="0"/>
            </a:br>
            <a:r>
              <a:rPr lang="es-ES" sz="2000" dirty="0"/>
              <a:t>Se gestionan desde </a:t>
            </a:r>
            <a:r>
              <a:rPr lang="es-ES" sz="2000" b="1" dirty="0"/>
              <a:t>Apariencia </a:t>
            </a:r>
            <a:r>
              <a:rPr lang="es-ES" sz="2000" b="1" dirty="0">
                <a:sym typeface="Wingdings" panose="05000000000000000000" pitchFamily="2" charset="2"/>
              </a:rPr>
              <a:t> Widgets</a:t>
            </a:r>
            <a:r>
              <a:rPr lang="es-ES" sz="2000" dirty="0">
                <a:sym typeface="Wingdings" panose="05000000000000000000" pitchFamily="2" charset="2"/>
              </a:rPr>
              <a:t>. Y luego se incluyen desde las opciones generales o desde cada una de las páginas.</a:t>
            </a:r>
            <a:endParaRPr lang="es-ES" sz="2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7D3EF4-67FC-99D5-0535-C124CDD42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Para la activación de la barra lateral en toda la página web.</a:t>
            </a:r>
          </a:p>
          <a:p>
            <a:r>
              <a:rPr lang="es-ES" sz="2000" b="1" dirty="0"/>
              <a:t>APARIENCIA </a:t>
            </a:r>
            <a:r>
              <a:rPr lang="es-ES" sz="2000" b="1" dirty="0">
                <a:sym typeface="Wingdings" panose="05000000000000000000" pitchFamily="2" charset="2"/>
              </a:rPr>
              <a:t></a:t>
            </a:r>
            <a:r>
              <a:rPr lang="es-ES" sz="2000" b="1" dirty="0"/>
              <a:t> PERSONALIZAR </a:t>
            </a:r>
            <a:r>
              <a:rPr lang="es-ES" sz="2000" b="1" dirty="0">
                <a:sym typeface="Wingdings" panose="05000000000000000000" pitchFamily="2" charset="2"/>
              </a:rPr>
              <a:t></a:t>
            </a:r>
            <a:r>
              <a:rPr lang="es-ES" sz="2000" b="1" dirty="0"/>
              <a:t> GENERAL </a:t>
            </a:r>
            <a:r>
              <a:rPr lang="es-ES" sz="2000" b="1" dirty="0">
                <a:sym typeface="Wingdings" panose="05000000000000000000" pitchFamily="2" charset="2"/>
              </a:rPr>
              <a:t></a:t>
            </a:r>
            <a:r>
              <a:rPr lang="es-ES" sz="2000" b="1" dirty="0"/>
              <a:t> BARRA LATERAL</a:t>
            </a:r>
            <a:r>
              <a:rPr lang="es-ES" sz="2000" dirty="0"/>
              <a:t> Y AHÍ debes establecer barra lateral a la izquierda o derecha.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514756-317D-9F13-99BC-44B35442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97175"/>
            <a:ext cx="2771775" cy="36957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68FD2E7-CCDE-41C7-33C2-E37FB41C1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987" y="2925184"/>
            <a:ext cx="6781800" cy="35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3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2A9FD-327B-AFDF-152A-630A26FA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200" b="1" dirty="0"/>
              <a:t>Gestión de menús</a:t>
            </a:r>
            <a:br>
              <a:rPr lang="es-ES" b="1" dirty="0"/>
            </a:br>
            <a:r>
              <a:rPr lang="es-ES" sz="2000" dirty="0"/>
              <a:t>Apariencia </a:t>
            </a:r>
            <a:r>
              <a:rPr lang="es-ES" sz="2000" dirty="0">
                <a:sym typeface="Wingdings" panose="05000000000000000000" pitchFamily="2" charset="2"/>
              </a:rPr>
              <a:t></a:t>
            </a:r>
            <a:r>
              <a:rPr lang="es-ES" sz="2000" dirty="0"/>
              <a:t> Menú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8B875B-B976-4170-7C29-0E795B0F3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32760" cy="4351338"/>
          </a:xfrm>
        </p:spPr>
        <p:txBody>
          <a:bodyPr/>
          <a:lstStyle/>
          <a:p>
            <a:r>
              <a:rPr lang="es-ES" sz="2000" dirty="0"/>
              <a:t>Puedes hacer que se añadan las nuevas páginas de manera automática.</a:t>
            </a:r>
          </a:p>
          <a:p>
            <a:r>
              <a:rPr lang="es-ES" sz="2000" dirty="0"/>
              <a:t>Indicar su posición/uso predeterminado</a:t>
            </a:r>
          </a:p>
          <a:p>
            <a:r>
              <a:rPr lang="es-ES" sz="2000" dirty="0"/>
              <a:t>Uso: Cabecero y Pie de página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CC6CFF-B1E6-97F2-BA0A-0D243F563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2553745"/>
            <a:ext cx="5989320" cy="393913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40D2F26-FF0D-C341-77A5-52EF53FC1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2" y="4552926"/>
            <a:ext cx="4472940" cy="19399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2C42C71-D4A3-511E-7164-CC64F0DC6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020" y="917722"/>
            <a:ext cx="5943600" cy="146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9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3B8A8-B74D-7EA0-2867-84948B43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200" b="1"/>
              <a:t>Gestión de cabecera y pie.</a:t>
            </a:r>
            <a:br>
              <a:rPr lang="es-ES" b="1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883B7-DF48-55B2-EFD4-ED6EB469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9331"/>
            <a:ext cx="10515600" cy="5157632"/>
          </a:xfrm>
        </p:spPr>
        <p:txBody>
          <a:bodyPr>
            <a:normAutofit/>
          </a:bodyPr>
          <a:lstStyle/>
          <a:p>
            <a:r>
              <a:rPr lang="es-ES" sz="2000" b="1" dirty="0"/>
              <a:t>Pies</a:t>
            </a:r>
            <a:r>
              <a:rPr lang="es-ES" sz="2000" dirty="0"/>
              <a:t>: Personalizar </a:t>
            </a:r>
            <a:r>
              <a:rPr lang="es-ES" sz="2000" dirty="0">
                <a:sym typeface="Wingdings" panose="05000000000000000000" pitchFamily="2" charset="2"/>
              </a:rPr>
              <a:t></a:t>
            </a:r>
            <a:r>
              <a:rPr lang="es-ES" sz="2000" dirty="0"/>
              <a:t> Selecciona barra de Pie de Página. </a:t>
            </a:r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b="1" dirty="0"/>
          </a:p>
          <a:p>
            <a:r>
              <a:rPr lang="es-ES" sz="2000" b="1" dirty="0"/>
              <a:t>Cabecera</a:t>
            </a:r>
            <a:r>
              <a:rPr lang="es-ES" sz="2000" dirty="0"/>
              <a:t>: Apariencia </a:t>
            </a:r>
            <a:r>
              <a:rPr lang="es-ES" sz="2000" dirty="0">
                <a:sym typeface="Wingdings" panose="05000000000000000000" pitchFamily="2" charset="2"/>
              </a:rPr>
              <a:t></a:t>
            </a:r>
            <a:r>
              <a:rPr lang="es-ES" sz="2000" dirty="0"/>
              <a:t> Personalizar </a:t>
            </a:r>
            <a:r>
              <a:rPr lang="es-ES" sz="2000" dirty="0">
                <a:sym typeface="Wingdings" panose="05000000000000000000" pitchFamily="2" charset="2"/>
              </a:rPr>
              <a:t></a:t>
            </a:r>
            <a:r>
              <a:rPr lang="es-ES" sz="2000" dirty="0"/>
              <a:t> Cabecera:</a:t>
            </a:r>
          </a:p>
          <a:p>
            <a:pPr lvl="1"/>
            <a:r>
              <a:rPr lang="es-ES" sz="1600" dirty="0"/>
              <a:t>Tipo y logotipo del sitio:</a:t>
            </a:r>
          </a:p>
          <a:p>
            <a:pPr lvl="1"/>
            <a:r>
              <a:rPr lang="es-ES" sz="1600" dirty="0" err="1"/>
              <a:t>Favicon</a:t>
            </a:r>
            <a:endParaRPr lang="es-ES" sz="1600" dirty="0"/>
          </a:p>
          <a:p>
            <a:pPr lvl="1"/>
            <a:r>
              <a:rPr lang="es-ES" sz="1600" dirty="0"/>
              <a:t>Selección del menú que queremos usar</a:t>
            </a:r>
          </a:p>
          <a:p>
            <a:endParaRPr lang="es-E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76B350-6102-E222-2F4F-70AA0326C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284" y="1397457"/>
            <a:ext cx="7236217" cy="16909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9B589DC-B9C8-57C1-1CCB-47360A0E0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652" y="3429000"/>
            <a:ext cx="2695575" cy="30765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74F1FE-879D-77C6-17C1-7F8E51AC5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183" y="4764087"/>
            <a:ext cx="2753092" cy="13255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A1C5A47-35C5-AEAD-3A8F-2274F99D1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507" y="4851400"/>
            <a:ext cx="3451466" cy="13255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D654BA7-A23E-DE87-9B10-17545D4FC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978" y="392430"/>
            <a:ext cx="28289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27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AAF7B-EC6F-4697-A6C2-C620F703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83793"/>
          </a:xfrm>
        </p:spPr>
        <p:txBody>
          <a:bodyPr>
            <a:normAutofit fontScale="90000"/>
          </a:bodyPr>
          <a:lstStyle/>
          <a:p>
            <a:r>
              <a:rPr lang="es-ES" sz="2400" b="1" dirty="0"/>
              <a:t>Gestión del fondo.</a:t>
            </a:r>
            <a:br>
              <a:rPr lang="es-ES" b="1" dirty="0"/>
            </a:br>
            <a:r>
              <a:rPr lang="es-ES" sz="2200" dirty="0"/>
              <a:t>Apariencia </a:t>
            </a:r>
            <a:r>
              <a:rPr lang="es-ES" sz="2200" dirty="0">
                <a:sym typeface="Wingdings" panose="05000000000000000000" pitchFamily="2" charset="2"/>
              </a:rPr>
              <a:t></a:t>
            </a:r>
            <a:r>
              <a:rPr lang="es-ES" sz="2200" dirty="0"/>
              <a:t> Personalizar </a:t>
            </a:r>
            <a:r>
              <a:rPr lang="es-ES" sz="2200" dirty="0">
                <a:sym typeface="Wingdings" panose="05000000000000000000" pitchFamily="2" charset="2"/>
              </a:rPr>
              <a:t></a:t>
            </a:r>
            <a:r>
              <a:rPr lang="es-ES" sz="2200" dirty="0"/>
              <a:t>Global </a:t>
            </a:r>
            <a:r>
              <a:rPr lang="es-ES" sz="2200" dirty="0">
                <a:sym typeface="Wingdings" panose="05000000000000000000" pitchFamily="2" charset="2"/>
              </a:rPr>
              <a:t></a:t>
            </a:r>
            <a:r>
              <a:rPr lang="es-ES" sz="2200" dirty="0"/>
              <a:t> Colores </a:t>
            </a:r>
            <a:r>
              <a:rPr lang="es-ES" sz="2200" dirty="0">
                <a:sym typeface="Wingdings" panose="05000000000000000000" pitchFamily="2" charset="2"/>
              </a:rPr>
              <a:t></a:t>
            </a:r>
            <a:r>
              <a:rPr lang="es-ES" sz="2200" dirty="0"/>
              <a:t> Fondo del Sitio. Ahí debes elegirlo.</a:t>
            </a:r>
            <a:br>
              <a:rPr lang="es-ES" dirty="0"/>
            </a:br>
            <a:endParaRPr lang="es-ES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304E737-5A25-4C58-2863-F217DBAC8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1640" y="1191822"/>
            <a:ext cx="2600688" cy="383911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9A72EB5-4CD2-16B4-1598-2031D0002D7B}"/>
              </a:ext>
            </a:extLst>
          </p:cNvPr>
          <p:cNvSpPr txBox="1"/>
          <p:nvPr/>
        </p:nvSpPr>
        <p:spPr>
          <a:xfrm>
            <a:off x="838200" y="1501887"/>
            <a:ext cx="74363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Para que se vea en todas las páginas:</a:t>
            </a:r>
          </a:p>
          <a:p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Personalizar </a:t>
            </a:r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Global </a:t>
            </a:r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Contenedor </a:t>
            </a:r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Estilo del contenedor </a:t>
            </a:r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Recuadro. </a:t>
            </a:r>
            <a:endParaRPr lang="es-ES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22D5255-438E-6CF5-FB66-702B45A46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705" y="3102964"/>
            <a:ext cx="5301526" cy="225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5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086DC-5787-3D72-8012-4B3F130D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Uso (RA7 20%)</a:t>
            </a:r>
            <a:br>
              <a:rPr lang="es-ES" b="1" dirty="0"/>
            </a:br>
            <a:r>
              <a:rPr lang="es-ES" sz="2000" b="1" dirty="0">
                <a:hlinkClick r:id="rId3"/>
              </a:rPr>
              <a:t>https://10.2.7.90/wordpress/</a:t>
            </a:r>
            <a:r>
              <a:rPr lang="es-ES" sz="2000" b="1" dirty="0"/>
              <a:t> </a:t>
            </a:r>
            <a:endParaRPr lang="es-E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E7656B-B216-1380-07D2-6268291CF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" y="1556836"/>
            <a:ext cx="9451530" cy="504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65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BD179-1EC4-5718-60AA-39CEF3C64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7681"/>
            <a:ext cx="10515600" cy="15959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000" dirty="0"/>
              <a:t>Tres páginas webs, siendo una de ellas de contacto con algún mapa de ubicación. (20%)</a:t>
            </a:r>
          </a:p>
          <a:p>
            <a:pPr marL="0" indent="0">
              <a:buNone/>
            </a:pPr>
            <a:r>
              <a:rPr lang="es-ES" dirty="0">
                <a:hlinkClick r:id="rId2"/>
              </a:rPr>
              <a:t>https://10.2.7.90/wordpress/proyectos/</a:t>
            </a:r>
            <a:endParaRPr lang="es-ES" dirty="0"/>
          </a:p>
          <a:p>
            <a:pPr lvl="1"/>
            <a:r>
              <a:rPr lang="es-ES" dirty="0">
                <a:hlinkClick r:id="rId3"/>
              </a:rPr>
              <a:t>http://10.2.7.90/wordpress/fog-project/</a:t>
            </a:r>
            <a:endParaRPr lang="es-ES" dirty="0"/>
          </a:p>
          <a:p>
            <a:pPr lvl="1"/>
            <a:r>
              <a:rPr lang="es-ES" dirty="0">
                <a:hlinkClick r:id="rId4"/>
              </a:rPr>
              <a:t>http://10.2.7.90/wordpress/servidor-de-streaming/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2D197AD-4E86-2B52-1590-4C5DEED9D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822" y="2083633"/>
            <a:ext cx="8022705" cy="392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26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2B147E-DC29-54B4-2627-82773D95F52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18279" y="566451"/>
            <a:ext cx="10515600" cy="179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800" dirty="0">
                <a:hlinkClick r:id="rId2"/>
              </a:rPr>
              <a:t>http://10.2.7.90/wordpress/videojuegos/</a:t>
            </a:r>
            <a:endParaRPr lang="es-E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400" dirty="0">
                <a:hlinkClick r:id="rId3"/>
              </a:rPr>
              <a:t>http://10.2.7.90/wordpress/mdk2/</a:t>
            </a:r>
            <a:endParaRPr lang="es-E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400" dirty="0">
                <a:hlinkClick r:id="rId4"/>
              </a:rPr>
              <a:t>http://10.2.7.90/wordpress/deus-ex/</a:t>
            </a:r>
            <a:endParaRPr lang="es-E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4300E21-1B78-C162-A149-A753DB54D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21" y="1824803"/>
            <a:ext cx="9897856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88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2530D-960A-BE31-E567-22BF2759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200" b="1" dirty="0"/>
              <a:t>Mapa con ubicación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EE1E3F-F9D5-7D9A-8BD6-6CD92FC19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3"/>
            <a:ext cx="10515600" cy="4962760"/>
          </a:xfrm>
        </p:spPr>
        <p:txBody>
          <a:bodyPr>
            <a:normAutofit/>
          </a:bodyPr>
          <a:lstStyle/>
          <a:p>
            <a:r>
              <a:rPr lang="es-ES" sz="2200" dirty="0"/>
              <a:t>Google </a:t>
            </a:r>
            <a:r>
              <a:rPr lang="es-ES" sz="2200" dirty="0" err="1"/>
              <a:t>Maps</a:t>
            </a:r>
            <a:r>
              <a:rPr lang="es-ES" sz="2200" dirty="0"/>
              <a:t> </a:t>
            </a:r>
            <a:r>
              <a:rPr lang="es-ES" sz="2200" dirty="0">
                <a:sym typeface="Wingdings" panose="05000000000000000000" pitchFamily="2" charset="2"/>
              </a:rPr>
              <a:t></a:t>
            </a:r>
            <a:r>
              <a:rPr lang="es-ES" sz="2200" dirty="0"/>
              <a:t> Compartir </a:t>
            </a:r>
            <a:r>
              <a:rPr lang="es-ES" sz="2200" dirty="0">
                <a:sym typeface="Wingdings" panose="05000000000000000000" pitchFamily="2" charset="2"/>
              </a:rPr>
              <a:t></a:t>
            </a:r>
            <a:r>
              <a:rPr lang="es-ES" sz="2200" dirty="0"/>
              <a:t> Para insertar en un Mapa</a:t>
            </a:r>
          </a:p>
          <a:p>
            <a:r>
              <a:rPr lang="es-ES" sz="2200" dirty="0"/>
              <a:t>Copias el código.</a:t>
            </a:r>
          </a:p>
          <a:p>
            <a:r>
              <a:rPr lang="es-ES" sz="2200" dirty="0"/>
              <a:t>Creas un bloque en la página </a:t>
            </a:r>
            <a:r>
              <a:rPr lang="es-ES" sz="2200" dirty="0">
                <a:sym typeface="Wingdings" panose="05000000000000000000" pitchFamily="2" charset="2"/>
              </a:rPr>
              <a:t> HTML Personalizado y copias el código</a:t>
            </a:r>
            <a:endParaRPr lang="es-ES" sz="2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48CCFD-43CD-D153-E145-32C857523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063" y="2580567"/>
            <a:ext cx="5130572" cy="391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2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32F4E-BE4D-3609-6BE7-E894F0B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b="1" dirty="0"/>
              <a:t>Dos páginas asociadas a categorías de entradas. (20%)</a:t>
            </a:r>
            <a:br>
              <a:rPr lang="es-ES" dirty="0"/>
            </a:b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08D4BB6-DA55-1C28-B752-B2CB25C41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939" y="1247849"/>
            <a:ext cx="4477375" cy="51632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D34EAD-A8FB-B2B7-F978-591D7486A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185" y="1177147"/>
            <a:ext cx="4077269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21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E0EC7-1CD3-D3D6-FF32-61CFA6AC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Gestión de Usuarios de </a:t>
            </a:r>
            <a:r>
              <a:rPr lang="es-ES" b="1" dirty="0" err="1"/>
              <a:t>Wordpress</a:t>
            </a:r>
            <a:r>
              <a:rPr lang="es-ES" b="1" dirty="0"/>
              <a:t> (RA3 10%)</a:t>
            </a:r>
            <a:br>
              <a:rPr lang="es-ES" b="1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7AF43-1310-C123-D6B0-54F32451B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737" y="1435881"/>
            <a:ext cx="3643859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200" b="1" dirty="0"/>
              <a:t>¿Qué son los perfiles?</a:t>
            </a:r>
          </a:p>
          <a:p>
            <a:pPr marL="0" indent="0">
              <a:buNone/>
            </a:pPr>
            <a:r>
              <a:rPr lang="es-ES" sz="2200" dirty="0"/>
              <a:t>Los </a:t>
            </a:r>
            <a:r>
              <a:rPr lang="es-ES" sz="2200" b="1" dirty="0"/>
              <a:t>roles de WordPress</a:t>
            </a:r>
            <a:r>
              <a:rPr lang="es-ES" sz="2200" dirty="0"/>
              <a:t> determinan las funciones y autorizaciones asignadas a cada usuario en la plataforma. Su objetivo es restringir o permitir tareas específicas, regulando desde la simple lectura de artículos hasta el control total de la web.</a:t>
            </a:r>
          </a:p>
          <a:p>
            <a:pPr marL="0" indent="0">
              <a:buNone/>
            </a:pPr>
            <a:r>
              <a:rPr lang="es-ES" sz="2200" u="sng" dirty="0">
                <a:hlinkClick r:id="rId2"/>
              </a:rPr>
              <a:t>https://www.wpbeginner.com/glossary/profile/</a:t>
            </a:r>
            <a:r>
              <a:rPr lang="es-ES" sz="2200" dirty="0"/>
              <a:t> 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0602A42-720F-21A8-F8E1-01F24B16BD41}"/>
              </a:ext>
            </a:extLst>
          </p:cNvPr>
          <p:cNvSpPr txBox="1"/>
          <p:nvPr/>
        </p:nvSpPr>
        <p:spPr>
          <a:xfrm>
            <a:off x="5260300" y="1352134"/>
            <a:ext cx="60935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¿Cuáles vienen creados?</a:t>
            </a:r>
          </a:p>
          <a:p>
            <a:r>
              <a:rPr lang="es-ES" sz="1800" b="1" dirty="0"/>
              <a:t>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0EB620-E7F6-C3A0-0212-0CCCE5637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19" y="1804415"/>
            <a:ext cx="3071731" cy="422992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E85CEBC-DD84-391E-5E95-9285C777E82F}"/>
              </a:ext>
            </a:extLst>
          </p:cNvPr>
          <p:cNvSpPr txBox="1"/>
          <p:nvPr/>
        </p:nvSpPr>
        <p:spPr>
          <a:xfrm>
            <a:off x="8728023" y="1816901"/>
            <a:ext cx="29493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Suscriptor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Colaborador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Autor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Editor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Administrador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698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8CC57-3A4A-369C-F731-F258EDD9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b="1" dirty="0"/>
              <a:t>¿Qué permisos tienen?</a:t>
            </a:r>
            <a:br>
              <a:rPr lang="es-ES" b="1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F6CE1-A207-1D53-5D9D-0AAA6FA6C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4282"/>
            <a:ext cx="10515600" cy="5082681"/>
          </a:xfrm>
        </p:spPr>
        <p:txBody>
          <a:bodyPr>
            <a:normAutofit/>
          </a:bodyPr>
          <a:lstStyle/>
          <a:p>
            <a:pPr lvl="0"/>
            <a:r>
              <a:rPr lang="es-ES" sz="2200" b="1" dirty="0"/>
              <a:t>Administrador:</a:t>
            </a:r>
            <a:r>
              <a:rPr lang="es-ES" sz="2200" dirty="0"/>
              <a:t> Tiene </a:t>
            </a:r>
            <a:r>
              <a:rPr lang="es-ES" sz="2200" b="1" dirty="0"/>
              <a:t>todos los permisos posibles</a:t>
            </a:r>
            <a:r>
              <a:rPr lang="es-ES" sz="2200" dirty="0"/>
              <a:t>. Controla la configuración del sistema, instalación de </a:t>
            </a:r>
            <a:r>
              <a:rPr lang="es-ES" sz="2200" dirty="0" err="1"/>
              <a:t>plugins</a:t>
            </a:r>
            <a:r>
              <a:rPr lang="es-ES" sz="2200" dirty="0"/>
              <a:t>/temas, actualizaciones y la gestión total de usuarios.</a:t>
            </a:r>
          </a:p>
          <a:p>
            <a:pPr lvl="0"/>
            <a:r>
              <a:rPr lang="es-ES" sz="2200" b="1" dirty="0"/>
              <a:t>Editor:</a:t>
            </a:r>
            <a:r>
              <a:rPr lang="es-ES" sz="2200" dirty="0"/>
              <a:t> Permisos totales sobre el </a:t>
            </a:r>
            <a:r>
              <a:rPr lang="es-ES" sz="2200" b="1" dirty="0"/>
              <a:t>contenido</a:t>
            </a:r>
            <a:r>
              <a:rPr lang="es-ES" sz="2200" dirty="0"/>
              <a:t>. Puede crear, editar, publicar y borrar cualquier entrada o página, además de moderar comentarios.</a:t>
            </a:r>
          </a:p>
          <a:p>
            <a:pPr lvl="0"/>
            <a:r>
              <a:rPr lang="es-ES" sz="2200" b="1" dirty="0"/>
              <a:t>Autor:</a:t>
            </a:r>
            <a:r>
              <a:rPr lang="es-ES" sz="2200" dirty="0"/>
              <a:t> Permisos sobre su </a:t>
            </a:r>
            <a:r>
              <a:rPr lang="es-ES" sz="2200" b="1" dirty="0"/>
              <a:t>propio contenido</a:t>
            </a:r>
            <a:r>
              <a:rPr lang="es-ES" sz="2200" dirty="0"/>
              <a:t>. Puede escribir, subir imágenes y publicar sus artículos, pero no puede tocar lo de los demás.</a:t>
            </a:r>
          </a:p>
          <a:p>
            <a:pPr lvl="0"/>
            <a:r>
              <a:rPr lang="es-ES" sz="2200" b="1" dirty="0"/>
              <a:t>Colaborador:</a:t>
            </a:r>
            <a:r>
              <a:rPr lang="es-ES" sz="2200" dirty="0"/>
              <a:t> Permisos de </a:t>
            </a:r>
            <a:r>
              <a:rPr lang="es-ES" sz="2200" b="1" dirty="0"/>
              <a:t>escritura limitada</a:t>
            </a:r>
            <a:r>
              <a:rPr lang="es-ES" sz="2200" dirty="0"/>
              <a:t>. Solo puede escribir y editar sus propios textos, pero carece de permisos para publicar o subir archivos.</a:t>
            </a:r>
          </a:p>
          <a:p>
            <a:pPr lvl="0"/>
            <a:r>
              <a:rPr lang="es-ES" sz="2200" b="1" dirty="0"/>
              <a:t>Suscriptor:</a:t>
            </a:r>
            <a:r>
              <a:rPr lang="es-ES" sz="2200" dirty="0"/>
              <a:t> Permiso </a:t>
            </a:r>
            <a:r>
              <a:rPr lang="es-ES" sz="2200" b="1" dirty="0"/>
              <a:t>únicamente de lectura</a:t>
            </a:r>
            <a:r>
              <a:rPr lang="es-ES" sz="2200" dirty="0"/>
              <a:t>. Solo puede ver el contenido y modificar los datos de su propio perfil.</a:t>
            </a:r>
          </a:p>
          <a:p>
            <a:pPr marL="0" indent="0">
              <a:buNone/>
            </a:pPr>
            <a:r>
              <a:rPr lang="es-ES" sz="2200" u="sng" dirty="0">
                <a:hlinkClick r:id="rId2"/>
              </a:rPr>
              <a:t>https://www.matrixinternet.ie/managing-user-roles-and-permissions-in-wordpress-the-complete-guide/</a:t>
            </a:r>
            <a:r>
              <a:rPr lang="es-ES" sz="2200" dirty="0"/>
              <a:t>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2086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98490-4D92-C023-9A9C-6A7A89F9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b="1" dirty="0"/>
              <a:t>Prueba a crear un nuevo perfil de usuario: cliente.</a:t>
            </a:r>
            <a:br>
              <a:rPr lang="es-ES" b="1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4D0416-90B2-536D-2FA0-A3DEAA403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4341"/>
            <a:ext cx="10515600" cy="5172622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Usamos plugin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User</a:t>
            </a:r>
            <a:r>
              <a:rPr lang="es-ES" dirty="0">
                <a:sym typeface="Wingdings" panose="05000000000000000000" pitchFamily="2" charset="2"/>
              </a:rPr>
              <a:t> Role Editor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AA23B4-E460-29C0-B8D2-5D4AAC097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1714500"/>
            <a:ext cx="5344160" cy="1714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E9F1E64-0E18-F98D-6344-B0C4A7CD7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20" y="1004341"/>
            <a:ext cx="3916680" cy="18853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4379596-1604-CC56-2737-D2044B754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560" y="3538831"/>
            <a:ext cx="4546600" cy="25283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20091B-C90E-3B98-0CBE-5DFAC16B9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5455" y="3031331"/>
            <a:ext cx="43148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78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6BA3F-62DA-A9DB-ACAA-98A07DB6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200" b="1" dirty="0"/>
              <a:t>Cuentas de usuario</a:t>
            </a:r>
            <a:br>
              <a:rPr lang="es-ES" b="1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3B9D4B-555F-5B1F-1B87-85FD6CCB2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321"/>
            <a:ext cx="10515600" cy="5142642"/>
          </a:xfrm>
        </p:spPr>
        <p:txBody>
          <a:bodyPr/>
          <a:lstStyle/>
          <a:p>
            <a:r>
              <a:rPr lang="es-ES" sz="2400" dirty="0"/>
              <a:t>Creación </a:t>
            </a:r>
          </a:p>
          <a:p>
            <a:r>
              <a:rPr lang="es-ES" sz="2400" dirty="0"/>
              <a:t>Gestión / modificación</a:t>
            </a:r>
          </a:p>
          <a:p>
            <a:r>
              <a:rPr lang="es-ES" sz="2400" dirty="0"/>
              <a:t>Borrado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944D07-B67E-8743-1199-16343DC64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23939"/>
            <a:ext cx="5943600" cy="299974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03A14A2-64F5-393D-DD35-650D5414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668" y="3126740"/>
            <a:ext cx="3752263" cy="26969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22ECAAE-C9D1-EE2E-0214-2947ACA13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399" y="818086"/>
            <a:ext cx="66777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69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3215D-5122-3846-ED24-EFEA7CB2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200" b="1" dirty="0"/>
              <a:t>Seguridad en la gestión de usuarios.</a:t>
            </a:r>
            <a:br>
              <a:rPr lang="es-ES" b="1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BFA82E-8AA3-4DE9-E69D-33DFBFC4C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4282"/>
            <a:ext cx="10515600" cy="5082681"/>
          </a:xfrm>
        </p:spPr>
        <p:txBody>
          <a:bodyPr/>
          <a:lstStyle/>
          <a:p>
            <a:pPr marL="108000" lvl="0">
              <a:lnSpc>
                <a:spcPct val="100000"/>
              </a:lnSpc>
              <a:spcBef>
                <a:spcPts val="0"/>
              </a:spcBef>
            </a:pPr>
            <a:r>
              <a:rPr lang="es-ES" sz="2000" b="1" dirty="0"/>
              <a:t>Claves robustas</a:t>
            </a:r>
            <a:r>
              <a:rPr lang="es-ES" sz="2000" dirty="0"/>
              <a:t>: Crear contraseñas complejas de 12 caracteres con letras, números y símbolos. </a:t>
            </a:r>
          </a:p>
          <a:p>
            <a:pPr marL="108000" lvl="0">
              <a:lnSpc>
                <a:spcPct val="100000"/>
              </a:lnSpc>
              <a:spcBef>
                <a:spcPts val="0"/>
              </a:spcBef>
            </a:pPr>
            <a:r>
              <a:rPr lang="es-ES" sz="2000" b="1" dirty="0"/>
              <a:t>Doble factor</a:t>
            </a:r>
            <a:r>
              <a:rPr lang="es-ES" sz="2000" dirty="0"/>
              <a:t>: Activar WP 2FA para exigir una segunda confirmación de identidad.</a:t>
            </a:r>
          </a:p>
          <a:p>
            <a:pPr marL="108000" lvl="0">
              <a:lnSpc>
                <a:spcPct val="100000"/>
              </a:lnSpc>
              <a:spcBef>
                <a:spcPts val="0"/>
              </a:spcBef>
            </a:pPr>
            <a:r>
              <a:rPr lang="es-ES" sz="2000" b="1" dirty="0"/>
              <a:t>Modificar identificador</a:t>
            </a:r>
            <a:r>
              <a:rPr lang="es-ES" sz="2000" dirty="0"/>
              <a:t>: Cambiar el usuario "</a:t>
            </a:r>
            <a:r>
              <a:rPr lang="es-ES" sz="2000" dirty="0" err="1"/>
              <a:t>admin</a:t>
            </a:r>
            <a:r>
              <a:rPr lang="es-ES" sz="2000" dirty="0"/>
              <a:t>" por defecto para evitar hackeos fáciles. </a:t>
            </a:r>
          </a:p>
          <a:p>
            <a:pPr marL="108000" lvl="0">
              <a:lnSpc>
                <a:spcPct val="100000"/>
              </a:lnSpc>
              <a:spcBef>
                <a:spcPts val="0"/>
              </a:spcBef>
            </a:pPr>
            <a:r>
              <a:rPr lang="es-ES" sz="2000" b="1" dirty="0"/>
              <a:t>Restringir acceso</a:t>
            </a:r>
            <a:r>
              <a:rPr lang="es-ES" sz="2000" dirty="0"/>
              <a:t>: Limitar intentos de inicio de sesión para bloquear ataques de fuerza bruta. 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D0DF6E-1BE0-0594-F835-8087F6A42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75" y="3429000"/>
            <a:ext cx="5559470" cy="304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32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67E07C-7808-6EB3-5C81-919F2A7B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 b="1">
                <a:solidFill>
                  <a:srgbClr val="FFFFFF"/>
                </a:solidFill>
              </a:rPr>
              <a:t>Plugins.(RA3 20%)</a:t>
            </a:r>
            <a:br>
              <a:rPr lang="es-ES" sz="4000" b="1">
                <a:solidFill>
                  <a:srgbClr val="FFFFFF"/>
                </a:solidFill>
              </a:rPr>
            </a:b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957960-31A2-41CE-2E02-193F1C9E8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dirty="0"/>
              <a:t>Un plugin de WordPress es un paquete de código instalable que añade nuevas funciones o extiende las capacidades del sitio web, operando de forma independiente al tema utilizado. </a:t>
            </a:r>
          </a:p>
          <a:p>
            <a:pPr marL="0" indent="0">
              <a:buNone/>
            </a:pPr>
            <a:r>
              <a:rPr lang="es-ES" sz="2400" dirty="0">
                <a:hlinkClick r:id="rId2"/>
              </a:rPr>
              <a:t>https://learn.wordpress.org/lesson/what-is-a-plugin/</a:t>
            </a:r>
            <a:r>
              <a:rPr lang="es-E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2560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E4034EB9-F485-3B96-AA5F-8C24845967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789943"/>
              </p:ext>
            </p:extLst>
          </p:nvPr>
        </p:nvGraphicFramePr>
        <p:xfrm>
          <a:off x="848818" y="345553"/>
          <a:ext cx="10494363" cy="6151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8121">
                  <a:extLst>
                    <a:ext uri="{9D8B030D-6E8A-4147-A177-3AD203B41FA5}">
                      <a16:colId xmlns:a16="http://schemas.microsoft.com/office/drawing/2014/main" val="572393226"/>
                    </a:ext>
                  </a:extLst>
                </a:gridCol>
                <a:gridCol w="3498121">
                  <a:extLst>
                    <a:ext uri="{9D8B030D-6E8A-4147-A177-3AD203B41FA5}">
                      <a16:colId xmlns:a16="http://schemas.microsoft.com/office/drawing/2014/main" val="2975451464"/>
                    </a:ext>
                  </a:extLst>
                </a:gridCol>
                <a:gridCol w="3498121">
                  <a:extLst>
                    <a:ext uri="{9D8B030D-6E8A-4147-A177-3AD203B41FA5}">
                      <a16:colId xmlns:a16="http://schemas.microsoft.com/office/drawing/2014/main" val="400535238"/>
                    </a:ext>
                  </a:extLst>
                </a:gridCol>
              </a:tblGrid>
              <a:tr h="397970">
                <a:tc>
                  <a:txBody>
                    <a:bodyPr/>
                    <a:lstStyle/>
                    <a:p>
                      <a:r>
                        <a:rPr lang="es-ES" dirty="0"/>
                        <a:t>Categoría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Función principal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52453"/>
                  </a:ext>
                </a:extLst>
              </a:tr>
              <a:tr h="981296">
                <a:tc>
                  <a:txBody>
                    <a:bodyPr/>
                    <a:lstStyle/>
                    <a:p>
                      <a:r>
                        <a:rPr lang="es-ES" dirty="0"/>
                        <a:t>Seguridad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</a:t>
                      </a:r>
                      <a:r>
                        <a:rPr lang="es-ES" dirty="0"/>
                        <a:t>-In-</a:t>
                      </a:r>
                      <a:r>
                        <a:rPr lang="es-ES" dirty="0" err="1"/>
                        <a:t>One</a:t>
                      </a:r>
                      <a:r>
                        <a:rPr lang="es-ES" dirty="0"/>
                        <a:t>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Protege el sitio mediante firewall, </a:t>
                      </a:r>
                      <a:r>
                        <a:rPr lang="es-ES" dirty="0" err="1"/>
                        <a:t>antisuplantación</a:t>
                      </a:r>
                      <a:r>
                        <a:rPr lang="es-ES" dirty="0"/>
                        <a:t> y bloqueo de ataques de fuerza bruta.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077501"/>
                  </a:ext>
                </a:extLst>
              </a:tr>
              <a:tr h="981296">
                <a:tc>
                  <a:txBody>
                    <a:bodyPr/>
                    <a:lstStyle/>
                    <a:p>
                      <a:r>
                        <a:rPr lang="es-ES" dirty="0"/>
                        <a:t>SEO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Yoast SEO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Optimiza el contenido, palabras clave y metadatos para mejorar el posicionamiento en buscadores.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186022"/>
                  </a:ext>
                </a:extLst>
              </a:tr>
              <a:tr h="981296">
                <a:tc>
                  <a:txBody>
                    <a:bodyPr/>
                    <a:lstStyle/>
                    <a:p>
                      <a:r>
                        <a:rPr lang="es-ES" dirty="0"/>
                        <a:t>Velocidad de carga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WP Super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Genera páginas HTML estáticas para reducir el tiempo de carga del servidor.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848962"/>
                  </a:ext>
                </a:extLst>
              </a:tr>
              <a:tr h="981296">
                <a:tc>
                  <a:txBody>
                    <a:bodyPr/>
                    <a:lstStyle/>
                    <a:p>
                      <a:r>
                        <a:rPr lang="es-ES" dirty="0"/>
                        <a:t>Estadísticas de visitas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WP </a:t>
                      </a:r>
                      <a:r>
                        <a:rPr lang="es-ES" dirty="0" err="1"/>
                        <a:t>Statistics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Registra y analiza las visitas y comportamiento de usuarios de forma local y privada.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87173"/>
                  </a:ext>
                </a:extLst>
              </a:tr>
              <a:tr h="397970">
                <a:tc>
                  <a:txBody>
                    <a:bodyPr/>
                    <a:lstStyle/>
                    <a:p>
                      <a:r>
                        <a:rPr lang="es-ES" dirty="0"/>
                        <a:t>Sindicación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RSS </a:t>
                      </a:r>
                      <a:r>
                        <a:rPr lang="es-ES" dirty="0" err="1"/>
                        <a:t>Aggregator</a:t>
                      </a:r>
                      <a:r>
                        <a:rPr lang="es-ES" dirty="0"/>
                        <a:t> (</a:t>
                      </a:r>
                      <a:r>
                        <a:rPr lang="es-ES" dirty="0" err="1"/>
                        <a:t>Feedzy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Importa y gestiona fuentes RSS externas para mostrar contenido actualizado automáticamente.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956727"/>
                  </a:ext>
                </a:extLst>
              </a:tr>
              <a:tr h="397970">
                <a:tc>
                  <a:txBody>
                    <a:bodyPr/>
                    <a:lstStyle/>
                    <a:p>
                      <a:r>
                        <a:rPr lang="es-ES" dirty="0"/>
                        <a:t>Comercio electrónico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WooCommerce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Transforma el sitio en una tienda online completa para vender productos físicos o digitales.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39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9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3CD4C-2EED-C29F-2843-D74DECFC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Seguridad de </a:t>
            </a:r>
            <a:r>
              <a:rPr lang="es-ES" dirty="0" err="1"/>
              <a:t>Wordpress</a:t>
            </a:r>
            <a:r>
              <a:rPr lang="es-ES" dirty="0"/>
              <a:t>. (RA2/RA7 20%)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5EE50E-DAE6-92F5-D53A-B179A6A98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200" b="1" dirty="0"/>
              <a:t>Actualización.</a:t>
            </a:r>
          </a:p>
          <a:p>
            <a:pPr marL="0" indent="0">
              <a:buNone/>
            </a:pPr>
            <a:r>
              <a:rPr lang="es-ES" sz="2200" dirty="0"/>
              <a:t>Actualizaciones: Panel </a:t>
            </a:r>
            <a:r>
              <a:rPr lang="es-ES" sz="2200" dirty="0">
                <a:sym typeface="Wingdings" panose="05000000000000000000" pitchFamily="2" charset="2"/>
              </a:rPr>
              <a:t></a:t>
            </a:r>
            <a:r>
              <a:rPr lang="es-ES" sz="2200" dirty="0"/>
              <a:t> Escritorio </a:t>
            </a:r>
            <a:r>
              <a:rPr lang="es-ES" sz="2200" dirty="0">
                <a:sym typeface="Wingdings" panose="05000000000000000000" pitchFamily="2" charset="2"/>
              </a:rPr>
              <a:t></a:t>
            </a:r>
            <a:r>
              <a:rPr lang="es-ES" sz="2200" dirty="0"/>
              <a:t> Actualizaciones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25EC6A-B935-2E38-1986-5E82E739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95587"/>
            <a:ext cx="5115560" cy="12668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40E76E-95B0-B790-1020-667818788EF2}"/>
              </a:ext>
            </a:extLst>
          </p:cNvPr>
          <p:cNvSpPr txBox="1"/>
          <p:nvPr/>
        </p:nvSpPr>
        <p:spPr>
          <a:xfrm>
            <a:off x="838200" y="4197349"/>
            <a:ext cx="41685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Actualizaciones de </a:t>
            </a:r>
            <a:r>
              <a:rPr lang="es-ES" sz="2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plugin</a:t>
            </a:r>
            <a:r>
              <a:rPr lang="es-ES" sz="2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</a:t>
            </a:r>
            <a:r>
              <a:rPr lang="es-ES" sz="22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s-ES" sz="2200" b="1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temas y otros elementos</a:t>
            </a:r>
            <a:r>
              <a:rPr lang="es-ES" sz="22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También se pueden hacer en la misma sección.</a:t>
            </a:r>
            <a:endParaRPr lang="es-ES" sz="2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A8ADA9-3C7D-B598-786A-9AE10B3A4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22880"/>
            <a:ext cx="5943600" cy="376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16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51BED-5D9A-DBAB-5CB9-C91D4123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b="1" dirty="0"/>
              <a:t>Informes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C19DB2-0804-5110-2701-500156B2B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085"/>
            <a:ext cx="10515600" cy="4782878"/>
          </a:xfrm>
        </p:spPr>
        <p:txBody>
          <a:bodyPr/>
          <a:lstStyle/>
          <a:p>
            <a:r>
              <a:rPr lang="es-ES" sz="2000" dirty="0"/>
              <a:t>Usamos el plugin “</a:t>
            </a:r>
            <a:r>
              <a:rPr lang="es-ES" sz="2000" b="1" dirty="0"/>
              <a:t>AIOS</a:t>
            </a:r>
            <a:r>
              <a:rPr lang="es-ES" sz="2000" dirty="0"/>
              <a:t>” que genera informes.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1D2662-13E3-35FA-A1BF-19E0FA818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82" y="2019033"/>
            <a:ext cx="10469436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21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78024-0C04-64E1-FD2C-FE74C024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600" b="1" dirty="0" err="1"/>
              <a:t>Backup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132400-6806-46D4-F1BE-2F2916591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9390"/>
            <a:ext cx="10515600" cy="5247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Usamos el plugin “</a:t>
            </a:r>
            <a:r>
              <a:rPr lang="es-ES" sz="2400" b="1" dirty="0" err="1"/>
              <a:t>UpdraftPlus</a:t>
            </a:r>
            <a:r>
              <a:rPr lang="es-ES" sz="2400" dirty="0"/>
              <a:t>”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475807-2B32-DD5C-21AE-191DA83A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82" y="1425909"/>
            <a:ext cx="9138466" cy="212156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063AC9D-7CDB-EB59-F491-CC52C9458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" y="3636455"/>
            <a:ext cx="7132320" cy="254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93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995E0-E3A5-55AD-3480-7C4B4D87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 b="1" dirty="0"/>
              <a:t>Restauración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FB3975F-F39C-FA2E-F817-7C062A362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0037"/>
            <a:ext cx="10515600" cy="357567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34FBF94-7D77-DCDD-46E7-600D7618A065}"/>
              </a:ext>
            </a:extLst>
          </p:cNvPr>
          <p:cNvSpPr txBox="1"/>
          <p:nvPr/>
        </p:nvSpPr>
        <p:spPr>
          <a:xfrm>
            <a:off x="838200" y="13213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 err="1"/>
              <a:t>UpdraftPlus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2353998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C61D3-9876-E480-F635-2F61BED6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Buenas prácticas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1CB5FF-32E9-F2F3-8476-A3180C9AD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s-ES" b="1" dirty="0"/>
              <a:t>Tener la web con HTTPS:</a:t>
            </a:r>
            <a:r>
              <a:rPr lang="es-ES" dirty="0"/>
              <a:t> Activar el candado de seguridad en el navegador usando un certificado gratuito de </a:t>
            </a:r>
            <a:r>
              <a:rPr lang="es-ES" i="1" dirty="0" err="1"/>
              <a:t>Let's</a:t>
            </a:r>
            <a:r>
              <a:rPr lang="es-ES" i="1" dirty="0"/>
              <a:t> </a:t>
            </a:r>
            <a:r>
              <a:rPr lang="es-ES" i="1" dirty="0" err="1"/>
              <a:t>Encrypt</a:t>
            </a:r>
            <a:r>
              <a:rPr lang="es-ES" dirty="0"/>
              <a:t>.</a:t>
            </a:r>
          </a:p>
          <a:p>
            <a:pPr marL="514350" indent="-514350">
              <a:buFont typeface="+mj-lt"/>
              <a:buAutoNum type="arabicParenR"/>
            </a:pPr>
            <a:r>
              <a:rPr lang="es-ES" b="1" dirty="0"/>
              <a:t>Instalar el plugin AIOS:</a:t>
            </a:r>
            <a:r>
              <a:rPr lang="es-ES" dirty="0"/>
              <a:t> Usar su firewall para bloquear ataques.</a:t>
            </a:r>
          </a:p>
          <a:p>
            <a:pPr marL="514350" indent="-514350">
              <a:buFont typeface="+mj-lt"/>
              <a:buAutoNum type="arabicParenR"/>
            </a:pPr>
            <a:r>
              <a:rPr lang="es-ES" b="1" dirty="0"/>
              <a:t>Controlar los intentos de </a:t>
            </a:r>
            <a:r>
              <a:rPr lang="es-ES" b="1" dirty="0" err="1"/>
              <a:t>login</a:t>
            </a:r>
            <a:r>
              <a:rPr lang="es-ES" b="1" dirty="0"/>
              <a:t>:</a:t>
            </a:r>
            <a:r>
              <a:rPr lang="es-ES" dirty="0"/>
              <a:t> Configurar el sistema para que bloquee temporalmente a cualquiera que falle la contraseña varias veces seguidas.</a:t>
            </a:r>
          </a:p>
          <a:p>
            <a:pPr marL="514350" indent="-514350">
              <a:buFont typeface="+mj-lt"/>
              <a:buAutoNum type="arabicParenR"/>
            </a:pPr>
            <a:r>
              <a:rPr lang="es-ES" b="1" dirty="0"/>
              <a:t>Hacer copias de seguridad (</a:t>
            </a:r>
            <a:r>
              <a:rPr lang="es-ES" b="1" dirty="0" err="1"/>
              <a:t>Backups</a:t>
            </a:r>
            <a:r>
              <a:rPr lang="es-ES" b="1" dirty="0"/>
              <a:t>):</a:t>
            </a:r>
            <a:r>
              <a:rPr lang="es-ES" dirty="0"/>
              <a:t> Programar copias automáticas cada cierto tiempo y comprobar de vez en cuando que los archivos funcionan y no están rotos.</a:t>
            </a:r>
          </a:p>
          <a:p>
            <a:pPr marL="514350" indent="-514350">
              <a:buFont typeface="+mj-lt"/>
              <a:buAutoNum type="arabicParenR"/>
            </a:pPr>
            <a:r>
              <a:rPr lang="es-ES" b="1" dirty="0"/>
              <a:t>No dar permisos de más:</a:t>
            </a:r>
            <a:r>
              <a:rPr lang="es-ES" dirty="0"/>
              <a:t> Crear a los usuarios con el perfil justo para lo que van a hacer (por ejemplo, si solo va a escribir, ponerlo como </a:t>
            </a:r>
            <a:r>
              <a:rPr lang="es-ES" i="1" dirty="0"/>
              <a:t>Autor</a:t>
            </a:r>
            <a:r>
              <a:rPr lang="es-ES" dirty="0"/>
              <a:t>, nunca como </a:t>
            </a:r>
            <a:r>
              <a:rPr lang="es-ES" i="1" dirty="0"/>
              <a:t>Administrador</a:t>
            </a:r>
            <a:r>
              <a:rPr lang="es-ES" dirty="0"/>
              <a:t>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2164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1283</Words>
  <Application>Microsoft Office PowerPoint</Application>
  <PresentationFormat>Panorámica</PresentationFormat>
  <Paragraphs>134</Paragraphs>
  <Slides>26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Tema de Office</vt:lpstr>
      <vt:lpstr>UD6 Gestor de contenidos I. Wordpress</vt:lpstr>
      <vt:lpstr>Instalación de Wordpress (RA2 10%) ¿Cuáles son los requerimientos para poder instalar Wordpress? </vt:lpstr>
      <vt:lpstr>¿Qué elementos vamos a instalar? </vt:lpstr>
      <vt:lpstr>Muestra final de que todo funciona correctamente https://10.2.7.90/wordpress/wp-admin/ </vt:lpstr>
      <vt:lpstr>Personalización de Wordpress (RA7 20%) Gestión de temas </vt:lpstr>
      <vt:lpstr>Gestión de widgets (secciones). Son bloques de contenido que permiten añadir funcionalidades Se suelen usar en las barras laterales y los pies de página. Se gestionan desde Apariencia  Widgets. Y luego se incluyen desde las opciones generales o desde cada una de las páginas.</vt:lpstr>
      <vt:lpstr>Gestión de menús Apariencia  Menú </vt:lpstr>
      <vt:lpstr>Gestión de cabecera y pie. </vt:lpstr>
      <vt:lpstr>Gestión del fondo. Apariencia  Personalizar Global  Colores  Fondo del Sitio. Ahí debes elegirlo. </vt:lpstr>
      <vt:lpstr>Uso (RA7 20%) https://10.2.7.90/wordpress/ </vt:lpstr>
      <vt:lpstr>Presentación de PowerPoint</vt:lpstr>
      <vt:lpstr>Presentación de PowerPoint</vt:lpstr>
      <vt:lpstr>Mapa con ubicación</vt:lpstr>
      <vt:lpstr>Dos páginas asociadas a categorías de entradas. (20%) </vt:lpstr>
      <vt:lpstr>Gestión de Usuarios de Wordpress (RA3 10%) </vt:lpstr>
      <vt:lpstr>¿Qué permisos tienen? </vt:lpstr>
      <vt:lpstr>Prueba a crear un nuevo perfil de usuario: cliente. </vt:lpstr>
      <vt:lpstr>Cuentas de usuario </vt:lpstr>
      <vt:lpstr>Seguridad en la gestión de usuarios. </vt:lpstr>
      <vt:lpstr>Plugins.(RA3 20%) </vt:lpstr>
      <vt:lpstr>Presentación de PowerPoint</vt:lpstr>
      <vt:lpstr>Seguridad de Wordpress. (RA2/RA7 20%)</vt:lpstr>
      <vt:lpstr>Informes</vt:lpstr>
      <vt:lpstr>Backup </vt:lpstr>
      <vt:lpstr>Restauración</vt:lpstr>
      <vt:lpstr>Buenas prácticas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UsuarioASIR</cp:lastModifiedBy>
  <cp:revision>33</cp:revision>
  <dcterms:created xsi:type="dcterms:W3CDTF">2026-05-24T14:13:05Z</dcterms:created>
  <dcterms:modified xsi:type="dcterms:W3CDTF">2026-05-26T10:47:57Z</dcterms:modified>
</cp:coreProperties>
</file>