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409A86-13E3-40A0-98B5-F56301C7E146}">
  <a:tblStyle styleId="{E6409A86-13E3-40A0-98B5-F56301C7E146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3B42619E-8626-4204-97FB-77F62A249E7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CenturyGothic-bold.fntdata"/><Relationship Id="rId10" Type="http://schemas.openxmlformats.org/officeDocument/2006/relationships/slide" Target="slides/slide4.xml"/><Relationship Id="rId21" Type="http://schemas.openxmlformats.org/officeDocument/2006/relationships/font" Target="fonts/CenturyGothic-regular.fntdata"/><Relationship Id="rId13" Type="http://schemas.openxmlformats.org/officeDocument/2006/relationships/slide" Target="slides/slide7.xml"/><Relationship Id="rId24" Type="http://schemas.openxmlformats.org/officeDocument/2006/relationships/font" Target="fonts/CenturyGothic-boldItalic.fntdata"/><Relationship Id="rId12" Type="http://schemas.openxmlformats.org/officeDocument/2006/relationships/slide" Target="slides/slide6.xml"/><Relationship Id="rId23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2feb9305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a2feb9305c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2feb9305c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a2feb9305c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2feb9305c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a2feb9305c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2feb9305c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2feb9305c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l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0414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Century Gothic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833C0B"/>
              </a:buClr>
              <a:buSzPts val="2400"/>
              <a:buNone/>
              <a:defRPr sz="2400">
                <a:solidFill>
                  <a:srgbClr val="833C0B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62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1850" y="274638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1850" y="1489075"/>
            <a:ext cx="51562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1850" y="2193925"/>
            <a:ext cx="5156200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89663" y="1489075"/>
            <a:ext cx="5157787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89663" y="2193925"/>
            <a:ext cx="5157787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ley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ley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iego.com.es/formularios-en-php#SubidaMultipleDeArchivo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hyperlink" Target="http://www.mclibre.org/consultar/php/lecciones/php-controles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iego.com.es/formularios-en-php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iego.com.es/arrays-en-php#ArraysMultidimensionale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anerbarrena.com/php-time-ejemplos-obtener-hora-actual-3308/" TargetMode="External"/><Relationship Id="rId4" Type="http://schemas.openxmlformats.org/officeDocument/2006/relationships/hyperlink" Target="https://www.anerbarrena.com/php-array-tipos-ejemplos-3876/" TargetMode="External"/><Relationship Id="rId5" Type="http://schemas.openxmlformats.org/officeDocument/2006/relationships/hyperlink" Target="https://www.anerbarrena.com/php-setlocale-4939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anerbarrena.com/php-strftime-4937/" TargetMode="External"/><Relationship Id="rId4" Type="http://schemas.openxmlformats.org/officeDocument/2006/relationships/hyperlink" Target="https://www.anerbarrena.com/php-strftime-4937/" TargetMode="External"/><Relationship Id="rId5" Type="http://schemas.openxmlformats.org/officeDocument/2006/relationships/hyperlink" Target="https://www.anerbarrena.com/comparar-fechas-php-5652/" TargetMode="External"/><Relationship Id="rId6" Type="http://schemas.openxmlformats.org/officeDocument/2006/relationships/hyperlink" Target="https://www.anerbarrena.com/sumar-restar-fechas-php-565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ctrTitle"/>
          </p:nvPr>
        </p:nvSpPr>
        <p:spPr>
          <a:xfrm>
            <a:off x="1429871" y="200958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Century Gothic"/>
              <a:buNone/>
            </a:pPr>
            <a:r>
              <a:rPr lang="es-ES"/>
              <a:t>Creación formularios mediante PHP.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s-ES"/>
              <a:t>¿Qué es un formulario?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838200" y="1444625"/>
            <a:ext cx="10515600" cy="3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Son elementos de las páginas web que </a:t>
            </a:r>
            <a:r>
              <a:rPr b="1" lang="es-ES" sz="2400"/>
              <a:t>permiten recoger valores del usuario</a:t>
            </a:r>
            <a:r>
              <a:rPr lang="es-ES" sz="2400"/>
              <a:t> y enviarlos a una URL(una pagina php) </a:t>
            </a:r>
            <a:r>
              <a:rPr b="1" lang="es-ES" sz="2400"/>
              <a:t>para ser procesados</a:t>
            </a:r>
            <a:r>
              <a:rPr lang="es-ES" sz="24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HTML proporciona una gran </a:t>
            </a:r>
            <a:r>
              <a:rPr b="1" lang="es-ES" sz="2400"/>
              <a:t>variedad de controles </a:t>
            </a:r>
            <a:r>
              <a:rPr lang="es-ES" sz="2400"/>
              <a:t>para almacenar dicha información. (cuadro de texto,check,cuadro combinados..etc)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Todos los controles deben ubicarse dentro de un elemento </a:t>
            </a:r>
            <a:r>
              <a:rPr b="1" lang="es-ES" sz="2400"/>
              <a:t>Form.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Se pueden utilizar dos métodos para enviar dicha información, </a:t>
            </a:r>
            <a:r>
              <a:rPr b="1" lang="es-ES" sz="2400"/>
              <a:t>GET y POST.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4858" y="4716160"/>
            <a:ext cx="4213552" cy="191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2975" y="4944759"/>
            <a:ext cx="4027031" cy="136191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>
            <a:off x="6938682" y="5446059"/>
            <a:ext cx="537900" cy="60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s-ES"/>
              <a:t>Métodos GET y POST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838200" y="1825625"/>
            <a:ext cx="10515600" cy="4736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</a:pPr>
            <a:r>
              <a:rPr b="1" lang="es-ES" sz="2380"/>
              <a:t>$_GET</a:t>
            </a:r>
            <a:r>
              <a:rPr lang="es-ES" sz="2380"/>
              <a:t> y </a:t>
            </a:r>
            <a:r>
              <a:rPr b="1" lang="es-ES" sz="2380"/>
              <a:t>$_POST</a:t>
            </a:r>
            <a:r>
              <a:rPr lang="es-ES" sz="2380"/>
              <a:t> son variables superglobales que forman arrays de </a:t>
            </a:r>
            <a:r>
              <a:rPr i="1" lang="es-ES" sz="2380"/>
              <a:t>keys</a:t>
            </a:r>
            <a:r>
              <a:rPr lang="es-ES" sz="2380"/>
              <a:t> y </a:t>
            </a:r>
            <a:r>
              <a:rPr i="1" lang="es-ES" sz="2380"/>
              <a:t>values</a:t>
            </a:r>
            <a:r>
              <a:rPr lang="es-ES" sz="2380"/>
              <a:t>. El hecho de que sean </a:t>
            </a:r>
            <a:r>
              <a:rPr b="1" i="1" lang="es-ES" sz="2380"/>
              <a:t>superglobals</a:t>
            </a:r>
            <a:r>
              <a:rPr lang="es-ES" sz="2380"/>
              <a:t> hace que sean accesibles desde el script independientemente del ámbito.</a:t>
            </a:r>
            <a:endParaRPr/>
          </a:p>
          <a:p>
            <a:pPr indent="-77470" lvl="0" marL="228600" rtl="0" algn="l">
              <a:lnSpc>
                <a:spcPct val="70000"/>
              </a:lnSpc>
              <a:spcBef>
                <a:spcPts val="714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t/>
            </a:r>
            <a:endParaRPr sz="2380"/>
          </a:p>
          <a:p>
            <a:pPr indent="-228600" lvl="0" marL="228600" rtl="0" algn="l">
              <a:lnSpc>
                <a:spcPct val="70000"/>
              </a:lnSpc>
              <a:spcBef>
                <a:spcPts val="714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</a:pPr>
            <a:r>
              <a:rPr b="1" lang="es-ES" sz="2380"/>
              <a:t>$_GET</a:t>
            </a:r>
            <a:r>
              <a:rPr lang="es-ES" sz="2380"/>
              <a:t> es un array de variables que se pasan al script a través de los </a:t>
            </a:r>
            <a:r>
              <a:rPr b="1" lang="es-ES" sz="2380"/>
              <a:t>parámetros de URL</a:t>
            </a:r>
            <a:r>
              <a:rPr lang="es-ES" sz="2380"/>
              <a:t>. La información que se envía es visible para todo el mundo y tiene limitada la cantidad de información que se puede enviar a 2000 caracteres.</a:t>
            </a:r>
            <a:endParaRPr/>
          </a:p>
          <a:p>
            <a:pPr indent="-77470" lvl="0" marL="228600" rtl="0" algn="l">
              <a:lnSpc>
                <a:spcPct val="70000"/>
              </a:lnSpc>
              <a:spcBef>
                <a:spcPts val="714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t/>
            </a:r>
            <a:endParaRPr sz="2380"/>
          </a:p>
          <a:p>
            <a:pPr indent="-228600" lvl="0" marL="228600" rtl="0" algn="l">
              <a:lnSpc>
                <a:spcPct val="70000"/>
              </a:lnSpc>
              <a:spcBef>
                <a:spcPts val="714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</a:pPr>
            <a:r>
              <a:rPr b="1" lang="es-ES" sz="2380"/>
              <a:t>$_POST</a:t>
            </a:r>
            <a:r>
              <a:rPr lang="es-ES" sz="2380"/>
              <a:t> es un array de variables que se pasan al script a través del método </a:t>
            </a:r>
            <a:r>
              <a:rPr b="1" lang="es-ES" sz="2380"/>
              <a:t>HTTP POST</a:t>
            </a:r>
            <a:r>
              <a:rPr lang="es-ES" sz="2380"/>
              <a:t>. La información que se envía no es visible para los demás ya que los nombres y variables van embebidas en el </a:t>
            </a:r>
            <a:r>
              <a:rPr b="1" i="1" lang="es-ES" sz="2380"/>
              <a:t>body</a:t>
            </a:r>
            <a:r>
              <a:rPr lang="es-ES" sz="2380"/>
              <a:t> del </a:t>
            </a:r>
            <a:r>
              <a:rPr b="1" lang="es-ES" sz="2380"/>
              <a:t>HTTP request</a:t>
            </a:r>
            <a:r>
              <a:rPr lang="es-ES" sz="2380"/>
              <a:t>. No tiene límites en la cantidad de información a enviar. Soporta datos de entrada </a:t>
            </a:r>
            <a:r>
              <a:rPr b="1" i="1" lang="es-ES" sz="2380"/>
              <a:t>multi-part binary</a:t>
            </a:r>
            <a:r>
              <a:rPr lang="es-ES" sz="2380"/>
              <a:t> a la hora se subir archivos al servidor (lo que permite </a:t>
            </a:r>
            <a:r>
              <a:rPr lang="es-ES" sz="2380" u="sng">
                <a:solidFill>
                  <a:schemeClr val="hlink"/>
                </a:solidFill>
                <a:hlinkClick r:id="rId3"/>
              </a:rPr>
              <a:t>subir múltiples archivos a la vez</a:t>
            </a:r>
            <a:r>
              <a:rPr lang="es-ES" sz="2380"/>
              <a:t>).</a:t>
            </a:r>
            <a:endParaRPr/>
          </a:p>
          <a:p>
            <a:pPr indent="-77470" lvl="0" marL="228600" rtl="0" algn="l">
              <a:lnSpc>
                <a:spcPct val="70000"/>
              </a:lnSpc>
              <a:spcBef>
                <a:spcPts val="714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t/>
            </a:r>
            <a:endParaRPr sz="238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s-ES"/>
              <a:t>Tipos de controles </a:t>
            </a:r>
            <a:r>
              <a:rPr lang="es-ES"/>
              <a:t>más</a:t>
            </a:r>
            <a:r>
              <a:rPr lang="es-ES"/>
              <a:t> utilizados</a:t>
            </a:r>
            <a:endParaRPr/>
          </a:p>
        </p:txBody>
      </p:sp>
      <p:pic>
        <p:nvPicPr>
          <p:cNvPr id="110" name="Google Shape;110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954" y="1690688"/>
            <a:ext cx="12043046" cy="393018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1586752" y="5943600"/>
            <a:ext cx="6763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sng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Ejemplos de como utilizar los controles enumerados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s-ES"/>
              <a:t>Validaciones de formularios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838200" y="1489448"/>
            <a:ext cx="10515600" cy="4736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s-ES" sz="2400"/>
              <a:t>La </a:t>
            </a:r>
            <a:r>
              <a:rPr b="1" lang="es-ES" sz="2400"/>
              <a:t>validación de formularios</a:t>
            </a:r>
            <a:r>
              <a:rPr lang="es-ES" sz="2400"/>
              <a:t> es algo fundamental ya que previene posibles ataques de intrusos y nos permite asegurar que los datos que se reciben son realmente del tipo deseado.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s-ES" sz="2400"/>
              <a:t>Existen </a:t>
            </a:r>
            <a:r>
              <a:rPr b="1" lang="es-ES" sz="2400"/>
              <a:t>dos formas de validación de formularios</a:t>
            </a:r>
            <a:r>
              <a:rPr lang="es-ES" sz="2400"/>
              <a:t>: en el lado del cliente (JavaScript, más rápido) y en el lado del servidor (PHP, más costoso para el servidor).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s-ES" sz="2400"/>
              <a:t>Podemos utilizar el atributo </a:t>
            </a:r>
            <a:r>
              <a:rPr b="1" i="1" lang="es-ES" sz="2400"/>
              <a:t>maxlength</a:t>
            </a:r>
            <a:r>
              <a:rPr lang="es-ES" sz="2400"/>
              <a:t> limita el número de caracteres para una caja de texto.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s-ES" sz="2400"/>
              <a:t>Podemos validar los datos en el mismo script incluyendo en el action </a:t>
            </a:r>
            <a:r>
              <a:rPr b="1" lang="es-ES" sz="2400"/>
              <a:t>&lt;form action="&lt;?php $_SERVER['PHP_SELF']; ?&gt;" method="post"&gt;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s-ES" sz="2400"/>
              <a:t>Esto lo que hace que los datos se envíen al mismo archivo, en lugar de llevarlos a otro archivo para tratarlos. 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ES" sz="2000" u="sng">
                <a:solidFill>
                  <a:schemeClr val="hlink"/>
                </a:solidFill>
                <a:hlinkClick r:id="rId3"/>
              </a:rPr>
              <a:t>Ejemplos de posibles validaciones</a:t>
            </a:r>
            <a:r>
              <a:rPr lang="es-ES" sz="2400"/>
              <a:t>.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s-ES"/>
              <a:t>Subir ficheros con formularios POST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838200" y="1825625"/>
            <a:ext cx="10515600" cy="4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s-ES" sz="2590"/>
              <a:t>Debemos configurar las directivas files_uploads, upload_tmp_dir, upload_max_filesize del fichero php.ini vinculado al servidor apache.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777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s-ES" sz="2590"/>
              <a:t>Es necesario que los permisos tanto del </a:t>
            </a:r>
            <a:r>
              <a:rPr b="1" lang="es-ES" sz="2590"/>
              <a:t>directorio temporal</a:t>
            </a:r>
            <a:r>
              <a:rPr lang="es-ES" sz="2590"/>
              <a:t> como del </a:t>
            </a:r>
            <a:r>
              <a:rPr b="1" lang="es-ES" sz="2590"/>
              <a:t>directorio final</a:t>
            </a:r>
            <a:r>
              <a:rPr lang="es-ES" sz="2590"/>
              <a:t> sean de escritura.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777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s-ES" sz="2590"/>
              <a:t>Para que un formulario tenga la capacidad de aceptar archivos se añade el atributo </a:t>
            </a:r>
            <a:r>
              <a:rPr b="1" i="1" lang="es-ES" sz="2590"/>
              <a:t>enctype="multipart/form-data"</a:t>
            </a:r>
            <a:r>
              <a:rPr lang="es-ES" sz="2590"/>
              <a:t> al elemento form.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777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s-ES" sz="2590"/>
              <a:t>Lo más laborioso a la hora de hacer un formulario que permita la subida de archivos es </a:t>
            </a:r>
            <a:r>
              <a:rPr b="1" lang="es-ES" sz="2590"/>
              <a:t>manejarlos y organizarlos una vez están en el servidor</a:t>
            </a:r>
            <a:r>
              <a:rPr lang="es-ES" sz="2590"/>
              <a:t>. Inicialmente los archivos se suben a un directorio temporal y luego se relocalizan.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777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t/>
            </a:r>
            <a:endParaRPr sz="259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s-ES"/>
              <a:t>Subir ficheros con formularios POST</a:t>
            </a:r>
            <a:endParaRPr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838200" y="1825625"/>
            <a:ext cx="10515600" cy="4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La información sobre un archivo subido la proporciona el </a:t>
            </a:r>
            <a:r>
              <a:rPr lang="es-ES" sz="2400" u="sng">
                <a:solidFill>
                  <a:schemeClr val="hlink"/>
                </a:solidFill>
                <a:hlinkClick r:id="rId3"/>
              </a:rPr>
              <a:t>array multidimensional</a:t>
            </a:r>
            <a:r>
              <a:rPr lang="es-ES" sz="2400"/>
              <a:t> </a:t>
            </a:r>
            <a:r>
              <a:rPr b="1" lang="es-ES" sz="2400"/>
              <a:t>$_FILES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$_FILES[“nombre_input"]</a:t>
            </a:r>
            <a:r>
              <a:rPr b="1" lang="es-ES" sz="2400"/>
              <a:t>["name"]</a:t>
            </a:r>
            <a:r>
              <a:rPr lang="es-ES" sz="2400"/>
              <a:t>. Guarda el nombre original del archivo del cliente.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$_FILES[" nombre_input "]</a:t>
            </a:r>
            <a:r>
              <a:rPr b="1" lang="es-ES" sz="2400"/>
              <a:t>["type"]</a:t>
            </a:r>
            <a:r>
              <a:rPr lang="es-ES" sz="2400"/>
              <a:t>. Guarda el MIME type del archivo.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$_FILES[" nombre_input "]</a:t>
            </a:r>
            <a:r>
              <a:rPr b="1" lang="es-ES" sz="2400"/>
              <a:t>["size"]</a:t>
            </a:r>
            <a:r>
              <a:rPr lang="es-ES" sz="2400"/>
              <a:t>. Guarda el tamaño del archivo en bytes.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$_FILES[" nombre_input "]</a:t>
            </a:r>
            <a:r>
              <a:rPr b="1" lang="es-ES" sz="2400"/>
              <a:t>["tmp_name"]</a:t>
            </a:r>
            <a:r>
              <a:rPr lang="es-ES" sz="2400"/>
              <a:t>. Guarda el nombre del archivo temporal.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$_FILES[" nombre_input "]</a:t>
            </a:r>
            <a:r>
              <a:rPr b="1" lang="es-ES" sz="2400"/>
              <a:t>["error"]</a:t>
            </a:r>
            <a:r>
              <a:rPr lang="es-ES" sz="2400"/>
              <a:t>. Guarda cualquier código de error que pueda provocar la subida del archivo.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La función </a:t>
            </a:r>
            <a:r>
              <a:rPr i="1" lang="es-ES" sz="2400"/>
              <a:t>move_uploaded_file()</a:t>
            </a:r>
            <a:r>
              <a:rPr lang="es-ES" sz="2400"/>
              <a:t> mueve un archivo subido del directorio temporal al directorio que se indique.</a:t>
            </a:r>
            <a:endParaRPr/>
          </a:p>
          <a:p>
            <a:pPr indent="-50800" lvl="0" marL="228600" rtl="0" algn="l">
              <a:lnSpc>
                <a:spcPct val="8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s-ES"/>
              <a:t>Subir ficheros con formularios POST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838200" y="1825625"/>
            <a:ext cx="10515600" cy="4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800"/>
              <a:t>El array </a:t>
            </a:r>
            <a:r>
              <a:rPr b="1" lang="es-ES" sz="1800"/>
              <a:t>$_FILES['imagen']['error']</a:t>
            </a:r>
            <a:r>
              <a:rPr lang="es-ES" sz="1800"/>
              <a:t> especifica por qué no se ha podido subir el archivo, lo que permite especificar un mensaje de vuelta para cada tipo de error. Devuelve un </a:t>
            </a:r>
            <a:r>
              <a:rPr b="1" i="1" lang="es-ES" sz="1800"/>
              <a:t>integer</a:t>
            </a:r>
            <a:r>
              <a:rPr lang="es-ES" sz="1800"/>
              <a:t> con el número de error:</a:t>
            </a:r>
            <a:endParaRPr/>
          </a:p>
        </p:txBody>
      </p:sp>
      <p:graphicFrame>
        <p:nvGraphicFramePr>
          <p:cNvPr id="136" name="Google Shape;136;p20"/>
          <p:cNvGraphicFramePr/>
          <p:nvPr/>
        </p:nvGraphicFramePr>
        <p:xfrm>
          <a:off x="1197662" y="2795507"/>
          <a:ext cx="3000000" cy="3000000"/>
        </p:xfrm>
        <a:graphic>
          <a:graphicData uri="http://schemas.openxmlformats.org/drawingml/2006/table">
            <a:tbl>
              <a:tblPr firstRow="1">
                <a:gradFill>
                  <a:gsLst>
                    <a:gs pos="0">
                      <a:srgbClr val="B0CAE9"/>
                    </a:gs>
                    <a:gs pos="50000">
                      <a:srgbClr val="A1C1E4"/>
                    </a:gs>
                    <a:gs pos="100000">
                      <a:srgbClr val="90B8E4"/>
                    </a:gs>
                  </a:gsLst>
                  <a:lin ang="5400012" scaled="0"/>
                </a:gradFill>
                <a:tableStyleId>{E6409A86-13E3-40A0-98B5-F56301C7E146}</a:tableStyleId>
              </a:tblPr>
              <a:tblGrid>
                <a:gridCol w="2688525"/>
                <a:gridCol w="766475"/>
                <a:gridCol w="6607000"/>
              </a:tblGrid>
              <a:tr h="20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 u="none" cap="none" strike="noStrike"/>
                        <a:t>Error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Valor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Significado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</a:tr>
              <a:tr h="20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UPLOAD_ERR_OK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0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No hay errores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</a:tr>
              <a:tr h="518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UPLOAD_ERR_INI_SIZE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1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Supera el tamaño máximo indicado en php.ini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</a:tr>
              <a:tr h="518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UPLOAD_ERR_FORM_SIZE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2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Supera el tamaño máximo indicado en MAX_FILE_SIZE de html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</a:tr>
              <a:tr h="36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UPLOAD_ERR_PARTIAL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3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Sólo se ha subido el archivo parcialmente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</a:tr>
              <a:tr h="36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UPLOAD_ERR_NO_FILE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4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No se ha subido ningún archivo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</a:tr>
              <a:tr h="36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UPLOAD_ERR_NO_TMP_DIR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6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Falta la carpeta temporal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</a:tr>
              <a:tr h="518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UPLOAD_ERR_CANT_WRITE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7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No se puede escribir en el directorio especificado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</a:tr>
              <a:tr h="36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UPLOAD_ERR_EXTENSION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8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/>
                        <a:t>Una extensión de PHP ha detenido la subida</a:t>
                      </a:r>
                      <a:endParaRPr sz="15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39500" marB="39500" marR="39500" marL="39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838200" y="365125"/>
            <a:ext cx="105156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es-ES" sz="3600"/>
              <a:t>Subir ficheros con formularios POST. Ejemplo.</a:t>
            </a:r>
            <a:endParaRPr sz="3600"/>
          </a:p>
        </p:txBody>
      </p:sp>
      <p:pic>
        <p:nvPicPr>
          <p:cNvPr id="142" name="Google Shape;142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2929" y="914400"/>
            <a:ext cx="7664700" cy="58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s-ES"/>
              <a:t>Redirecciones con PHP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838200" y="1825625"/>
            <a:ext cx="10515600" cy="4736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Los direccionamientos son encabezados HTTP que deben ser enviados antes que cualquier otro tipo de contenido en una página web.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Pueden ser temporales o definitivos.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La forma de realizar </a:t>
            </a:r>
            <a:r>
              <a:rPr b="1" lang="es-ES" sz="2400"/>
              <a:t>redirecciones en PHP</a:t>
            </a:r>
            <a:r>
              <a:rPr lang="es-ES" sz="2400"/>
              <a:t> es mediante la función </a:t>
            </a:r>
            <a:r>
              <a:rPr i="1" lang="es-ES" sz="2400"/>
              <a:t>header().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s-ES" sz="2400"/>
              <a:t>En las redirecciones se pueden añadir pares claves/valor que serían recogidos mediante el método GET</a:t>
            </a:r>
            <a:r>
              <a:rPr i="1" lang="es-ES"/>
              <a:t>.</a:t>
            </a:r>
            <a:r>
              <a:rPr lang="es-ES"/>
              <a:t> </a:t>
            </a:r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4263" y="4584072"/>
            <a:ext cx="4519537" cy="2113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5879" y="4993242"/>
            <a:ext cx="5067702" cy="1084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838200" y="365125"/>
            <a:ext cx="10515600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es-ES" sz="3600"/>
              <a:t>El tipo fecha en PHP.</a:t>
            </a:r>
            <a:endParaRPr sz="3600"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b="1" lang="es-ES" sz="1750" u="sng"/>
              <a:t>string date ( format [timestamp] )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s-ES" sz="1750"/>
              <a:t>Con esta función podemos obtener la </a:t>
            </a:r>
            <a:r>
              <a:rPr b="1" lang="es-ES" sz="1750"/>
              <a:t>fecha local del sistema</a:t>
            </a:r>
            <a:r>
              <a:rPr lang="es-ES" sz="1750"/>
              <a:t> formateada para obtener el día, mes, semana, año y hora actual. 	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750"/>
              <a:buChar char="•"/>
            </a:pPr>
            <a:r>
              <a:rPr lang="es-ES" sz="1750"/>
              <a:t>La función nos devuelve un string.</a:t>
            </a:r>
            <a:endParaRPr b="1" sz="1750"/>
          </a:p>
          <a:p>
            <a:pPr indent="-228600" lvl="0" marL="228600" rtl="0" algn="l">
              <a:lnSpc>
                <a:spcPct val="7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750"/>
              <a:buChar char="•"/>
            </a:pPr>
            <a:r>
              <a:rPr b="1" lang="es-ES" sz="1750"/>
              <a:t>format (Obligatorio)</a:t>
            </a:r>
            <a:r>
              <a:rPr lang="es-ES" sz="1750"/>
              <a:t>: Es un string donde le pasaremos el formato de datos que queremos obtener.</a:t>
            </a:r>
            <a:endParaRPr b="1" sz="1750"/>
          </a:p>
          <a:p>
            <a:pPr indent="-228600" lvl="0" marL="228600" rtl="0" algn="l">
              <a:lnSpc>
                <a:spcPct val="7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750"/>
              <a:buChar char="•"/>
            </a:pPr>
            <a:r>
              <a:rPr b="1" lang="es-ES" sz="1750"/>
              <a:t>timestamp (Opcional)</a:t>
            </a:r>
            <a:r>
              <a:rPr lang="es-ES" sz="1750"/>
              <a:t>: Este valor es un número entero que representa una fecha concreta, si se omite el valor por defecto es la de la fecha del sistema (</a:t>
            </a:r>
            <a:r>
              <a:rPr lang="es-ES" sz="1750" u="sng">
                <a:solidFill>
                  <a:schemeClr val="hlink"/>
                </a:solidFill>
                <a:hlinkClick r:id="rId3"/>
              </a:rPr>
              <a:t>time()</a:t>
            </a:r>
            <a:r>
              <a:rPr lang="es-ES" sz="1750"/>
              <a:t>).</a:t>
            </a:r>
            <a:endParaRPr/>
          </a:p>
          <a:p>
            <a:pPr indent="-117475" lvl="0" marL="228600" rtl="0" algn="l">
              <a:lnSpc>
                <a:spcPct val="7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7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b="1" lang="es-ES" sz="1750" u="sng"/>
              <a:t>string setlocale (constant, location)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s-ES" sz="1750"/>
              <a:t>Se puede establecer también el idioma local para el formato de la fecha, pero tan solo lo cambia en el script que ese está ejecutando.</a:t>
            </a:r>
            <a:endParaRPr sz="1750"/>
          </a:p>
          <a:p>
            <a:pPr indent="-228600" lvl="0" marL="228600" rtl="0" algn="l">
              <a:lnSpc>
                <a:spcPct val="7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750"/>
              <a:buChar char="•"/>
            </a:pPr>
            <a:r>
              <a:rPr b="1" lang="es-ES" sz="1750"/>
              <a:t>constant (Obligatorio)</a:t>
            </a:r>
            <a:r>
              <a:rPr lang="es-ES" sz="1750"/>
              <a:t>: Es la información local que queremos especificar.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750"/>
              <a:buChar char="•"/>
            </a:pPr>
            <a:r>
              <a:rPr b="1" lang="es-ES" sz="1750"/>
              <a:t>location (Obligatorio)</a:t>
            </a:r>
            <a:r>
              <a:rPr lang="es-ES" sz="1750"/>
              <a:t>: Valor de la información local especificada, este valor también puede ser un </a:t>
            </a:r>
            <a:r>
              <a:rPr lang="es-ES" sz="1750" u="sng">
                <a:solidFill>
                  <a:schemeClr val="hlink"/>
                </a:solidFill>
                <a:hlinkClick r:id="rId4"/>
              </a:rPr>
              <a:t>array</a:t>
            </a:r>
            <a:r>
              <a:rPr lang="es-ES" sz="1750"/>
              <a:t>.</a:t>
            </a:r>
            <a:endParaRPr/>
          </a:p>
          <a:p>
            <a:pPr indent="-117475" lvl="0" marL="228600" rtl="0" algn="l">
              <a:lnSpc>
                <a:spcPct val="7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7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b="1" lang="es-ES" sz="1750" u="sng">
                <a:solidFill>
                  <a:schemeClr val="hlink"/>
                </a:solidFill>
                <a:hlinkClick r:id="rId5"/>
              </a:rPr>
              <a:t>Constantes disponibles(link)</a:t>
            </a:r>
            <a:endParaRPr b="1" sz="1750"/>
          </a:p>
          <a:p>
            <a:pPr indent="0" lvl="0" marL="0" rtl="0" algn="l">
              <a:lnSpc>
                <a:spcPct val="7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t/>
            </a:r>
            <a:endParaRPr sz="1750"/>
          </a:p>
          <a:p>
            <a:pPr indent="-180975" lvl="1" marL="685800" rtl="0" algn="l">
              <a:lnSpc>
                <a:spcPct val="7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</a:pPr>
            <a:r>
              <a:t/>
            </a:r>
            <a:endParaRPr sz="750"/>
          </a:p>
          <a:p>
            <a:pPr indent="-403225" lvl="0" marL="514350" rtl="0" algn="l">
              <a:lnSpc>
                <a:spcPct val="7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entury Gothic"/>
              <a:buNone/>
            </a:pPr>
            <a:r>
              <a:t/>
            </a:r>
            <a:endParaRPr sz="17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838200" y="365125"/>
            <a:ext cx="10515600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es-ES" sz="3600"/>
              <a:t>El tipo fecha en PHP.</a:t>
            </a:r>
            <a:endParaRPr sz="3600"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838200" y="1075765"/>
            <a:ext cx="10515600" cy="5101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Definimos el idioma por defecto y probamos varios formatos con la función date().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 txBox="1"/>
          <p:nvPr/>
        </p:nvSpPr>
        <p:spPr>
          <a:xfrm>
            <a:off x="838201" y="1782634"/>
            <a:ext cx="5374342" cy="3046988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Setlocale(LC_ALL,”es_ES”);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Día del mes con 2 dígitos, y con ceros iniciales, de 01 a 31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date("d");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Día del mes, sin ceros iniciales, de 1 a 31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date("j");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Día de la semana en inglés, con 3 letras, de Mon a Sun</a:t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date("D");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Día de la semana en inglés, de Sunday a Saturday</a:t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date("l");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del día de la semana, desde 1 (lunes) hasta 7 (domingo)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date("N");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Sufijo del día del mes con 2 caracteres --&gt; st, nd, rd o th</a:t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date("S");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Número entero que representa el día de la semana, de 0 (dom) a 6 (sab)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date("w");</a:t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6212542" y="3995678"/>
            <a:ext cx="5764304" cy="2862322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Setlocale(LC_ALL,”es_ES”);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Día del año, de 0 a 365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date("z");</a:t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Mes actual en inglés, de January a December</a:t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date("F");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Mes actual en 2 dígitos y con 0 en caso del 1 al 9, de 1 a 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date("m");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Mes actual en texto en 3 dígitos en inglés, de Jan a Dec</a:t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date("M");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Mes actual en digitos sin 0 inicial, de 1 a 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date("n");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Número de días del mes actual, de 28 a 31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date("t");</a:t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Número de días del mes actual, de 28 a 31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date("t");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838200" y="365125"/>
            <a:ext cx="10515600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es-ES" sz="3600"/>
              <a:t>El tipo fecha en PHP.</a:t>
            </a:r>
            <a:endParaRPr sz="3600"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838200" y="1075765"/>
            <a:ext cx="10515600" cy="5101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Como obtener la hora actual.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Otros formatos predefinidos.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972672" y="1500246"/>
            <a:ext cx="5374342" cy="3046988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Antes del mediodía, despues del mediodía, am o pm (minúsculas)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date("a");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Antes del mediodía, despues del mediodía, AM o PM (mayúsculas)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date("A");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Horario de 12 horas sin ceros, de 1 a 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date("g");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Horario de 12 horas con ceros, de 01 a 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date("h");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Horario de 24 horas sin ceros, de 0 a 23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date("G");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Horario de 24 horas con ceros, de 01 a 23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date("H");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minutos con ceros iniciales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date("i");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segundos con ceros iniciales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date("s");</a:t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8001001" y="3868639"/>
            <a:ext cx="3173505" cy="2308324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8000"/>
                </a:solidFill>
                <a:latin typeface="Arial"/>
                <a:ea typeface="Arial"/>
                <a:cs typeface="Arial"/>
                <a:sym typeface="Arial"/>
              </a:rPr>
              <a:t>//formato para RSS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4ED0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r>
              <a:rPr lang="es-E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s-ES" sz="1800">
                <a:solidFill>
                  <a:srgbClr val="CE0000"/>
                </a:solidFill>
                <a:latin typeface="Arial"/>
                <a:ea typeface="Arial"/>
                <a:cs typeface="Arial"/>
                <a:sym typeface="Arial"/>
              </a:rPr>
              <a:t>DATE_RSS</a:t>
            </a:r>
            <a:r>
              <a:rPr lang="es-E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8000"/>
                </a:solidFill>
                <a:latin typeface="Arial"/>
                <a:ea typeface="Arial"/>
                <a:cs typeface="Arial"/>
                <a:sym typeface="Arial"/>
              </a:rPr>
              <a:t>//formato W3C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4ED0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r>
              <a:rPr lang="es-E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DATE_W3C</a:t>
            </a:r>
            <a:r>
              <a:rPr lang="es-E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8000"/>
                </a:solidFill>
                <a:latin typeface="Arial"/>
                <a:ea typeface="Arial"/>
                <a:cs typeface="Arial"/>
                <a:sym typeface="Arial"/>
              </a:rPr>
              <a:t>//formato para COOKIES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4ED0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r>
              <a:rPr lang="es-E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s-ES" sz="1800">
                <a:solidFill>
                  <a:srgbClr val="CE0000"/>
                </a:solidFill>
                <a:latin typeface="Arial"/>
                <a:ea typeface="Arial"/>
                <a:cs typeface="Arial"/>
                <a:sym typeface="Arial"/>
              </a:rPr>
              <a:t>DATE_COOKIE</a:t>
            </a:r>
            <a:r>
              <a:rPr lang="es-E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8000"/>
                </a:solidFill>
                <a:latin typeface="Arial"/>
                <a:ea typeface="Arial"/>
                <a:cs typeface="Arial"/>
                <a:sym typeface="Arial"/>
              </a:rPr>
              <a:t>//formato para ATOM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4ED0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r>
              <a:rPr lang="es-E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s-ES" sz="1800">
                <a:solidFill>
                  <a:srgbClr val="CE0000"/>
                </a:solidFill>
                <a:latin typeface="Arial"/>
                <a:ea typeface="Arial"/>
                <a:cs typeface="Arial"/>
                <a:sym typeface="Arial"/>
              </a:rPr>
              <a:t>DATE_ATOM</a:t>
            </a:r>
            <a:r>
              <a:rPr lang="es-E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838200" y="365125"/>
            <a:ext cx="10515600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es-ES" sz="3600"/>
              <a:t>El tipo fecha en PHP.</a:t>
            </a:r>
            <a:endParaRPr sz="3600"/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838200" y="1075765"/>
            <a:ext cx="10515600" cy="5101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La función </a:t>
            </a:r>
            <a:r>
              <a:rPr lang="es-ES" sz="2400" u="sng">
                <a:solidFill>
                  <a:schemeClr val="hlink"/>
                </a:solidFill>
                <a:hlinkClick r:id="rId3"/>
              </a:rPr>
              <a:t>strftime()</a:t>
            </a:r>
            <a:r>
              <a:rPr lang="es-ES" sz="2400"/>
              <a:t> permite realizar formateos con información local del servidor.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 sz="1800" u="sng">
                <a:solidFill>
                  <a:schemeClr val="hlink"/>
                </a:solidFill>
                <a:hlinkClick r:id="rId4"/>
              </a:rPr>
              <a:t>Mas formatos con strftime.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s-ES" sz="2400" u="sng"/>
              <a:t>Comparar, sumar y restar fechas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 u="sng">
                <a:solidFill>
                  <a:schemeClr val="hlink"/>
                </a:solidFill>
                <a:hlinkClick r:id="rId5"/>
              </a:rPr>
              <a:t>Cómo comparar fechas en PHP de manera fácil con date() y strtotime()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 u="sng">
                <a:solidFill>
                  <a:schemeClr val="hlink"/>
                </a:solidFill>
                <a:hlinkClick r:id="rId6"/>
              </a:rPr>
              <a:t>Cómo sumar y restar fechas en PHP con strtotime() y date()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r>
              <a:t/>
            </a:r>
            <a:endParaRPr/>
          </a:p>
        </p:txBody>
      </p:sp>
      <p:graphicFrame>
        <p:nvGraphicFramePr>
          <p:cNvPr id="179" name="Google Shape;179;p26"/>
          <p:cNvGraphicFramePr/>
          <p:nvPr/>
        </p:nvGraphicFramePr>
        <p:xfrm>
          <a:off x="838200" y="18981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{3B42619E-8626-4204-97FB-77F62A249E70}</a:tableStyleId>
              </a:tblPr>
              <a:tblGrid>
                <a:gridCol w="437450"/>
                <a:gridCol w="65505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5499D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317CC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5499D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317CC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5499D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8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//Establecer la información local en castellano de España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004ED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setlocale</a:t>
                      </a:r>
                      <a:r>
                        <a:rPr lang="es-E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s-ES" sz="1800">
                          <a:solidFill>
                            <a:srgbClr val="004ED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LC_TIME</a:t>
                      </a:r>
                      <a:r>
                        <a:rPr lang="es-E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lang="es-ES" sz="1800">
                          <a:solidFill>
                            <a:srgbClr val="008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"es_ES"</a:t>
                      </a:r>
                      <a:r>
                        <a:rPr lang="es-E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800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echo</a:t>
                      </a:r>
                      <a:r>
                        <a:rPr lang="es-ES" sz="1800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s-ES" sz="1800">
                          <a:solidFill>
                            <a:srgbClr val="004ED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strftime</a:t>
                      </a:r>
                      <a:r>
                        <a:rPr lang="es-E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s-ES" sz="1800">
                          <a:solidFill>
                            <a:srgbClr val="008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"Hoy es %A y son las %H:%M"</a:t>
                      </a:r>
                      <a:r>
                        <a:rPr lang="es-E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800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echo</a:t>
                      </a:r>
                      <a:r>
                        <a:rPr lang="es-ES" sz="1800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s-ES" sz="1800">
                          <a:solidFill>
                            <a:srgbClr val="004ED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strftime</a:t>
                      </a:r>
                      <a:r>
                        <a:rPr lang="es-E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s-ES" sz="1800">
                          <a:solidFill>
                            <a:srgbClr val="008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"El año es %Y y el mes es %B"</a:t>
                      </a:r>
                      <a:r>
                        <a:rPr lang="es-ES" sz="18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antilla con diseño abstracto melancólic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