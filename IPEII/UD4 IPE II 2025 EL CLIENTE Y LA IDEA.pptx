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80" r:id="rId1"/>
  </p:sldMasterIdLst>
  <p:notesMasterIdLst>
    <p:notesMasterId r:id="rId13"/>
  </p:notesMasterIdLst>
  <p:sldIdLst>
    <p:sldId id="256" r:id="rId2"/>
    <p:sldId id="257" r:id="rId3"/>
    <p:sldId id="287" r:id="rId4"/>
    <p:sldId id="263" r:id="rId5"/>
    <p:sldId id="283" r:id="rId6"/>
    <p:sldId id="274" r:id="rId7"/>
    <p:sldId id="286" r:id="rId8"/>
    <p:sldId id="288" r:id="rId9"/>
    <p:sldId id="275" r:id="rId10"/>
    <p:sldId id="289" r:id="rId11"/>
    <p:sldId id="276" r:id="rId1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914" y="3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7A05A3-14D9-44A5-B768-02F08550772E}" type="doc">
      <dgm:prSet loTypeId="urn:microsoft.com/office/officeart/2005/8/layout/radial3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ED2B4624-7341-43E5-B4B2-09A70E7847B3}">
      <dgm:prSet phldrT="[Texto]" custT="1"/>
      <dgm:spPr>
        <a:solidFill>
          <a:schemeClr val="accent3"/>
        </a:solidFill>
        <a:ln w="28575">
          <a:solidFill>
            <a:srgbClr val="00B050"/>
          </a:solidFill>
        </a:ln>
      </dgm:spPr>
      <dgm:t>
        <a:bodyPr/>
        <a:lstStyle/>
        <a:p>
          <a:r>
            <a:rPr lang="es-ES_tradnl" sz="1800" b="1" dirty="0"/>
            <a:t>Criterios de segmentación del mercado</a:t>
          </a:r>
          <a:endParaRPr lang="es-ES" sz="1800" b="1" dirty="0"/>
        </a:p>
      </dgm:t>
    </dgm:pt>
    <dgm:pt modelId="{B5847ABE-AF46-483D-BCB2-95A0C15A9DB6}" type="parTrans" cxnId="{7150E0E6-08C4-4382-A9AB-091C87EB90E5}">
      <dgm:prSet/>
      <dgm:spPr/>
      <dgm:t>
        <a:bodyPr/>
        <a:lstStyle/>
        <a:p>
          <a:endParaRPr lang="es-ES"/>
        </a:p>
      </dgm:t>
    </dgm:pt>
    <dgm:pt modelId="{8EEDBB42-9CFE-4006-9F30-B7728819F50E}" type="sibTrans" cxnId="{7150E0E6-08C4-4382-A9AB-091C87EB90E5}">
      <dgm:prSet/>
      <dgm:spPr/>
      <dgm:t>
        <a:bodyPr/>
        <a:lstStyle/>
        <a:p>
          <a:endParaRPr lang="es-ES"/>
        </a:p>
      </dgm:t>
    </dgm:pt>
    <dgm:pt modelId="{6F43B42A-71AC-474D-85DD-AE1BDDBD8C68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Geográficos</a:t>
          </a:r>
          <a:endParaRPr lang="es-ES" sz="2000" b="1" dirty="0">
            <a:solidFill>
              <a:schemeClr val="tx2"/>
            </a:solidFill>
          </a:endParaRPr>
        </a:p>
      </dgm:t>
    </dgm:pt>
    <dgm:pt modelId="{30EFEDF0-9914-448A-956B-0DAC7DF97A4A}" type="parTrans" cxnId="{23600551-2706-4BB0-8AB3-5F63980DF5FE}">
      <dgm:prSet/>
      <dgm:spPr/>
      <dgm:t>
        <a:bodyPr/>
        <a:lstStyle/>
        <a:p>
          <a:endParaRPr lang="es-ES"/>
        </a:p>
      </dgm:t>
    </dgm:pt>
    <dgm:pt modelId="{BA93C95D-0012-4D1C-959A-C3D690C8C7B3}" type="sibTrans" cxnId="{23600551-2706-4BB0-8AB3-5F63980DF5FE}">
      <dgm:prSet/>
      <dgm:spPr/>
      <dgm:t>
        <a:bodyPr/>
        <a:lstStyle/>
        <a:p>
          <a:endParaRPr lang="es-ES"/>
        </a:p>
      </dgm:t>
    </dgm:pt>
    <dgm:pt modelId="{2B6E8293-BED0-4F3F-8FBA-F6F96FA7E5C6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Demográficos</a:t>
          </a:r>
        </a:p>
      </dgm:t>
    </dgm:pt>
    <dgm:pt modelId="{67867E74-FD39-41D3-814F-04575D7A2BF4}" type="parTrans" cxnId="{A6475787-836F-4454-80BD-9C2926A4C24A}">
      <dgm:prSet/>
      <dgm:spPr/>
      <dgm:t>
        <a:bodyPr/>
        <a:lstStyle/>
        <a:p>
          <a:endParaRPr lang="es-ES"/>
        </a:p>
      </dgm:t>
    </dgm:pt>
    <dgm:pt modelId="{395664F9-63A3-41E6-9FE2-2E43622DD4E4}" type="sibTrans" cxnId="{A6475787-836F-4454-80BD-9C2926A4C24A}">
      <dgm:prSet/>
      <dgm:spPr/>
      <dgm:t>
        <a:bodyPr/>
        <a:lstStyle/>
        <a:p>
          <a:endParaRPr lang="es-ES"/>
        </a:p>
      </dgm:t>
    </dgm:pt>
    <dgm:pt modelId="{ED08D634-BC50-477C-BD9D-0C4552AD2BB4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Económicos</a:t>
          </a:r>
          <a:endParaRPr lang="es-ES" sz="2000" b="1" dirty="0">
            <a:solidFill>
              <a:schemeClr val="tx2"/>
            </a:solidFill>
          </a:endParaRPr>
        </a:p>
      </dgm:t>
    </dgm:pt>
    <dgm:pt modelId="{FC82DE27-753B-45E7-86A1-2AC6C2601B4F}" type="parTrans" cxnId="{27288744-A2CE-44EA-8A63-1D258249BA43}">
      <dgm:prSet/>
      <dgm:spPr/>
      <dgm:t>
        <a:bodyPr/>
        <a:lstStyle/>
        <a:p>
          <a:endParaRPr lang="es-ES"/>
        </a:p>
      </dgm:t>
    </dgm:pt>
    <dgm:pt modelId="{7B7FC7B1-D33A-447D-B605-5B146965A05F}" type="sibTrans" cxnId="{27288744-A2CE-44EA-8A63-1D258249BA43}">
      <dgm:prSet/>
      <dgm:spPr/>
      <dgm:t>
        <a:bodyPr/>
        <a:lstStyle/>
        <a:p>
          <a:endParaRPr lang="es-ES"/>
        </a:p>
      </dgm:t>
    </dgm:pt>
    <dgm:pt modelId="{A77E5D3E-9064-4B58-8259-2D8B61C6F2FD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Profesión</a:t>
          </a:r>
          <a:endParaRPr lang="es-ES" sz="2000" b="1" dirty="0">
            <a:solidFill>
              <a:schemeClr val="tx2"/>
            </a:solidFill>
          </a:endParaRPr>
        </a:p>
      </dgm:t>
    </dgm:pt>
    <dgm:pt modelId="{0C39793F-CA49-4362-A21D-F5C1FDD2203D}" type="parTrans" cxnId="{A9907DBF-B601-49CE-97E8-051C16024280}">
      <dgm:prSet/>
      <dgm:spPr/>
      <dgm:t>
        <a:bodyPr/>
        <a:lstStyle/>
        <a:p>
          <a:endParaRPr lang="es-ES"/>
        </a:p>
      </dgm:t>
    </dgm:pt>
    <dgm:pt modelId="{5E7ED7AA-5B60-48C9-91F9-C94F9F27592E}" type="sibTrans" cxnId="{A9907DBF-B601-49CE-97E8-051C16024280}">
      <dgm:prSet/>
      <dgm:spPr/>
      <dgm:t>
        <a:bodyPr/>
        <a:lstStyle/>
        <a:p>
          <a:endParaRPr lang="es-ES"/>
        </a:p>
      </dgm:t>
    </dgm:pt>
    <dgm:pt modelId="{1ED62123-E3C1-400D-ABC1-5AC9D56D3D1B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Psicológicos</a:t>
          </a:r>
          <a:endParaRPr lang="es-ES" sz="2000" b="1" dirty="0">
            <a:solidFill>
              <a:schemeClr val="tx2"/>
            </a:solidFill>
          </a:endParaRPr>
        </a:p>
      </dgm:t>
    </dgm:pt>
    <dgm:pt modelId="{D52B87D4-DFD7-4626-AF0F-A02758A36CED}" type="parTrans" cxnId="{F7F2C522-67EA-4261-8DBD-2B748B12C1D9}">
      <dgm:prSet/>
      <dgm:spPr/>
      <dgm:t>
        <a:bodyPr/>
        <a:lstStyle/>
        <a:p>
          <a:endParaRPr lang="es-ES"/>
        </a:p>
      </dgm:t>
    </dgm:pt>
    <dgm:pt modelId="{3D07D0D6-737B-4A78-9CFB-102232CDC4C4}" type="sibTrans" cxnId="{F7F2C522-67EA-4261-8DBD-2B748B12C1D9}">
      <dgm:prSet/>
      <dgm:spPr/>
      <dgm:t>
        <a:bodyPr/>
        <a:lstStyle/>
        <a:p>
          <a:endParaRPr lang="es-ES"/>
        </a:p>
      </dgm:t>
    </dgm:pt>
    <dgm:pt modelId="{747FFA44-8EE2-4034-88D2-8B71A0A4AD9C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Gustos</a:t>
          </a:r>
          <a:endParaRPr lang="es-ES" sz="2000" b="1" dirty="0">
            <a:solidFill>
              <a:schemeClr val="tx2"/>
            </a:solidFill>
          </a:endParaRPr>
        </a:p>
      </dgm:t>
    </dgm:pt>
    <dgm:pt modelId="{7C87FDE8-E87D-471F-81CC-854A21960090}" type="parTrans" cxnId="{1474F5F1-9772-412C-A7AF-606385892162}">
      <dgm:prSet/>
      <dgm:spPr/>
      <dgm:t>
        <a:bodyPr/>
        <a:lstStyle/>
        <a:p>
          <a:endParaRPr lang="es-ES"/>
        </a:p>
      </dgm:t>
    </dgm:pt>
    <dgm:pt modelId="{53E308B8-2204-41C0-AE6D-E63551ED4A70}" type="sibTrans" cxnId="{1474F5F1-9772-412C-A7AF-606385892162}">
      <dgm:prSet/>
      <dgm:spPr/>
      <dgm:t>
        <a:bodyPr/>
        <a:lstStyle/>
        <a:p>
          <a:endParaRPr lang="es-ES"/>
        </a:p>
      </dgm:t>
    </dgm:pt>
    <dgm:pt modelId="{B434BC2F-67D7-4451-8103-F1390F2A89CC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Empresa</a:t>
          </a:r>
          <a:endParaRPr lang="es-ES" sz="2000" b="1" dirty="0">
            <a:solidFill>
              <a:schemeClr val="tx2"/>
            </a:solidFill>
          </a:endParaRPr>
        </a:p>
      </dgm:t>
    </dgm:pt>
    <dgm:pt modelId="{C163A023-C730-4CFA-B01D-E8B4B61C78C1}" type="parTrans" cxnId="{72C03771-B952-44D3-9B3F-377B346AE90E}">
      <dgm:prSet/>
      <dgm:spPr/>
      <dgm:t>
        <a:bodyPr/>
        <a:lstStyle/>
        <a:p>
          <a:endParaRPr lang="es-ES"/>
        </a:p>
      </dgm:t>
    </dgm:pt>
    <dgm:pt modelId="{3FF4F9C2-D5A9-498E-8D99-2ED7F2B0FD80}" type="sibTrans" cxnId="{72C03771-B952-44D3-9B3F-377B346AE90E}">
      <dgm:prSet/>
      <dgm:spPr/>
      <dgm:t>
        <a:bodyPr/>
        <a:lstStyle/>
        <a:p>
          <a:endParaRPr lang="es-ES"/>
        </a:p>
      </dgm:t>
    </dgm:pt>
    <dgm:pt modelId="{A39BE283-9FAD-47E6-AC51-206C1A91E69D}" type="pres">
      <dgm:prSet presAssocID="{A97A05A3-14D9-44A5-B768-02F08550772E}" presName="composite" presStyleCnt="0">
        <dgm:presLayoutVars>
          <dgm:chMax val="1"/>
          <dgm:dir/>
          <dgm:resizeHandles val="exact"/>
        </dgm:presLayoutVars>
      </dgm:prSet>
      <dgm:spPr/>
    </dgm:pt>
    <dgm:pt modelId="{EC439966-727C-4807-A236-D4E3CE9950C7}" type="pres">
      <dgm:prSet presAssocID="{A97A05A3-14D9-44A5-B768-02F08550772E}" presName="radial" presStyleCnt="0">
        <dgm:presLayoutVars>
          <dgm:animLvl val="ctr"/>
        </dgm:presLayoutVars>
      </dgm:prSet>
      <dgm:spPr/>
    </dgm:pt>
    <dgm:pt modelId="{25F7C319-B8D2-45BF-BAB3-3C04DE6DD803}" type="pres">
      <dgm:prSet presAssocID="{ED2B4624-7341-43E5-B4B2-09A70E7847B3}" presName="centerShape" presStyleLbl="vennNode1" presStyleIdx="0" presStyleCnt="8" custScaleX="166195" custScaleY="119040" custLinFactNeighborX="35" custLinFactNeighborY="-13084"/>
      <dgm:spPr/>
    </dgm:pt>
    <dgm:pt modelId="{AF411819-B58E-4FD4-9EE5-2623AA8BBF37}" type="pres">
      <dgm:prSet presAssocID="{6F43B42A-71AC-474D-85DD-AE1BDDBD8C68}" presName="node" presStyleLbl="vennNode1" presStyleIdx="1" presStyleCnt="8" custScaleX="332390" custScaleY="72632" custRadScaleRad="96093" custRadScaleInc="347161">
        <dgm:presLayoutVars>
          <dgm:bulletEnabled val="1"/>
        </dgm:presLayoutVars>
      </dgm:prSet>
      <dgm:spPr/>
    </dgm:pt>
    <dgm:pt modelId="{E5BAAAA9-52C2-4E91-A9A7-8B6AF296F61B}" type="pres">
      <dgm:prSet presAssocID="{2B6E8293-BED0-4F3F-8FBA-F6F96FA7E5C6}" presName="node" presStyleLbl="vennNode1" presStyleIdx="2" presStyleCnt="8" custScaleX="347124" custScaleY="72867" custRadScaleRad="243936" custRadScaleInc="29343">
        <dgm:presLayoutVars>
          <dgm:bulletEnabled val="1"/>
        </dgm:presLayoutVars>
      </dgm:prSet>
      <dgm:spPr/>
    </dgm:pt>
    <dgm:pt modelId="{42D7EF66-2A05-47BB-A0C0-AE1BC7175C92}" type="pres">
      <dgm:prSet presAssocID="{ED08D634-BC50-477C-BD9D-0C4552AD2BB4}" presName="node" presStyleLbl="vennNode1" presStyleIdx="3" presStyleCnt="8" custScaleX="326373" custScaleY="72650" custRadScaleRad="257363" custRadScaleInc="-37369">
        <dgm:presLayoutVars>
          <dgm:bulletEnabled val="1"/>
        </dgm:presLayoutVars>
      </dgm:prSet>
      <dgm:spPr/>
    </dgm:pt>
    <dgm:pt modelId="{5933F40E-2C7C-40F8-A97F-20A93F4CAC2C}" type="pres">
      <dgm:prSet presAssocID="{A77E5D3E-9064-4B58-8259-2D8B61C6F2FD}" presName="node" presStyleLbl="vennNode1" presStyleIdx="4" presStyleCnt="8" custScaleX="344848" custScaleY="75048" custRadScaleRad="230747" custRadScaleInc="-105016">
        <dgm:presLayoutVars>
          <dgm:bulletEnabled val="1"/>
        </dgm:presLayoutVars>
      </dgm:prSet>
      <dgm:spPr/>
    </dgm:pt>
    <dgm:pt modelId="{9CB082E1-761D-4D66-8320-6722D39E1446}" type="pres">
      <dgm:prSet presAssocID="{1ED62123-E3C1-400D-ABC1-5AC9D56D3D1B}" presName="node" presStyleLbl="vennNode1" presStyleIdx="5" presStyleCnt="8" custScaleX="346942" custScaleY="74115" custRadScaleRad="235180" custRadScaleInc="105569">
        <dgm:presLayoutVars>
          <dgm:bulletEnabled val="1"/>
        </dgm:presLayoutVars>
      </dgm:prSet>
      <dgm:spPr/>
    </dgm:pt>
    <dgm:pt modelId="{01DBBD10-EC99-4CA3-9D68-0B12A955F2B6}" type="pres">
      <dgm:prSet presAssocID="{747FFA44-8EE2-4034-88D2-8B71A0A4AD9C}" presName="node" presStyleLbl="vennNode1" presStyleIdx="6" presStyleCnt="8" custScaleX="325861" custScaleY="80248" custRadScaleRad="257398" custRadScaleInc="41745">
        <dgm:presLayoutVars>
          <dgm:bulletEnabled val="1"/>
        </dgm:presLayoutVars>
      </dgm:prSet>
      <dgm:spPr/>
    </dgm:pt>
    <dgm:pt modelId="{3A33AB6C-90BF-4D69-BD96-FA6FF42757B5}" type="pres">
      <dgm:prSet presAssocID="{B434BC2F-67D7-4451-8103-F1390F2A89CC}" presName="node" presStyleLbl="vennNode1" presStyleIdx="7" presStyleCnt="8" custScaleX="303937" custScaleY="70433" custRadScaleRad="223747" custRadScaleInc="-20146">
        <dgm:presLayoutVars>
          <dgm:bulletEnabled val="1"/>
        </dgm:presLayoutVars>
      </dgm:prSet>
      <dgm:spPr/>
    </dgm:pt>
  </dgm:ptLst>
  <dgm:cxnLst>
    <dgm:cxn modelId="{F7F2C522-67EA-4261-8DBD-2B748B12C1D9}" srcId="{ED2B4624-7341-43E5-B4B2-09A70E7847B3}" destId="{1ED62123-E3C1-400D-ABC1-5AC9D56D3D1B}" srcOrd="4" destOrd="0" parTransId="{D52B87D4-DFD7-4626-AF0F-A02758A36CED}" sibTransId="{3D07D0D6-737B-4A78-9CFB-102232CDC4C4}"/>
    <dgm:cxn modelId="{43F5D733-53B6-4F4B-92E5-CB8C6DFF230D}" type="presOf" srcId="{ED2B4624-7341-43E5-B4B2-09A70E7847B3}" destId="{25F7C319-B8D2-45BF-BAB3-3C04DE6DD803}" srcOrd="0" destOrd="0" presId="urn:microsoft.com/office/officeart/2005/8/layout/radial3"/>
    <dgm:cxn modelId="{27288744-A2CE-44EA-8A63-1D258249BA43}" srcId="{ED2B4624-7341-43E5-B4B2-09A70E7847B3}" destId="{ED08D634-BC50-477C-BD9D-0C4552AD2BB4}" srcOrd="2" destOrd="0" parTransId="{FC82DE27-753B-45E7-86A1-2AC6C2601B4F}" sibTransId="{7B7FC7B1-D33A-447D-B605-5B146965A05F}"/>
    <dgm:cxn modelId="{58EBB148-C8DD-4D3E-837F-141E5D38F81B}" type="presOf" srcId="{B434BC2F-67D7-4451-8103-F1390F2A89CC}" destId="{3A33AB6C-90BF-4D69-BD96-FA6FF42757B5}" srcOrd="0" destOrd="0" presId="urn:microsoft.com/office/officeart/2005/8/layout/radial3"/>
    <dgm:cxn modelId="{23600551-2706-4BB0-8AB3-5F63980DF5FE}" srcId="{ED2B4624-7341-43E5-B4B2-09A70E7847B3}" destId="{6F43B42A-71AC-474D-85DD-AE1BDDBD8C68}" srcOrd="0" destOrd="0" parTransId="{30EFEDF0-9914-448A-956B-0DAC7DF97A4A}" sibTransId="{BA93C95D-0012-4D1C-959A-C3D690C8C7B3}"/>
    <dgm:cxn modelId="{72C03771-B952-44D3-9B3F-377B346AE90E}" srcId="{ED2B4624-7341-43E5-B4B2-09A70E7847B3}" destId="{B434BC2F-67D7-4451-8103-F1390F2A89CC}" srcOrd="6" destOrd="0" parTransId="{C163A023-C730-4CFA-B01D-E8B4B61C78C1}" sibTransId="{3FF4F9C2-D5A9-498E-8D99-2ED7F2B0FD80}"/>
    <dgm:cxn modelId="{22A6D077-BF9E-44D3-AE1D-A7BAFF2E7E7F}" type="presOf" srcId="{2B6E8293-BED0-4F3F-8FBA-F6F96FA7E5C6}" destId="{E5BAAAA9-52C2-4E91-A9A7-8B6AF296F61B}" srcOrd="0" destOrd="0" presId="urn:microsoft.com/office/officeart/2005/8/layout/radial3"/>
    <dgm:cxn modelId="{A6475787-836F-4454-80BD-9C2926A4C24A}" srcId="{ED2B4624-7341-43E5-B4B2-09A70E7847B3}" destId="{2B6E8293-BED0-4F3F-8FBA-F6F96FA7E5C6}" srcOrd="1" destOrd="0" parTransId="{67867E74-FD39-41D3-814F-04575D7A2BF4}" sibTransId="{395664F9-63A3-41E6-9FE2-2E43622DD4E4}"/>
    <dgm:cxn modelId="{C779DDB1-BD8E-4879-A392-EED3DDF6B617}" type="presOf" srcId="{A77E5D3E-9064-4B58-8259-2D8B61C6F2FD}" destId="{5933F40E-2C7C-40F8-A97F-20A93F4CAC2C}" srcOrd="0" destOrd="0" presId="urn:microsoft.com/office/officeart/2005/8/layout/radial3"/>
    <dgm:cxn modelId="{A9907DBF-B601-49CE-97E8-051C16024280}" srcId="{ED2B4624-7341-43E5-B4B2-09A70E7847B3}" destId="{A77E5D3E-9064-4B58-8259-2D8B61C6F2FD}" srcOrd="3" destOrd="0" parTransId="{0C39793F-CA49-4362-A21D-F5C1FDD2203D}" sibTransId="{5E7ED7AA-5B60-48C9-91F9-C94F9F27592E}"/>
    <dgm:cxn modelId="{EDFA4CC4-DC50-49B0-BBA9-67B3C502DC99}" type="presOf" srcId="{A97A05A3-14D9-44A5-B768-02F08550772E}" destId="{A39BE283-9FAD-47E6-AC51-206C1A91E69D}" srcOrd="0" destOrd="0" presId="urn:microsoft.com/office/officeart/2005/8/layout/radial3"/>
    <dgm:cxn modelId="{1909E2CE-8B3C-40A3-9B8F-5E3A6F489532}" type="presOf" srcId="{ED08D634-BC50-477C-BD9D-0C4552AD2BB4}" destId="{42D7EF66-2A05-47BB-A0C0-AE1BC7175C92}" srcOrd="0" destOrd="0" presId="urn:microsoft.com/office/officeart/2005/8/layout/radial3"/>
    <dgm:cxn modelId="{C40800D9-B570-4F77-95D1-4ABD431CC551}" type="presOf" srcId="{747FFA44-8EE2-4034-88D2-8B71A0A4AD9C}" destId="{01DBBD10-EC99-4CA3-9D68-0B12A955F2B6}" srcOrd="0" destOrd="0" presId="urn:microsoft.com/office/officeart/2005/8/layout/radial3"/>
    <dgm:cxn modelId="{7150E0E6-08C4-4382-A9AB-091C87EB90E5}" srcId="{A97A05A3-14D9-44A5-B768-02F08550772E}" destId="{ED2B4624-7341-43E5-B4B2-09A70E7847B3}" srcOrd="0" destOrd="0" parTransId="{B5847ABE-AF46-483D-BCB2-95A0C15A9DB6}" sibTransId="{8EEDBB42-9CFE-4006-9F30-B7728819F50E}"/>
    <dgm:cxn modelId="{01E4DDEB-EEE8-4000-91DA-77E169EDC67F}" type="presOf" srcId="{6F43B42A-71AC-474D-85DD-AE1BDDBD8C68}" destId="{AF411819-B58E-4FD4-9EE5-2623AA8BBF37}" srcOrd="0" destOrd="0" presId="urn:microsoft.com/office/officeart/2005/8/layout/radial3"/>
    <dgm:cxn modelId="{B507B9F0-8392-4CC4-8FBF-0126EB4368AC}" type="presOf" srcId="{1ED62123-E3C1-400D-ABC1-5AC9D56D3D1B}" destId="{9CB082E1-761D-4D66-8320-6722D39E1446}" srcOrd="0" destOrd="0" presId="urn:microsoft.com/office/officeart/2005/8/layout/radial3"/>
    <dgm:cxn modelId="{1474F5F1-9772-412C-A7AF-606385892162}" srcId="{ED2B4624-7341-43E5-B4B2-09A70E7847B3}" destId="{747FFA44-8EE2-4034-88D2-8B71A0A4AD9C}" srcOrd="5" destOrd="0" parTransId="{7C87FDE8-E87D-471F-81CC-854A21960090}" sibTransId="{53E308B8-2204-41C0-AE6D-E63551ED4A70}"/>
    <dgm:cxn modelId="{E60A6B97-2F47-4418-9E76-86EA7959C8B4}" type="presParOf" srcId="{A39BE283-9FAD-47E6-AC51-206C1A91E69D}" destId="{EC439966-727C-4807-A236-D4E3CE9950C7}" srcOrd="0" destOrd="0" presId="urn:microsoft.com/office/officeart/2005/8/layout/radial3"/>
    <dgm:cxn modelId="{BFD519BC-0D79-4F2A-98B0-35408A618883}" type="presParOf" srcId="{EC439966-727C-4807-A236-D4E3CE9950C7}" destId="{25F7C319-B8D2-45BF-BAB3-3C04DE6DD803}" srcOrd="0" destOrd="0" presId="urn:microsoft.com/office/officeart/2005/8/layout/radial3"/>
    <dgm:cxn modelId="{7ECD48E5-4E04-46CC-86D4-725AFBE3DE79}" type="presParOf" srcId="{EC439966-727C-4807-A236-D4E3CE9950C7}" destId="{AF411819-B58E-4FD4-9EE5-2623AA8BBF37}" srcOrd="1" destOrd="0" presId="urn:microsoft.com/office/officeart/2005/8/layout/radial3"/>
    <dgm:cxn modelId="{A0378DDF-CA91-4D80-BBBD-48A050E0FBD4}" type="presParOf" srcId="{EC439966-727C-4807-A236-D4E3CE9950C7}" destId="{E5BAAAA9-52C2-4E91-A9A7-8B6AF296F61B}" srcOrd="2" destOrd="0" presId="urn:microsoft.com/office/officeart/2005/8/layout/radial3"/>
    <dgm:cxn modelId="{7CD08841-C160-414C-AE04-0A11851203B8}" type="presParOf" srcId="{EC439966-727C-4807-A236-D4E3CE9950C7}" destId="{42D7EF66-2A05-47BB-A0C0-AE1BC7175C92}" srcOrd="3" destOrd="0" presId="urn:microsoft.com/office/officeart/2005/8/layout/radial3"/>
    <dgm:cxn modelId="{9036BE39-6F42-4CB8-9EEA-61D56FF42215}" type="presParOf" srcId="{EC439966-727C-4807-A236-D4E3CE9950C7}" destId="{5933F40E-2C7C-40F8-A97F-20A93F4CAC2C}" srcOrd="4" destOrd="0" presId="urn:microsoft.com/office/officeart/2005/8/layout/radial3"/>
    <dgm:cxn modelId="{8823F3DD-2F89-463C-B2B6-4B4057148729}" type="presParOf" srcId="{EC439966-727C-4807-A236-D4E3CE9950C7}" destId="{9CB082E1-761D-4D66-8320-6722D39E1446}" srcOrd="5" destOrd="0" presId="urn:microsoft.com/office/officeart/2005/8/layout/radial3"/>
    <dgm:cxn modelId="{A13D254D-3EE1-42D3-B057-411D169543B4}" type="presParOf" srcId="{EC439966-727C-4807-A236-D4E3CE9950C7}" destId="{01DBBD10-EC99-4CA3-9D68-0B12A955F2B6}" srcOrd="6" destOrd="0" presId="urn:microsoft.com/office/officeart/2005/8/layout/radial3"/>
    <dgm:cxn modelId="{AF46782F-7295-48D2-BE85-458A02E2EADF}" type="presParOf" srcId="{EC439966-727C-4807-A236-D4E3CE9950C7}" destId="{3A33AB6C-90BF-4D69-BD96-FA6FF42757B5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7C319-B8D2-45BF-BAB3-3C04DE6DD803}">
      <dsp:nvSpPr>
        <dsp:cNvPr id="0" name=""/>
        <dsp:cNvSpPr/>
      </dsp:nvSpPr>
      <dsp:spPr>
        <a:xfrm>
          <a:off x="3280369" y="216015"/>
          <a:ext cx="2403835" cy="1721788"/>
        </a:xfrm>
        <a:prstGeom prst="ellipse">
          <a:avLst/>
        </a:prstGeom>
        <a:solidFill>
          <a:schemeClr val="accent3"/>
        </a:solidFill>
        <a:ln w="28575">
          <a:solidFill>
            <a:srgbClr val="00B050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Criterios de segmentación del mercado</a:t>
          </a:r>
          <a:endParaRPr lang="es-ES" sz="1800" b="1" kern="1200" dirty="0"/>
        </a:p>
      </dsp:txBody>
      <dsp:txXfrm>
        <a:off x="3632402" y="468165"/>
        <a:ext cx="1699769" cy="1217488"/>
      </dsp:txXfrm>
    </dsp:sp>
    <dsp:sp modelId="{AF411819-B58E-4FD4-9EE5-2623AA8BBF37}">
      <dsp:nvSpPr>
        <dsp:cNvPr id="0" name=""/>
        <dsp:cNvSpPr/>
      </dsp:nvSpPr>
      <dsp:spPr>
        <a:xfrm>
          <a:off x="3302785" y="1966248"/>
          <a:ext cx="2403835" cy="525272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Geográficos</a:t>
          </a:r>
          <a:endParaRPr lang="es-ES" sz="2000" b="1" kern="1200" dirty="0">
            <a:solidFill>
              <a:schemeClr val="tx2"/>
            </a:solidFill>
          </a:endParaRPr>
        </a:p>
      </dsp:txBody>
      <dsp:txXfrm>
        <a:off x="3654818" y="2043172"/>
        <a:ext cx="1699769" cy="371424"/>
      </dsp:txXfrm>
    </dsp:sp>
    <dsp:sp modelId="{E5BAAAA9-52C2-4E91-A9A7-8B6AF296F61B}">
      <dsp:nvSpPr>
        <dsp:cNvPr id="0" name=""/>
        <dsp:cNvSpPr/>
      </dsp:nvSpPr>
      <dsp:spPr>
        <a:xfrm>
          <a:off x="5335075" y="144025"/>
          <a:ext cx="2510391" cy="526972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Demográficos</a:t>
          </a:r>
        </a:p>
      </dsp:txBody>
      <dsp:txXfrm>
        <a:off x="5702713" y="221198"/>
        <a:ext cx="1775115" cy="372626"/>
      </dsp:txXfrm>
    </dsp:sp>
    <dsp:sp modelId="{42D7EF66-2A05-47BB-A0C0-AE1BC7175C92}">
      <dsp:nvSpPr>
        <dsp:cNvPr id="0" name=""/>
        <dsp:cNvSpPr/>
      </dsp:nvSpPr>
      <dsp:spPr>
        <a:xfrm>
          <a:off x="5712094" y="792090"/>
          <a:ext cx="2360320" cy="525402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Económicos</a:t>
          </a:r>
          <a:endParaRPr lang="es-ES" sz="2000" b="1" kern="1200" dirty="0">
            <a:solidFill>
              <a:schemeClr val="tx2"/>
            </a:solidFill>
          </a:endParaRPr>
        </a:p>
      </dsp:txBody>
      <dsp:txXfrm>
        <a:off x="6057755" y="869033"/>
        <a:ext cx="1668998" cy="371516"/>
      </dsp:txXfrm>
    </dsp:sp>
    <dsp:sp modelId="{5933F40E-2C7C-40F8-A97F-20A93F4CAC2C}">
      <dsp:nvSpPr>
        <dsp:cNvPr id="0" name=""/>
        <dsp:cNvSpPr/>
      </dsp:nvSpPr>
      <dsp:spPr>
        <a:xfrm>
          <a:off x="5374483" y="1440164"/>
          <a:ext cx="2493931" cy="542745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Profesión</a:t>
          </a:r>
          <a:endParaRPr lang="es-ES" sz="2000" b="1" kern="1200" dirty="0">
            <a:solidFill>
              <a:schemeClr val="tx2"/>
            </a:solidFill>
          </a:endParaRPr>
        </a:p>
      </dsp:txBody>
      <dsp:txXfrm>
        <a:off x="5739711" y="1519647"/>
        <a:ext cx="1763475" cy="383779"/>
      </dsp:txXfrm>
    </dsp:sp>
    <dsp:sp modelId="{9CB082E1-761D-4D66-8320-6722D39E1446}">
      <dsp:nvSpPr>
        <dsp:cNvPr id="0" name=""/>
        <dsp:cNvSpPr/>
      </dsp:nvSpPr>
      <dsp:spPr>
        <a:xfrm>
          <a:off x="1044222" y="1440162"/>
          <a:ext cx="2509075" cy="535997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Psicológicos</a:t>
          </a:r>
          <a:endParaRPr lang="es-ES" sz="2000" b="1" kern="1200" dirty="0">
            <a:solidFill>
              <a:schemeClr val="tx2"/>
            </a:solidFill>
          </a:endParaRPr>
        </a:p>
      </dsp:txBody>
      <dsp:txXfrm>
        <a:off x="1411668" y="1518657"/>
        <a:ext cx="1774183" cy="379007"/>
      </dsp:txXfrm>
    </dsp:sp>
    <dsp:sp modelId="{01DBBD10-EC99-4CA3-9D68-0B12A955F2B6}">
      <dsp:nvSpPr>
        <dsp:cNvPr id="0" name=""/>
        <dsp:cNvSpPr/>
      </dsp:nvSpPr>
      <dsp:spPr>
        <a:xfrm>
          <a:off x="904776" y="670111"/>
          <a:ext cx="2356618" cy="580351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Gustos</a:t>
          </a:r>
          <a:endParaRPr lang="es-ES" sz="2000" b="1" kern="1200" dirty="0">
            <a:solidFill>
              <a:schemeClr val="tx2"/>
            </a:solidFill>
          </a:endParaRPr>
        </a:p>
      </dsp:txBody>
      <dsp:txXfrm>
        <a:off x="1249895" y="755101"/>
        <a:ext cx="1666380" cy="410371"/>
      </dsp:txXfrm>
    </dsp:sp>
    <dsp:sp modelId="{3A33AB6C-90BF-4D69-BD96-FA6FF42757B5}">
      <dsp:nvSpPr>
        <dsp:cNvPr id="0" name=""/>
        <dsp:cNvSpPr/>
      </dsp:nvSpPr>
      <dsp:spPr>
        <a:xfrm>
          <a:off x="1524338" y="72017"/>
          <a:ext cx="2198064" cy="509369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Empresa</a:t>
          </a:r>
          <a:endParaRPr lang="es-ES" sz="2000" b="1" kern="1200" dirty="0">
            <a:solidFill>
              <a:schemeClr val="tx2"/>
            </a:solidFill>
          </a:endParaRPr>
        </a:p>
      </dsp:txBody>
      <dsp:txXfrm>
        <a:off x="1846237" y="146612"/>
        <a:ext cx="1554266" cy="3601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4E2B-65D4-4D33-83AE-A5EA535FE91A}" type="datetimeFigureOut">
              <a:rPr lang="es-ES" smtClean="0"/>
              <a:t>11/09/2025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8CA4C-A49C-45E2-BE04-B4EF3838BE1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434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3542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2216-3B5A-48B6-B9E5-989B0A558A73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608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B1F9B-BBA3-4244-91C2-6FFBAC6AFCA8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1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E45B-77F0-4D4E-AEE8-092E85ECDDBB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74523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7913-E1AB-4C61-9FD2-6979062E8BFD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531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802F-1EBA-498A-BC2B-525F05C7CA10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1115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4862-04C0-4C3F-BA3B-A319721EC829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7166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D479-0467-41FB-B559-0C59942C84FB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0254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8193C-88BA-40D2-BEAD-3776E8A6F5B7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9760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A35B-299A-4AC6-97C8-0624A440F61B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554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2CA2-690F-4F5A-BDDC-BD5487C11BED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4358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C64E-3D99-40ED-A0BE-213195A42E87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70909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BE9AB-F773-4A1D-934E-2C3E337DFB10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480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itorialtulibro.es/tulibrodefp/login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12776"/>
            <a:ext cx="6768752" cy="3888983"/>
          </a:xfrm>
          <a:prstGeom prst="rect">
            <a:avLst/>
          </a:prstGeom>
        </p:spPr>
      </p:pic>
      <p:sp>
        <p:nvSpPr>
          <p:cNvPr id="14" name="13 CuadroTexto"/>
          <p:cNvSpPr txBox="1"/>
          <p:nvPr/>
        </p:nvSpPr>
        <p:spPr>
          <a:xfrm>
            <a:off x="539552" y="2132856"/>
            <a:ext cx="61206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5400" b="1" dirty="0">
                <a:solidFill>
                  <a:schemeClr val="accent2"/>
                </a:solidFill>
              </a:rPr>
              <a:t>Unidad 4               </a:t>
            </a:r>
            <a:r>
              <a:rPr lang="es-ES_tradnl" sz="5400" dirty="0">
                <a:solidFill>
                  <a:schemeClr val="accent2"/>
                </a:solidFill>
              </a:rPr>
              <a:t> </a:t>
            </a:r>
          </a:p>
          <a:p>
            <a:r>
              <a:rPr lang="es-ES_tradnl" sz="5400" dirty="0">
                <a:solidFill>
                  <a:schemeClr val="accent2"/>
                </a:solidFill>
              </a:rPr>
              <a:t>EL CLIENTE </a:t>
            </a:r>
          </a:p>
          <a:p>
            <a:r>
              <a:rPr lang="es-ES_tradnl" sz="5400" dirty="0">
                <a:solidFill>
                  <a:schemeClr val="accent2"/>
                </a:solidFill>
              </a:rPr>
              <a:t>Y LA IDEA</a:t>
            </a:r>
            <a:endParaRPr lang="es-ES" sz="5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90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4326" y="-3340"/>
            <a:ext cx="5937834" cy="696036"/>
          </a:xfrm>
        </p:spPr>
        <p:txBody>
          <a:bodyPr>
            <a:normAutofit fontScale="90000"/>
          </a:bodyPr>
          <a:lstStyle/>
          <a:p>
            <a:pPr algn="l"/>
            <a:r>
              <a:rPr lang="es-ES_tradnl" b="1" dirty="0"/>
              <a:t>CONTENIDOS</a:t>
            </a:r>
            <a:endParaRPr lang="es-ES" b="1" dirty="0"/>
          </a:p>
        </p:txBody>
      </p:sp>
      <p:sp>
        <p:nvSpPr>
          <p:cNvPr id="6" name="5 Rectángulo">
            <a:hlinkClick r:id="rId2" action="ppaction://hlinksldjump"/>
          </p:cNvPr>
          <p:cNvSpPr/>
          <p:nvPr/>
        </p:nvSpPr>
        <p:spPr>
          <a:xfrm>
            <a:off x="744357" y="1663517"/>
            <a:ext cx="6070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1.  </a:t>
            </a:r>
            <a:r>
              <a:rPr lang="es-ES_tradnl" sz="2800" b="1" dirty="0">
                <a:solidFill>
                  <a:prstClr val="black"/>
                </a:solidFill>
                <a:hlinkClick r:id="rId2" action="ppaction://hlinksldjump"/>
              </a:rPr>
              <a:t>El segmento de mercado</a:t>
            </a:r>
            <a:endParaRPr lang="es-ES_tradnl" sz="2800" b="1" dirty="0">
              <a:solidFill>
                <a:prstClr val="black"/>
              </a:solidFill>
            </a:endParaRPr>
          </a:p>
        </p:txBody>
      </p:sp>
      <p:pic>
        <p:nvPicPr>
          <p:cNvPr id="15" name="14 Imagen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5961" y="1832757"/>
            <a:ext cx="351794" cy="442037"/>
          </a:xfrm>
          <a:prstGeom prst="rect">
            <a:avLst/>
          </a:prstGeom>
        </p:spPr>
      </p:pic>
      <p:sp>
        <p:nvSpPr>
          <p:cNvPr id="18" name="17 Rectángulo">
            <a:hlinkClick r:id="rId4" action="ppaction://hlinksldjump"/>
          </p:cNvPr>
          <p:cNvSpPr/>
          <p:nvPr/>
        </p:nvSpPr>
        <p:spPr>
          <a:xfrm>
            <a:off x="744357" y="2420888"/>
            <a:ext cx="82405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2.  </a:t>
            </a:r>
            <a:r>
              <a:rPr lang="es-ES_tradnl" sz="2800" b="1" dirty="0">
                <a:solidFill>
                  <a:prstClr val="black"/>
                </a:solidFill>
                <a:hlinkClick r:id="rId4" action="ppaction://hlinksldjump"/>
              </a:rPr>
              <a:t>Estudio de nuestro cliente objetivo</a:t>
            </a:r>
            <a:endParaRPr lang="es-ES_tradnl" sz="2800" b="1" dirty="0">
              <a:solidFill>
                <a:prstClr val="black"/>
              </a:solidFill>
            </a:endParaRPr>
          </a:p>
        </p:txBody>
      </p:sp>
      <p:sp>
        <p:nvSpPr>
          <p:cNvPr id="3" name="17 Rectángulo">
            <a:hlinkClick r:id="rId4" action="ppaction://hlinksldjump"/>
            <a:extLst>
              <a:ext uri="{FF2B5EF4-FFF2-40B4-BE49-F238E27FC236}">
                <a16:creationId xmlns:a16="http://schemas.microsoft.com/office/drawing/2014/main" id="{81927584-00C0-B35E-F4CD-03761E2D96D1}"/>
              </a:ext>
            </a:extLst>
          </p:cNvPr>
          <p:cNvSpPr/>
          <p:nvPr/>
        </p:nvSpPr>
        <p:spPr>
          <a:xfrm>
            <a:off x="748356" y="3134777"/>
            <a:ext cx="82405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3.  </a:t>
            </a:r>
            <a:r>
              <a:rPr lang="es-ES_tradnl" sz="2800" b="1" dirty="0">
                <a:solidFill>
                  <a:prstClr val="black"/>
                </a:solidFill>
                <a:hlinkClick r:id="rId5" action="ppaction://hlinksldjump"/>
              </a:rPr>
              <a:t>La idea de negocio</a:t>
            </a:r>
            <a:endParaRPr lang="es-ES_tradnl" sz="2800" b="1" dirty="0">
              <a:solidFill>
                <a:prstClr val="black"/>
              </a:solidFill>
            </a:endParaRPr>
          </a:p>
        </p:txBody>
      </p:sp>
      <p:sp>
        <p:nvSpPr>
          <p:cNvPr id="4" name="17 Rectángulo">
            <a:hlinkClick r:id="rId4" action="ppaction://hlinksldjump"/>
            <a:extLst>
              <a:ext uri="{FF2B5EF4-FFF2-40B4-BE49-F238E27FC236}">
                <a16:creationId xmlns:a16="http://schemas.microsoft.com/office/drawing/2014/main" id="{F8EF2892-E8ED-BA7B-7710-BD91A78E919D}"/>
              </a:ext>
            </a:extLst>
          </p:cNvPr>
          <p:cNvSpPr/>
          <p:nvPr/>
        </p:nvSpPr>
        <p:spPr>
          <a:xfrm>
            <a:off x="761371" y="3896114"/>
            <a:ext cx="82405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4.  </a:t>
            </a:r>
            <a:r>
              <a:rPr lang="es-ES_tradnl" sz="2800" b="1" dirty="0">
                <a:solidFill>
                  <a:prstClr val="black"/>
                </a:solidFill>
                <a:hlinkClick r:id="rId6" action="ppaction://hlinksldjump"/>
              </a:rPr>
              <a:t>Generando la idea de negocio</a:t>
            </a:r>
            <a:endParaRPr lang="es-ES_tradnl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34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BD1AC-2EBF-44D1-B0D1-F59DCD732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52736"/>
            <a:ext cx="7772400" cy="1470025"/>
          </a:xfrm>
        </p:spPr>
        <p:txBody>
          <a:bodyPr/>
          <a:lstStyle/>
          <a:p>
            <a:r>
              <a:rPr lang="es-ES" dirty="0">
                <a:solidFill>
                  <a:srgbClr val="92D050"/>
                </a:solidFill>
              </a:rPr>
              <a:t>RECUERDA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79A394-C202-402E-A66F-0D05BA4A8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348880"/>
            <a:ext cx="6400800" cy="2592288"/>
          </a:xfrm>
        </p:spPr>
        <p:txBody>
          <a:bodyPr/>
          <a:lstStyle/>
          <a:p>
            <a:r>
              <a:rPr lang="es-E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ACCEDE A VÍDEOS Y ENLACES</a:t>
            </a:r>
          </a:p>
          <a:p>
            <a:r>
              <a:rPr lang="es-E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EN EL LIBRO DIGITAL DE IPE II</a:t>
            </a:r>
          </a:p>
          <a:p>
            <a:r>
              <a:rPr lang="es-E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 TUS CLAVES</a:t>
            </a:r>
          </a:p>
          <a:p>
            <a:r>
              <a:rPr lang="es-ES" dirty="0">
                <a:solidFill>
                  <a:schemeClr val="tx2">
                    <a:lumMod val="60000"/>
                    <a:lumOff val="40000"/>
                  </a:schemeClr>
                </a:solidFill>
                <a:hlinkClick r:id="rId2"/>
              </a:rPr>
              <a:t>AQUÍ</a:t>
            </a:r>
            <a:endParaRPr lang="es-E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54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uadroTexto"/>
          <p:cNvSpPr txBox="1"/>
          <p:nvPr/>
        </p:nvSpPr>
        <p:spPr>
          <a:xfrm>
            <a:off x="509158" y="1511237"/>
            <a:ext cx="83714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b="1" dirty="0"/>
              <a:t>Ajustarse a las necesidades y gustos de cada grupo (segmento):</a:t>
            </a:r>
          </a:p>
          <a:p>
            <a:pPr algn="ctr"/>
            <a:r>
              <a:rPr lang="es-ES_tradnl" sz="1600" dirty="0"/>
              <a:t>(Ejemplo alojamiento turístico)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Habitación para descansar				</a:t>
            </a:r>
            <a:r>
              <a:rPr lang="es-ES_tradnl" sz="1600" dirty="0">
                <a:sym typeface="Wingdings" panose="05000000000000000000" pitchFamily="2" charset="2"/>
              </a:rPr>
              <a:t> Hotel</a:t>
            </a:r>
            <a:endParaRPr lang="es-ES_tradnl" sz="1600" dirty="0"/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Espacio más amplio y poder cocinar 			</a:t>
            </a:r>
            <a:r>
              <a:rPr lang="es-ES_tradnl" sz="1600" dirty="0">
                <a:sym typeface="Wingdings" panose="05000000000000000000" pitchFamily="2" charset="2"/>
              </a:rPr>
              <a:t> Apartahotel</a:t>
            </a:r>
            <a:endParaRPr lang="es-ES_tradnl" sz="1600" dirty="0"/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Contacto con naturaleza y compartir zonas de ocio 		</a:t>
            </a:r>
            <a:r>
              <a:rPr lang="es-ES_tradnl" sz="1600" dirty="0">
                <a:sym typeface="Wingdings" panose="05000000000000000000" pitchFamily="2" charset="2"/>
              </a:rPr>
              <a:t> Campings</a:t>
            </a:r>
            <a:endParaRPr lang="es-ES_tradnl" sz="1600" dirty="0"/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Contacto con naturaleza pero más comodidad		</a:t>
            </a:r>
            <a:r>
              <a:rPr lang="es-ES_tradnl" sz="1600" dirty="0">
                <a:sym typeface="Wingdings" panose="05000000000000000000" pitchFamily="2" charset="2"/>
              </a:rPr>
              <a:t> Casas rurales</a:t>
            </a:r>
            <a:endParaRPr lang="es-ES_tradnl" sz="1600" dirty="0"/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Alojamiento económico y contacto con residentes 		</a:t>
            </a:r>
            <a:r>
              <a:rPr lang="es-ES_tradnl" sz="1600" dirty="0">
                <a:sym typeface="Wingdings" panose="05000000000000000000" pitchFamily="2" charset="2"/>
              </a:rPr>
              <a:t> Pisos turísticos o particulares</a:t>
            </a:r>
            <a:endParaRPr lang="es-ES_tradnl" sz="1600" dirty="0"/>
          </a:p>
        </p:txBody>
      </p:sp>
      <p:sp>
        <p:nvSpPr>
          <p:cNvPr id="40" name="39 CuadroTexto">
            <a:hlinkClick r:id="rId2" action="ppaction://hlinksldjump"/>
          </p:cNvPr>
          <p:cNvSpPr txBox="1"/>
          <p:nvPr/>
        </p:nvSpPr>
        <p:spPr>
          <a:xfrm>
            <a:off x="3686365" y="6219930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63" name="62 Imagen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05000" y="6330714"/>
            <a:ext cx="287793" cy="361618"/>
          </a:xfrm>
          <a:prstGeom prst="rect">
            <a:avLst/>
          </a:prstGeom>
        </p:spPr>
      </p:pic>
      <p:sp>
        <p:nvSpPr>
          <p:cNvPr id="54" name="53 Flecha derecha">
            <a:hlinkClick r:id="" action="ppaction://hlinkshowjump?jump=nextslide"/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45" name="44 CuadroTexto"/>
          <p:cNvSpPr txBox="1"/>
          <p:nvPr/>
        </p:nvSpPr>
        <p:spPr>
          <a:xfrm>
            <a:off x="976170" y="806077"/>
            <a:ext cx="7198974" cy="64633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Segmentar el Mercado</a:t>
            </a:r>
            <a:r>
              <a:rPr lang="es-ES_tradn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</a:t>
            </a:r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Dividir el mercado en tipos de clientes Segmento = grupo de clientes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4" name="23 Diagrama"/>
          <p:cNvGraphicFramePr/>
          <p:nvPr>
            <p:extLst>
              <p:ext uri="{D42A27DB-BD31-4B8C-83A1-F6EECF244321}">
                <p14:modId xmlns:p14="http://schemas.microsoft.com/office/powerpoint/2010/main" val="352121736"/>
              </p:ext>
            </p:extLst>
          </p:nvPr>
        </p:nvGraphicFramePr>
        <p:xfrm>
          <a:off x="287293" y="3501008"/>
          <a:ext cx="8965106" cy="2562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1 Título">
            <a:extLst>
              <a:ext uri="{FF2B5EF4-FFF2-40B4-BE49-F238E27FC236}">
                <a16:creationId xmlns:a16="http://schemas.microsoft.com/office/drawing/2014/main" id="{5248DC6E-54B0-B3FC-21E7-8BFCFACE27A1}"/>
              </a:ext>
            </a:extLst>
          </p:cNvPr>
          <p:cNvSpPr txBox="1">
            <a:spLocks/>
          </p:cNvSpPr>
          <p:nvPr/>
        </p:nvSpPr>
        <p:spPr>
          <a:xfrm>
            <a:off x="35496" y="42626"/>
            <a:ext cx="8229600" cy="54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1. El segmento de mercado</a:t>
            </a:r>
          </a:p>
        </p:txBody>
      </p:sp>
    </p:spTree>
    <p:extLst>
      <p:ext uri="{BB962C8B-B14F-4D97-AF65-F5344CB8AC3E}">
        <p14:creationId xmlns:p14="http://schemas.microsoft.com/office/powerpoint/2010/main" val="3215157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1 Título"/>
          <p:cNvSpPr txBox="1">
            <a:spLocks/>
          </p:cNvSpPr>
          <p:nvPr/>
        </p:nvSpPr>
        <p:spPr>
          <a:xfrm>
            <a:off x="35496" y="42626"/>
            <a:ext cx="8229600" cy="54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1. El segmento de mercado</a:t>
            </a:r>
          </a:p>
        </p:txBody>
      </p:sp>
      <p:sp>
        <p:nvSpPr>
          <p:cNvPr id="45" name="44 CuadroTexto"/>
          <p:cNvSpPr txBox="1"/>
          <p:nvPr/>
        </p:nvSpPr>
        <p:spPr>
          <a:xfrm>
            <a:off x="1894650" y="841006"/>
            <a:ext cx="4725340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CURVA DE DIFUSIÓN DE LA INNOVACIÓN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7BF322-22C2-40C4-91E5-997A39F964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39" y="1381948"/>
            <a:ext cx="6480720" cy="4686156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B301EF7E-E204-4129-B152-9E899B185367}"/>
              </a:ext>
            </a:extLst>
          </p:cNvPr>
          <p:cNvGrpSpPr/>
          <p:nvPr/>
        </p:nvGrpSpPr>
        <p:grpSpPr>
          <a:xfrm>
            <a:off x="614546" y="3767199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4963189B-6D4C-4EDA-98B0-74AA6F5E1A44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4" name="Elipse 4">
              <a:extLst>
                <a:ext uri="{FF2B5EF4-FFF2-40B4-BE49-F238E27FC236}">
                  <a16:creationId xmlns:a16="http://schemas.microsoft.com/office/drawing/2014/main" id="{8B0ACA26-5680-4CAC-B7AA-B3B31939A28D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dirty="0">
                  <a:solidFill>
                    <a:schemeClr val="tx2"/>
                  </a:solidFill>
                </a:rPr>
                <a:t>Lo último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4AB5635-883E-4110-8772-140C4777C3B8}"/>
              </a:ext>
            </a:extLst>
          </p:cNvPr>
          <p:cNvGrpSpPr/>
          <p:nvPr/>
        </p:nvGrpSpPr>
        <p:grpSpPr>
          <a:xfrm>
            <a:off x="1867282" y="2628116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C87EE1E6-0DB8-4F57-8E53-B491F5AB0AEF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Elipse 4">
              <a:extLst>
                <a:ext uri="{FF2B5EF4-FFF2-40B4-BE49-F238E27FC236}">
                  <a16:creationId xmlns:a16="http://schemas.microsoft.com/office/drawing/2014/main" id="{7E72E963-2C7B-4F4E-86FC-074B6E638B2D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Solucionar</a:t>
              </a: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dirty="0">
                  <a:solidFill>
                    <a:schemeClr val="tx2"/>
                  </a:solidFill>
                </a:rPr>
                <a:t>problema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92E00AC0-87E8-473A-8B27-8141EB35AE8E}"/>
              </a:ext>
            </a:extLst>
          </p:cNvPr>
          <p:cNvGrpSpPr/>
          <p:nvPr/>
        </p:nvGrpSpPr>
        <p:grpSpPr>
          <a:xfrm>
            <a:off x="3374177" y="3819925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1DB8B4A8-4F5E-4740-92D1-A52C6A2DC58E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Elipse 4">
              <a:extLst>
                <a:ext uri="{FF2B5EF4-FFF2-40B4-BE49-F238E27FC236}">
                  <a16:creationId xmlns:a16="http://schemas.microsoft.com/office/drawing/2014/main" id="{561361AA-0D07-4F1E-826E-441173AC6E09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Prácticos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59B5CEDA-8A7B-4D52-B618-6EA58629FF8D}"/>
              </a:ext>
            </a:extLst>
          </p:cNvPr>
          <p:cNvGrpSpPr/>
          <p:nvPr/>
        </p:nvGrpSpPr>
        <p:grpSpPr>
          <a:xfrm>
            <a:off x="4932040" y="3077344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0F026B9C-BE7E-4425-9E00-B5EFD3063762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Elipse 4">
              <a:extLst>
                <a:ext uri="{FF2B5EF4-FFF2-40B4-BE49-F238E27FC236}">
                  <a16:creationId xmlns:a16="http://schemas.microsoft.com/office/drawing/2014/main" id="{88DF6C68-46FD-4AEF-9D53-3347718163D5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Se quedan atrás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29234BCF-D288-4257-8B07-C5A2EC3FE3C9}"/>
              </a:ext>
            </a:extLst>
          </p:cNvPr>
          <p:cNvGrpSpPr/>
          <p:nvPr/>
        </p:nvGrpSpPr>
        <p:grpSpPr>
          <a:xfrm>
            <a:off x="6575794" y="3612873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3A9681F3-26DC-4161-897F-221265EADFF4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6" name="Elipse 4">
              <a:extLst>
                <a:ext uri="{FF2B5EF4-FFF2-40B4-BE49-F238E27FC236}">
                  <a16:creationId xmlns:a16="http://schemas.microsoft.com/office/drawing/2014/main" id="{59235FE8-399D-461A-B642-B8C643D9E30A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dirty="0">
                  <a:solidFill>
                    <a:schemeClr val="tx2"/>
                  </a:solidFill>
                </a:rPr>
                <a:t>Ponen pegas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sp>
        <p:nvSpPr>
          <p:cNvPr id="2" name="39 CuadroTexto">
            <a:hlinkClick r:id="rId3" action="ppaction://hlinksldjump"/>
            <a:extLst>
              <a:ext uri="{FF2B5EF4-FFF2-40B4-BE49-F238E27FC236}">
                <a16:creationId xmlns:a16="http://schemas.microsoft.com/office/drawing/2014/main" id="{1ABC29C3-B32B-2E05-325C-7EFCEBD1001C}"/>
              </a:ext>
            </a:extLst>
          </p:cNvPr>
          <p:cNvSpPr txBox="1"/>
          <p:nvPr/>
        </p:nvSpPr>
        <p:spPr>
          <a:xfrm>
            <a:off x="3686365" y="6219930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4" name="62 Imagen">
            <a:extLst>
              <a:ext uri="{FF2B5EF4-FFF2-40B4-BE49-F238E27FC236}">
                <a16:creationId xmlns:a16="http://schemas.microsoft.com/office/drawing/2014/main" id="{306633E5-5A03-8F5F-0CBA-95A1A04405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05000" y="6330714"/>
            <a:ext cx="287793" cy="361618"/>
          </a:xfrm>
          <a:prstGeom prst="rect">
            <a:avLst/>
          </a:prstGeom>
        </p:spPr>
      </p:pic>
      <p:sp>
        <p:nvSpPr>
          <p:cNvPr id="5" name="50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8B35D20-1A78-3854-0938-E3B7AEC94630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6" name="53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B8D45ED-551A-62CD-EF11-C6218E56E670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348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uadroTexto"/>
          <p:cNvSpPr txBox="1"/>
          <p:nvPr/>
        </p:nvSpPr>
        <p:spPr>
          <a:xfrm>
            <a:off x="230095" y="1044864"/>
            <a:ext cx="4524587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_tradnl" b="1" dirty="0"/>
              <a:t>Análisis de nuestro cliente objetivo o “target”</a:t>
            </a:r>
            <a:endParaRPr lang="es-ES" b="1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30096" y="1531977"/>
            <a:ext cx="8888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Conocer al cliente y los aspectos influyentes en su compra </a:t>
            </a:r>
            <a:r>
              <a:rPr lang="es-ES_tradnl" sz="1600" dirty="0">
                <a:sym typeface="Wingdings" panose="05000000000000000000" pitchFamily="2" charset="2"/>
              </a:rPr>
              <a:t> permite ofrecerle el producto que necesita</a:t>
            </a:r>
            <a:endParaRPr lang="es-ES" sz="1600" dirty="0"/>
          </a:p>
        </p:txBody>
      </p:sp>
      <p:sp>
        <p:nvSpPr>
          <p:cNvPr id="21" name="20 CuadroTexto"/>
          <p:cNvSpPr txBox="1"/>
          <p:nvPr/>
        </p:nvSpPr>
        <p:spPr>
          <a:xfrm>
            <a:off x="509158" y="2448500"/>
            <a:ext cx="2206898" cy="923330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Datos básicos</a:t>
            </a:r>
          </a:p>
          <a:p>
            <a:pPr algn="ctr"/>
            <a:r>
              <a:rPr lang="es-ES_tradnl" dirty="0"/>
              <a:t>(edad, sexo, nacionalidad,…)</a:t>
            </a:r>
            <a:endParaRPr lang="es-ES" dirty="0"/>
          </a:p>
        </p:txBody>
      </p:sp>
      <p:sp>
        <p:nvSpPr>
          <p:cNvPr id="22" name="21 CuadroTexto"/>
          <p:cNvSpPr txBox="1"/>
          <p:nvPr/>
        </p:nvSpPr>
        <p:spPr>
          <a:xfrm>
            <a:off x="4139952" y="4202667"/>
            <a:ext cx="4447927" cy="923330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¿Por qué lo compra?</a:t>
            </a:r>
          </a:p>
          <a:p>
            <a:pPr algn="ctr"/>
            <a:r>
              <a:rPr lang="es-ES_tradnl" dirty="0"/>
              <a:t>(precio, seguridad, marca, costumbre, experiencia, modas, imitación, impulso,…)</a:t>
            </a:r>
            <a:endParaRPr lang="es-ES" dirty="0"/>
          </a:p>
        </p:txBody>
      </p:sp>
      <p:sp>
        <p:nvSpPr>
          <p:cNvPr id="23" name="22 CuadroTexto"/>
          <p:cNvSpPr txBox="1"/>
          <p:nvPr/>
        </p:nvSpPr>
        <p:spPr>
          <a:xfrm>
            <a:off x="979141" y="4202750"/>
            <a:ext cx="2617700" cy="923330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Hábitos de compra</a:t>
            </a:r>
          </a:p>
          <a:p>
            <a:pPr algn="ctr"/>
            <a:r>
              <a:rPr lang="es-ES_tradnl" dirty="0"/>
              <a:t>(Quién compra, dónde, cuándo, cuánto,…)</a:t>
            </a:r>
            <a:endParaRPr lang="es-ES" dirty="0"/>
          </a:p>
        </p:txBody>
      </p:sp>
      <p:sp>
        <p:nvSpPr>
          <p:cNvPr id="24" name="23 CuadroTexto"/>
          <p:cNvSpPr txBox="1"/>
          <p:nvPr/>
        </p:nvSpPr>
        <p:spPr>
          <a:xfrm>
            <a:off x="3429914" y="2454575"/>
            <a:ext cx="2206898" cy="923330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Datos económicos</a:t>
            </a:r>
          </a:p>
          <a:p>
            <a:pPr algn="ctr"/>
            <a:r>
              <a:rPr lang="es-ES_tradnl" dirty="0"/>
              <a:t>(Renta, disposición a pagar…)</a:t>
            </a:r>
            <a:endParaRPr lang="es-ES" dirty="0"/>
          </a:p>
        </p:txBody>
      </p:sp>
      <p:sp>
        <p:nvSpPr>
          <p:cNvPr id="25" name="24 CuadroTexto"/>
          <p:cNvSpPr txBox="1"/>
          <p:nvPr/>
        </p:nvSpPr>
        <p:spPr>
          <a:xfrm>
            <a:off x="6164957" y="2586999"/>
            <a:ext cx="2206898" cy="646331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Gustos y preferencias</a:t>
            </a:r>
          </a:p>
        </p:txBody>
      </p:sp>
      <p:sp>
        <p:nvSpPr>
          <p:cNvPr id="2" name="39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7A7B579D-2D23-E054-E18B-FCD426A2F5D9}"/>
              </a:ext>
            </a:extLst>
          </p:cNvPr>
          <p:cNvSpPr txBox="1"/>
          <p:nvPr/>
        </p:nvSpPr>
        <p:spPr>
          <a:xfrm>
            <a:off x="3686365" y="6219930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3" name="62 Imagen">
            <a:extLst>
              <a:ext uri="{FF2B5EF4-FFF2-40B4-BE49-F238E27FC236}">
                <a16:creationId xmlns:a16="http://schemas.microsoft.com/office/drawing/2014/main" id="{6353535E-06E2-3F5F-544F-D35BF71F1D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05000" y="6330714"/>
            <a:ext cx="287793" cy="361618"/>
          </a:xfrm>
          <a:prstGeom prst="rect">
            <a:avLst/>
          </a:prstGeom>
        </p:spPr>
      </p:pic>
      <p:sp>
        <p:nvSpPr>
          <p:cNvPr id="4" name="50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9B5F3BC-DD25-38BA-8987-8D46A201631D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5" name="53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0CB6BDE-4900-3D8B-B53D-B22148933BBA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1A243B72-9702-DED0-0CE8-50BFAB411C40}"/>
              </a:ext>
            </a:extLst>
          </p:cNvPr>
          <p:cNvSpPr txBox="1">
            <a:spLocks/>
          </p:cNvSpPr>
          <p:nvPr/>
        </p:nvSpPr>
        <p:spPr>
          <a:xfrm>
            <a:off x="35496" y="42626"/>
            <a:ext cx="8563696" cy="5060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2. Estudio de cliente objetivo</a:t>
            </a:r>
          </a:p>
        </p:txBody>
      </p:sp>
    </p:spTree>
    <p:extLst>
      <p:ext uri="{BB962C8B-B14F-4D97-AF65-F5344CB8AC3E}">
        <p14:creationId xmlns:p14="http://schemas.microsoft.com/office/powerpoint/2010/main" val="3075749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2DF6D80F-D478-405C-8D85-3697BDC13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87" y="2214599"/>
            <a:ext cx="7485269" cy="3553674"/>
          </a:xfr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AA64B3-AFD4-4868-B8F0-22A7F855B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7</a:t>
            </a:fld>
            <a:endParaRPr lang="es-ES" dirty="0"/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99303E0C-F8DD-4306-8263-E3A054CD5B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496" y="44624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2. Estudio de cliente objetivo: el lienzo</a:t>
            </a:r>
          </a:p>
        </p:txBody>
      </p:sp>
      <p:sp>
        <p:nvSpPr>
          <p:cNvPr id="9" name="9 CuadroTexto">
            <a:extLst>
              <a:ext uri="{FF2B5EF4-FFF2-40B4-BE49-F238E27FC236}">
                <a16:creationId xmlns:a16="http://schemas.microsoft.com/office/drawing/2014/main" id="{A426316E-5208-4B3A-AE95-C605D232E4E1}"/>
              </a:ext>
            </a:extLst>
          </p:cNvPr>
          <p:cNvSpPr txBox="1"/>
          <p:nvPr/>
        </p:nvSpPr>
        <p:spPr>
          <a:xfrm>
            <a:off x="251520" y="1124465"/>
            <a:ext cx="4524587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_tradnl" b="1" dirty="0"/>
              <a:t>Lienzo de propuesta de valor y </a:t>
            </a:r>
            <a:r>
              <a:rPr lang="es-ES_tradnl" b="1" dirty="0" err="1"/>
              <a:t>Early</a:t>
            </a:r>
            <a:r>
              <a:rPr lang="es-ES_tradnl" b="1" dirty="0"/>
              <a:t> </a:t>
            </a:r>
            <a:r>
              <a:rPr lang="es-ES_tradnl" b="1" dirty="0" err="1"/>
              <a:t>Adopters</a:t>
            </a:r>
            <a:endParaRPr lang="es-ES" b="1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585420-4B6F-4F2C-995E-27809620F52B}"/>
              </a:ext>
            </a:extLst>
          </p:cNvPr>
          <p:cNvGrpSpPr/>
          <p:nvPr/>
        </p:nvGrpSpPr>
        <p:grpSpPr>
          <a:xfrm>
            <a:off x="6657617" y="1769934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095B3B81-C17F-4BC7-A269-6A08C4765154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2" name="Elipse 4">
              <a:extLst>
                <a:ext uri="{FF2B5EF4-FFF2-40B4-BE49-F238E27FC236}">
                  <a16:creationId xmlns:a16="http://schemas.microsoft.com/office/drawing/2014/main" id="{43787642-233D-4D77-92AD-86F327AD7517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Qué</a:t>
              </a:r>
              <a:r>
                <a:rPr lang="es-ES_tradnl" sz="1100" b="1" dirty="0">
                  <a:solidFill>
                    <a:schemeClr val="tx2"/>
                  </a:solidFill>
                </a:rPr>
                <a:t> busca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8CAB4F34-474B-4A16-A501-20023E9A5C4F}"/>
              </a:ext>
            </a:extLst>
          </p:cNvPr>
          <p:cNvGrpSpPr/>
          <p:nvPr/>
        </p:nvGrpSpPr>
        <p:grpSpPr>
          <a:xfrm>
            <a:off x="7763136" y="2829212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DD1604E0-E0F9-402A-BF90-8D4854078C7B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Elipse 4">
              <a:extLst>
                <a:ext uri="{FF2B5EF4-FFF2-40B4-BE49-F238E27FC236}">
                  <a16:creationId xmlns:a16="http://schemas.microsoft.com/office/drawing/2014/main" id="{6E936F99-3FEF-453C-81AA-2E88498B77FA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Qué hace ahora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2506926-B0D4-4E2F-B64B-BD4AF23013FF}"/>
              </a:ext>
            </a:extLst>
          </p:cNvPr>
          <p:cNvGrpSpPr/>
          <p:nvPr/>
        </p:nvGrpSpPr>
        <p:grpSpPr>
          <a:xfrm>
            <a:off x="7521596" y="4797152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C59B39E8-0FE9-4CEF-9649-3F5D469CF128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8" name="Elipse 4">
              <a:extLst>
                <a:ext uri="{FF2B5EF4-FFF2-40B4-BE49-F238E27FC236}">
                  <a16:creationId xmlns:a16="http://schemas.microsoft.com/office/drawing/2014/main" id="{6D7E7840-5860-435E-801B-3326C1ECE84D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Que tiene el cliente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85FCCBC-B951-4202-BB49-058B132C90F2}"/>
              </a:ext>
            </a:extLst>
          </p:cNvPr>
          <p:cNvGrpSpPr/>
          <p:nvPr/>
        </p:nvGrpSpPr>
        <p:grpSpPr>
          <a:xfrm>
            <a:off x="2041819" y="1717208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688E93D7-2CA3-4C94-86ED-43539CF26A23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1" name="Elipse 4">
              <a:extLst>
                <a:ext uri="{FF2B5EF4-FFF2-40B4-BE49-F238E27FC236}">
                  <a16:creationId xmlns:a16="http://schemas.microsoft.com/office/drawing/2014/main" id="{8524E559-E81B-4305-A62A-0A3ABA01EA87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Describir</a:t>
              </a: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dirty="0">
                  <a:solidFill>
                    <a:schemeClr val="tx2"/>
                  </a:solidFill>
                </a:rPr>
                <a:t>productos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054DDFA8-1C2A-4594-85BB-8FE7C0102BF9}"/>
              </a:ext>
            </a:extLst>
          </p:cNvPr>
          <p:cNvGrpSpPr/>
          <p:nvPr/>
        </p:nvGrpSpPr>
        <p:grpSpPr>
          <a:xfrm>
            <a:off x="4170580" y="1740541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B7567B6E-DA72-4624-A05F-2D59326877BE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Elipse 4">
              <a:extLst>
                <a:ext uri="{FF2B5EF4-FFF2-40B4-BE49-F238E27FC236}">
                  <a16:creationId xmlns:a16="http://schemas.microsoft.com/office/drawing/2014/main" id="{0F1C757F-452A-44AE-9B4C-F1785ACDC1C8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Obtendrá</a:t>
              </a: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el cliente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65906507-BE79-4292-920B-99D1B65B8607}"/>
              </a:ext>
            </a:extLst>
          </p:cNvPr>
          <p:cNvGrpSpPr/>
          <p:nvPr/>
        </p:nvGrpSpPr>
        <p:grpSpPr>
          <a:xfrm>
            <a:off x="1763688" y="5393930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76F5A75-FF4F-43AE-AA08-1CF9DC30A197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7" name="Elipse 4">
              <a:extLst>
                <a:ext uri="{FF2B5EF4-FFF2-40B4-BE49-F238E27FC236}">
                  <a16:creationId xmlns:a16="http://schemas.microsoft.com/office/drawing/2014/main" id="{F4E98F9B-1099-48EF-8466-6E63211919A9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Posibles</a:t>
              </a: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dirty="0">
                  <a:solidFill>
                    <a:schemeClr val="tx2"/>
                  </a:solidFill>
                </a:rPr>
                <a:t>soluciones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D912ECEA-F6E0-4AEA-95B3-7BEA3ABE349A}"/>
              </a:ext>
            </a:extLst>
          </p:cNvPr>
          <p:cNvGrpSpPr/>
          <p:nvPr/>
        </p:nvGrpSpPr>
        <p:grpSpPr>
          <a:xfrm>
            <a:off x="15913" y="2455609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68C3F569-34C9-4572-A8D8-614BD45CA6FA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30" name="Elipse 4">
              <a:extLst>
                <a:ext uri="{FF2B5EF4-FFF2-40B4-BE49-F238E27FC236}">
                  <a16:creationId xmlns:a16="http://schemas.microsoft.com/office/drawing/2014/main" id="{25302F74-2CF9-4588-863A-8E78EDCC72BA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Y valida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sp>
        <p:nvSpPr>
          <p:cNvPr id="2" name="39 CuadroTexto">
            <a:hlinkClick r:id="rId3" action="ppaction://hlinksldjump"/>
            <a:extLst>
              <a:ext uri="{FF2B5EF4-FFF2-40B4-BE49-F238E27FC236}">
                <a16:creationId xmlns:a16="http://schemas.microsoft.com/office/drawing/2014/main" id="{9A7C5397-72A3-BB7F-0901-67F574569441}"/>
              </a:ext>
            </a:extLst>
          </p:cNvPr>
          <p:cNvSpPr txBox="1"/>
          <p:nvPr/>
        </p:nvSpPr>
        <p:spPr>
          <a:xfrm>
            <a:off x="3686365" y="6219930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3" name="62 Imagen">
            <a:extLst>
              <a:ext uri="{FF2B5EF4-FFF2-40B4-BE49-F238E27FC236}">
                <a16:creationId xmlns:a16="http://schemas.microsoft.com/office/drawing/2014/main" id="{A7BC3A6D-FA5A-E1B1-18DD-9E97428042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05000" y="6330714"/>
            <a:ext cx="287793" cy="361618"/>
          </a:xfrm>
          <a:prstGeom prst="rect">
            <a:avLst/>
          </a:prstGeom>
        </p:spPr>
      </p:pic>
      <p:sp>
        <p:nvSpPr>
          <p:cNvPr id="7" name="50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8006916-E6F5-74D1-2D0E-16DE83D7587C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31" name="53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1E2EB9D-E628-D931-4444-22C5E2A9841B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004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32AC5-4367-A1B1-847F-EE5FCDFDC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 Título">
            <a:extLst>
              <a:ext uri="{FF2B5EF4-FFF2-40B4-BE49-F238E27FC236}">
                <a16:creationId xmlns:a16="http://schemas.microsoft.com/office/drawing/2014/main" id="{D7A83A76-34B8-D4FC-A388-9BB19833DC6E}"/>
              </a:ext>
            </a:extLst>
          </p:cNvPr>
          <p:cNvSpPr txBox="1">
            <a:spLocks/>
          </p:cNvSpPr>
          <p:nvPr/>
        </p:nvSpPr>
        <p:spPr>
          <a:xfrm>
            <a:off x="35496" y="42626"/>
            <a:ext cx="8563696" cy="5060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2. Estudio de cliente objetivo: mapa empatía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F51BD234-A257-402B-B6E6-7DE790A6CCD6}"/>
              </a:ext>
            </a:extLst>
          </p:cNvPr>
          <p:cNvGrpSpPr/>
          <p:nvPr/>
        </p:nvGrpSpPr>
        <p:grpSpPr>
          <a:xfrm>
            <a:off x="941460" y="4725144"/>
            <a:ext cx="2762617" cy="1130421"/>
            <a:chOff x="3307521" y="0"/>
            <a:chExt cx="1908313" cy="549997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80D03EB0-ACC1-46F5-8E68-2C47CAEEF11F}"/>
                </a:ext>
              </a:extLst>
            </p:cNvPr>
            <p:cNvSpPr/>
            <p:nvPr/>
          </p:nvSpPr>
          <p:spPr>
            <a:xfrm>
              <a:off x="3307521" y="0"/>
              <a:ext cx="1908313" cy="54999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7" name="Rectángulo: esquinas redondeadas 4">
              <a:extLst>
                <a:ext uri="{FF2B5EF4-FFF2-40B4-BE49-F238E27FC236}">
                  <a16:creationId xmlns:a16="http://schemas.microsoft.com/office/drawing/2014/main" id="{7ECB85EE-1FA0-4FD2-A9E0-A445D3C4A5E0}"/>
                </a:ext>
              </a:extLst>
            </p:cNvPr>
            <p:cNvSpPr txBox="1"/>
            <p:nvPr/>
          </p:nvSpPr>
          <p:spPr>
            <a:xfrm>
              <a:off x="3334370" y="26849"/>
              <a:ext cx="1854615" cy="496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2100" dirty="0"/>
                <a:t>ENTREVISTA </a:t>
              </a:r>
            </a:p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2100" kern="1200" dirty="0"/>
                <a:t>DE PROBLEMA</a:t>
              </a:r>
              <a:endParaRPr lang="es-ES" sz="2100" kern="1200" dirty="0"/>
            </a:p>
          </p:txBody>
        </p:sp>
      </p:grpSp>
      <p:sp>
        <p:nvSpPr>
          <p:cNvPr id="31" name="22 CuadroTexto">
            <a:extLst>
              <a:ext uri="{FF2B5EF4-FFF2-40B4-BE49-F238E27FC236}">
                <a16:creationId xmlns:a16="http://schemas.microsoft.com/office/drawing/2014/main" id="{18CFE0FF-4A5A-4EA7-94D8-D98B8BDDE6F3}"/>
              </a:ext>
            </a:extLst>
          </p:cNvPr>
          <p:cNvSpPr txBox="1"/>
          <p:nvPr/>
        </p:nvSpPr>
        <p:spPr>
          <a:xfrm>
            <a:off x="4639783" y="4674118"/>
            <a:ext cx="3505791" cy="1200329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Saber si lo que queremos ofrecer realmente está solucionando </a:t>
            </a:r>
          </a:p>
          <a:p>
            <a:pPr algn="ctr"/>
            <a:r>
              <a:rPr lang="es-ES_tradnl" dirty="0"/>
              <a:t>un problema de nuestros clientes </a:t>
            </a:r>
          </a:p>
          <a:p>
            <a:pPr algn="ctr"/>
            <a:r>
              <a:rPr lang="es-ES_tradnl" dirty="0"/>
              <a:t>¡O no!</a:t>
            </a:r>
            <a:endParaRPr lang="es-ES" dirty="0"/>
          </a:p>
        </p:txBody>
      </p:sp>
      <p:sp>
        <p:nvSpPr>
          <p:cNvPr id="35" name="11 Flecha derecha">
            <a:extLst>
              <a:ext uri="{FF2B5EF4-FFF2-40B4-BE49-F238E27FC236}">
                <a16:creationId xmlns:a16="http://schemas.microsoft.com/office/drawing/2014/main" id="{B9E70A1D-B25B-4450-A167-E4644E175E08}"/>
              </a:ext>
            </a:extLst>
          </p:cNvPr>
          <p:cNvSpPr/>
          <p:nvPr/>
        </p:nvSpPr>
        <p:spPr>
          <a:xfrm>
            <a:off x="3742946" y="5165274"/>
            <a:ext cx="713503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5" name="Imagen 4" descr="Imagen que contiene tarjeta de presentación, texto&#10;&#10;El contenido generado por IA puede ser incorrecto.">
            <a:extLst>
              <a:ext uri="{FF2B5EF4-FFF2-40B4-BE49-F238E27FC236}">
                <a16:creationId xmlns:a16="http://schemas.microsoft.com/office/drawing/2014/main" id="{83283832-D006-628C-2310-E227D8D69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590" y="1092051"/>
            <a:ext cx="6685717" cy="3139613"/>
          </a:xfrm>
          <a:prstGeom prst="rect">
            <a:avLst/>
          </a:prstGeom>
        </p:spPr>
      </p:pic>
      <p:sp>
        <p:nvSpPr>
          <p:cNvPr id="4" name="39 CuadroTexto">
            <a:hlinkClick r:id="rId3" action="ppaction://hlinksldjump"/>
            <a:extLst>
              <a:ext uri="{FF2B5EF4-FFF2-40B4-BE49-F238E27FC236}">
                <a16:creationId xmlns:a16="http://schemas.microsoft.com/office/drawing/2014/main" id="{8BF20A70-903C-06FE-6DD8-BE3DEF4D0A18}"/>
              </a:ext>
            </a:extLst>
          </p:cNvPr>
          <p:cNvSpPr txBox="1"/>
          <p:nvPr/>
        </p:nvSpPr>
        <p:spPr>
          <a:xfrm>
            <a:off x="3686365" y="6219930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6" name="62 Imagen">
            <a:extLst>
              <a:ext uri="{FF2B5EF4-FFF2-40B4-BE49-F238E27FC236}">
                <a16:creationId xmlns:a16="http://schemas.microsoft.com/office/drawing/2014/main" id="{470A9847-853D-64CA-B12C-6C39F649D0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05000" y="6330714"/>
            <a:ext cx="287793" cy="361618"/>
          </a:xfrm>
          <a:prstGeom prst="rect">
            <a:avLst/>
          </a:prstGeom>
        </p:spPr>
      </p:pic>
      <p:sp>
        <p:nvSpPr>
          <p:cNvPr id="10" name="50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D4877C5-8EC9-852D-3530-AEFC3C13F5EB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1" name="53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C0F7454-855D-B240-15E1-618858ED4DDD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028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37 CuadroTexto"/>
          <p:cNvSpPr txBox="1"/>
          <p:nvPr/>
        </p:nvSpPr>
        <p:spPr>
          <a:xfrm>
            <a:off x="333905" y="803751"/>
            <a:ext cx="814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i="1" dirty="0"/>
              <a:t>La </a:t>
            </a:r>
            <a:r>
              <a:rPr lang="es-ES_tradnl" b="1" i="1" dirty="0"/>
              <a:t>idea</a:t>
            </a:r>
            <a:r>
              <a:rPr lang="es-ES_tradnl" i="1" dirty="0"/>
              <a:t> es la visión que tiene el emprendedor de su proyecto empresarial </a:t>
            </a:r>
            <a:endParaRPr lang="es-ES" i="1" dirty="0"/>
          </a:p>
        </p:txBody>
      </p:sp>
      <p:sp>
        <p:nvSpPr>
          <p:cNvPr id="44" name="43 Rectángulo">
            <a:hlinkClick r:id="rId2" action="ppaction://hlinksldjump"/>
          </p:cNvPr>
          <p:cNvSpPr/>
          <p:nvPr/>
        </p:nvSpPr>
        <p:spPr>
          <a:xfrm>
            <a:off x="549212" y="5691881"/>
            <a:ext cx="43802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Amplía:</a:t>
            </a:r>
            <a:r>
              <a:rPr lang="es-ES_tradnl" sz="1400" b="1" dirty="0">
                <a:solidFill>
                  <a:srgbClr val="C00000"/>
                </a:solidFill>
              </a:rPr>
              <a:t> “Sobre esa gran idea que usted dijo que tenía”</a:t>
            </a:r>
          </a:p>
        </p:txBody>
      </p:sp>
      <p:pic>
        <p:nvPicPr>
          <p:cNvPr id="52" name="51 Imagen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1107" y="5751821"/>
            <a:ext cx="351794" cy="442037"/>
          </a:xfrm>
          <a:prstGeom prst="rect">
            <a:avLst/>
          </a:prstGeom>
        </p:spPr>
      </p:pic>
      <p:sp>
        <p:nvSpPr>
          <p:cNvPr id="40" name="39 CuadroTexto"/>
          <p:cNvSpPr txBox="1"/>
          <p:nvPr/>
        </p:nvSpPr>
        <p:spPr>
          <a:xfrm>
            <a:off x="148256" y="1523398"/>
            <a:ext cx="1183384" cy="369332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4 aspectos</a:t>
            </a:r>
            <a:endParaRPr lang="es-ES" b="1" dirty="0"/>
          </a:p>
        </p:txBody>
      </p:sp>
      <p:sp>
        <p:nvSpPr>
          <p:cNvPr id="4" name="3 CuadroTexto"/>
          <p:cNvSpPr txBox="1"/>
          <p:nvPr/>
        </p:nvSpPr>
        <p:spPr>
          <a:xfrm>
            <a:off x="166732" y="2495644"/>
            <a:ext cx="4257352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_tradnl" dirty="0"/>
              <a:t>Fuentes de Ideas de Negocio</a:t>
            </a:r>
            <a:endParaRPr lang="es-ES" dirty="0"/>
          </a:p>
        </p:txBody>
      </p:sp>
      <p:sp>
        <p:nvSpPr>
          <p:cNvPr id="15" name="14 Rectángulo"/>
          <p:cNvSpPr/>
          <p:nvPr/>
        </p:nvSpPr>
        <p:spPr>
          <a:xfrm>
            <a:off x="7348292" y="1489765"/>
            <a:ext cx="1513043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none">
            <a:spAutoFit/>
          </a:bodyPr>
          <a:lstStyle/>
          <a:p>
            <a:r>
              <a:rPr lang="es-ES_tradnl" b="1" dirty="0"/>
              <a:t>Qué objetivos</a:t>
            </a:r>
            <a:endParaRPr lang="es-ES" b="1" dirty="0"/>
          </a:p>
        </p:txBody>
      </p:sp>
      <p:sp>
        <p:nvSpPr>
          <p:cNvPr id="17" name="16 Rectángulo"/>
          <p:cNvSpPr/>
          <p:nvPr/>
        </p:nvSpPr>
        <p:spPr>
          <a:xfrm>
            <a:off x="4710262" y="1485715"/>
            <a:ext cx="2282547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lvl="0" algn="ctr"/>
            <a:r>
              <a:rPr lang="es-ES_tradnl" b="1" dirty="0">
                <a:solidFill>
                  <a:prstClr val="black"/>
                </a:solidFill>
              </a:rPr>
              <a:t>Propuesta de valor.</a:t>
            </a:r>
          </a:p>
          <a:p>
            <a:pPr lvl="0" algn="ctr"/>
            <a:r>
              <a:rPr lang="es-ES_tradnl" b="1" dirty="0">
                <a:solidFill>
                  <a:prstClr val="black"/>
                </a:solidFill>
              </a:rPr>
              <a:t>El porqué se venderá</a:t>
            </a:r>
            <a:endParaRPr lang="es-ES" b="1" dirty="0">
              <a:solidFill>
                <a:prstClr val="black"/>
              </a:solidFill>
            </a:endParaRPr>
          </a:p>
        </p:txBody>
      </p:sp>
      <p:sp>
        <p:nvSpPr>
          <p:cNvPr id="21" name="20 Rectángulo"/>
          <p:cNvSpPr/>
          <p:nvPr/>
        </p:nvSpPr>
        <p:spPr>
          <a:xfrm>
            <a:off x="1503110" y="1507691"/>
            <a:ext cx="129386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_tradnl" b="1" dirty="0"/>
              <a:t>Actividad</a:t>
            </a:r>
            <a:endParaRPr lang="es-ES" b="1" dirty="0"/>
          </a:p>
        </p:txBody>
      </p:sp>
      <p:sp>
        <p:nvSpPr>
          <p:cNvPr id="22" name="21 CuadroTexto"/>
          <p:cNvSpPr txBox="1"/>
          <p:nvPr/>
        </p:nvSpPr>
        <p:spPr>
          <a:xfrm>
            <a:off x="166732" y="2926270"/>
            <a:ext cx="8455273" cy="2862322"/>
          </a:xfrm>
          <a:prstGeom prst="rect">
            <a:avLst/>
          </a:prstGeom>
          <a:noFill/>
        </p:spPr>
        <p:txBody>
          <a:bodyPr wrap="square" numCol="3" spcCol="360000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s-ES_tradnl" dirty="0"/>
              <a:t>Características personales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dirty="0"/>
              <a:t>Experiencia otra empresa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dirty="0"/>
              <a:t>Aficiones personales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marL="285750" indent="-285750">
              <a:buFont typeface="Wingdings" pitchFamily="2" charset="2"/>
              <a:buChar char="Ø"/>
            </a:pPr>
            <a:r>
              <a:rPr lang="es-ES_tradnl" dirty="0"/>
              <a:t>Observación del entorno económico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dirty="0"/>
              <a:t>Carencia de mercado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dirty="0"/>
              <a:t>Estudio otros mercados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dirty="0"/>
              <a:t>Tendencias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marL="285750" indent="-285750">
              <a:buFont typeface="Wingdings" pitchFamily="2" charset="2"/>
              <a:buChar char="Ø"/>
            </a:pPr>
            <a:r>
              <a:rPr lang="es-ES_tradnl" dirty="0"/>
              <a:t>Innovación de un producto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dirty="0"/>
              <a:t>Nuevo producto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dirty="0"/>
              <a:t>Ofrecer producto de forma distinta</a:t>
            </a:r>
            <a:endParaRPr lang="es-ES" dirty="0"/>
          </a:p>
        </p:txBody>
      </p:sp>
      <p:sp>
        <p:nvSpPr>
          <p:cNvPr id="2" name="1 CuadroTexto"/>
          <p:cNvSpPr txBox="1"/>
          <p:nvPr/>
        </p:nvSpPr>
        <p:spPr>
          <a:xfrm>
            <a:off x="2879068" y="1503195"/>
            <a:ext cx="21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+</a:t>
            </a:r>
            <a:endParaRPr lang="es-ES" b="1" dirty="0"/>
          </a:p>
        </p:txBody>
      </p:sp>
      <p:sp>
        <p:nvSpPr>
          <p:cNvPr id="23" name="22 CuadroTexto"/>
          <p:cNvSpPr txBox="1"/>
          <p:nvPr/>
        </p:nvSpPr>
        <p:spPr>
          <a:xfrm>
            <a:off x="7061591" y="1523398"/>
            <a:ext cx="21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+</a:t>
            </a:r>
            <a:endParaRPr lang="es-ES" b="1" dirty="0"/>
          </a:p>
        </p:txBody>
      </p:sp>
      <p:sp>
        <p:nvSpPr>
          <p:cNvPr id="24" name="23 CuadroTexto"/>
          <p:cNvSpPr txBox="1"/>
          <p:nvPr/>
        </p:nvSpPr>
        <p:spPr>
          <a:xfrm>
            <a:off x="166732" y="5096302"/>
            <a:ext cx="2882687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_tradnl" dirty="0"/>
              <a:t>Propuesta de valor de la idea</a:t>
            </a:r>
            <a:endParaRPr lang="es-ES" dirty="0"/>
          </a:p>
        </p:txBody>
      </p:sp>
      <p:sp>
        <p:nvSpPr>
          <p:cNvPr id="25" name="24 CuadroTexto"/>
          <p:cNvSpPr txBox="1"/>
          <p:nvPr/>
        </p:nvSpPr>
        <p:spPr>
          <a:xfrm>
            <a:off x="2355154" y="5109949"/>
            <a:ext cx="6404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i="1" dirty="0">
                <a:sym typeface="Wingdings" pitchFamily="2" charset="2"/>
              </a:rPr>
              <a:t> </a:t>
            </a:r>
            <a:r>
              <a:rPr lang="es-ES_tradnl" sz="1600" i="1" dirty="0"/>
              <a:t>Lo importante no es el producto sino la propuesta </a:t>
            </a:r>
          </a:p>
          <a:p>
            <a:pPr algn="ctr"/>
            <a:r>
              <a:rPr lang="es-ES_tradnl" sz="1600" i="1" dirty="0"/>
              <a:t>de valor que hay detrás</a:t>
            </a:r>
            <a:endParaRPr lang="es-ES" sz="1600" i="1" dirty="0"/>
          </a:p>
        </p:txBody>
      </p:sp>
      <p:sp>
        <p:nvSpPr>
          <p:cNvPr id="26" name="20 Rectángulo">
            <a:extLst>
              <a:ext uri="{FF2B5EF4-FFF2-40B4-BE49-F238E27FC236}">
                <a16:creationId xmlns:a16="http://schemas.microsoft.com/office/drawing/2014/main" id="{692EEB93-7918-4FA2-8169-FB5C6D93D841}"/>
              </a:ext>
            </a:extLst>
          </p:cNvPr>
          <p:cNvSpPr/>
          <p:nvPr/>
        </p:nvSpPr>
        <p:spPr>
          <a:xfrm>
            <a:off x="3130216" y="1503195"/>
            <a:ext cx="129386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_tradnl" b="1" dirty="0"/>
              <a:t>A quiénes</a:t>
            </a:r>
            <a:endParaRPr lang="es-ES" b="1" dirty="0"/>
          </a:p>
        </p:txBody>
      </p:sp>
      <p:sp>
        <p:nvSpPr>
          <p:cNvPr id="28" name="1 CuadroTexto">
            <a:extLst>
              <a:ext uri="{FF2B5EF4-FFF2-40B4-BE49-F238E27FC236}">
                <a16:creationId xmlns:a16="http://schemas.microsoft.com/office/drawing/2014/main" id="{0B39BEF4-D03C-4DB2-B8FE-8ED67169ADFA}"/>
              </a:ext>
            </a:extLst>
          </p:cNvPr>
          <p:cNvSpPr txBox="1"/>
          <p:nvPr/>
        </p:nvSpPr>
        <p:spPr>
          <a:xfrm>
            <a:off x="4448836" y="1496276"/>
            <a:ext cx="21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+</a:t>
            </a:r>
            <a:endParaRPr lang="es-ES" b="1" dirty="0"/>
          </a:p>
        </p:txBody>
      </p:sp>
      <p:sp>
        <p:nvSpPr>
          <p:cNvPr id="3" name="39 CuadroTexto">
            <a:hlinkClick r:id="rId4" action="ppaction://hlinksldjump"/>
            <a:extLst>
              <a:ext uri="{FF2B5EF4-FFF2-40B4-BE49-F238E27FC236}">
                <a16:creationId xmlns:a16="http://schemas.microsoft.com/office/drawing/2014/main" id="{D7E7F6EF-E31E-C8FA-AF65-307390365DDD}"/>
              </a:ext>
            </a:extLst>
          </p:cNvPr>
          <p:cNvSpPr txBox="1"/>
          <p:nvPr/>
        </p:nvSpPr>
        <p:spPr>
          <a:xfrm>
            <a:off x="3686365" y="6219930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5" name="62 Imagen">
            <a:extLst>
              <a:ext uri="{FF2B5EF4-FFF2-40B4-BE49-F238E27FC236}">
                <a16:creationId xmlns:a16="http://schemas.microsoft.com/office/drawing/2014/main" id="{ED8E2C6A-DE25-04F6-5D11-2046BF897A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05000" y="6330714"/>
            <a:ext cx="287793" cy="361618"/>
          </a:xfrm>
          <a:prstGeom prst="rect">
            <a:avLst/>
          </a:prstGeom>
        </p:spPr>
      </p:pic>
      <p:sp>
        <p:nvSpPr>
          <p:cNvPr id="6" name="50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1CAC742-50C4-5A32-F230-8CE522E4C044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7" name="53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E8632D5-56EF-AEEA-4E59-FE260031C7BD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8" name="1 Título">
            <a:extLst>
              <a:ext uri="{FF2B5EF4-FFF2-40B4-BE49-F238E27FC236}">
                <a16:creationId xmlns:a16="http://schemas.microsoft.com/office/drawing/2014/main" id="{5FE6313F-C776-AB9C-2940-61415B026717}"/>
              </a:ext>
            </a:extLst>
          </p:cNvPr>
          <p:cNvSpPr txBox="1">
            <a:spLocks/>
          </p:cNvSpPr>
          <p:nvPr/>
        </p:nvSpPr>
        <p:spPr>
          <a:xfrm>
            <a:off x="35496" y="42626"/>
            <a:ext cx="8229600" cy="5078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3. La idea de negocio</a:t>
            </a:r>
          </a:p>
        </p:txBody>
      </p:sp>
    </p:spTree>
    <p:extLst>
      <p:ext uri="{BB962C8B-B14F-4D97-AF65-F5344CB8AC3E}">
        <p14:creationId xmlns:p14="http://schemas.microsoft.com/office/powerpoint/2010/main" val="1865443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139777" y="1453416"/>
            <a:ext cx="2773342" cy="53634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Acciones sociales internas</a:t>
            </a:r>
          </a:p>
        </p:txBody>
      </p:sp>
      <p:sp>
        <p:nvSpPr>
          <p:cNvPr id="18" name="17 Rectángulo redondeado"/>
          <p:cNvSpPr/>
          <p:nvPr/>
        </p:nvSpPr>
        <p:spPr>
          <a:xfrm>
            <a:off x="141499" y="2250340"/>
            <a:ext cx="2732579" cy="64014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Acciones sociales externas</a:t>
            </a:r>
          </a:p>
        </p:txBody>
      </p:sp>
      <p:sp>
        <p:nvSpPr>
          <p:cNvPr id="20" name="19 Rectángulo redondeado"/>
          <p:cNvSpPr/>
          <p:nvPr/>
        </p:nvSpPr>
        <p:spPr>
          <a:xfrm>
            <a:off x="166443" y="3143299"/>
            <a:ext cx="2732579" cy="6219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Impacto ambiental</a:t>
            </a:r>
          </a:p>
        </p:txBody>
      </p:sp>
      <p:sp>
        <p:nvSpPr>
          <p:cNvPr id="9" name="8 Flecha derecha"/>
          <p:cNvSpPr/>
          <p:nvPr/>
        </p:nvSpPr>
        <p:spPr>
          <a:xfrm>
            <a:off x="3088017" y="1590741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9 CuadroTexto"/>
          <p:cNvSpPr txBox="1"/>
          <p:nvPr/>
        </p:nvSpPr>
        <p:spPr>
          <a:xfrm>
            <a:off x="3715524" y="1495073"/>
            <a:ext cx="5176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Condiciones laborales, políticas de igualdad, salud laboral</a:t>
            </a:r>
            <a:endParaRPr lang="es-ES" dirty="0"/>
          </a:p>
        </p:txBody>
      </p:sp>
      <p:sp>
        <p:nvSpPr>
          <p:cNvPr id="28" name="27 Flecha derecha"/>
          <p:cNvSpPr/>
          <p:nvPr/>
        </p:nvSpPr>
        <p:spPr>
          <a:xfrm>
            <a:off x="3042773" y="2519120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29 CuadroTexto"/>
          <p:cNvSpPr txBox="1"/>
          <p:nvPr/>
        </p:nvSpPr>
        <p:spPr>
          <a:xfrm>
            <a:off x="3747158" y="2351045"/>
            <a:ext cx="4767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Relación con la comunidad y apoyo a proyectos sociales</a:t>
            </a:r>
          </a:p>
        </p:txBody>
      </p:sp>
      <p:sp>
        <p:nvSpPr>
          <p:cNvPr id="35" name="34 Flecha derecha"/>
          <p:cNvSpPr/>
          <p:nvPr/>
        </p:nvSpPr>
        <p:spPr>
          <a:xfrm>
            <a:off x="3042773" y="3340585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7" name="36 CuadroTexto"/>
          <p:cNvSpPr txBox="1"/>
          <p:nvPr/>
        </p:nvSpPr>
        <p:spPr>
          <a:xfrm>
            <a:off x="3747158" y="3195838"/>
            <a:ext cx="4704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Uso eficiente de recursos, gestión de residuos, políticas medioambientales</a:t>
            </a:r>
            <a:endParaRPr lang="es-ES" dirty="0"/>
          </a:p>
        </p:txBody>
      </p:sp>
      <p:sp>
        <p:nvSpPr>
          <p:cNvPr id="38" name="37 CuadroTexto"/>
          <p:cNvSpPr txBox="1"/>
          <p:nvPr/>
        </p:nvSpPr>
        <p:spPr>
          <a:xfrm>
            <a:off x="3747158" y="4747173"/>
            <a:ext cx="3742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Cumplimiento de normativa, certificados, códigos de conducta</a:t>
            </a:r>
          </a:p>
        </p:txBody>
      </p:sp>
      <p:sp>
        <p:nvSpPr>
          <p:cNvPr id="39" name="38 Flecha derecha"/>
          <p:cNvSpPr/>
          <p:nvPr/>
        </p:nvSpPr>
        <p:spPr>
          <a:xfrm>
            <a:off x="3040568" y="4058228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32 CuadroTexto"/>
          <p:cNvSpPr txBox="1"/>
          <p:nvPr/>
        </p:nvSpPr>
        <p:spPr>
          <a:xfrm>
            <a:off x="548157" y="702601"/>
            <a:ext cx="4023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Incorporar valores éticos y sociales a través de elementos del balance social:</a:t>
            </a:r>
            <a:endParaRPr lang="es-ES" b="1" dirty="0"/>
          </a:p>
        </p:txBody>
      </p:sp>
      <p:sp>
        <p:nvSpPr>
          <p:cNvPr id="34" name="33 Rectángulo redondeado"/>
          <p:cNvSpPr/>
          <p:nvPr/>
        </p:nvSpPr>
        <p:spPr>
          <a:xfrm>
            <a:off x="177044" y="3962453"/>
            <a:ext cx="2734302" cy="49627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Resultados empresariales con enfoque social</a:t>
            </a:r>
          </a:p>
        </p:txBody>
      </p:sp>
      <p:sp>
        <p:nvSpPr>
          <p:cNvPr id="41" name="40 Rectángulo redondeado"/>
          <p:cNvSpPr/>
          <p:nvPr/>
        </p:nvSpPr>
        <p:spPr>
          <a:xfrm>
            <a:off x="139777" y="4716313"/>
            <a:ext cx="2802419" cy="48277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Cumplimiento normativo y políticas de RSC</a:t>
            </a:r>
            <a:endParaRPr lang="es-E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41 CuadroTexto"/>
          <p:cNvSpPr txBox="1"/>
          <p:nvPr/>
        </p:nvSpPr>
        <p:spPr>
          <a:xfrm>
            <a:off x="3747158" y="3962453"/>
            <a:ext cx="4835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Incluir objetivos sociales en la estrategia de empresa</a:t>
            </a:r>
            <a:endParaRPr lang="es-ES" dirty="0"/>
          </a:p>
        </p:txBody>
      </p:sp>
      <p:sp>
        <p:nvSpPr>
          <p:cNvPr id="43" name="42 Flecha derecha"/>
          <p:cNvSpPr/>
          <p:nvPr/>
        </p:nvSpPr>
        <p:spPr>
          <a:xfrm>
            <a:off x="3055546" y="4861801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1 Título"/>
          <p:cNvSpPr txBox="1">
            <a:spLocks/>
          </p:cNvSpPr>
          <p:nvPr/>
        </p:nvSpPr>
        <p:spPr>
          <a:xfrm>
            <a:off x="35496" y="42626"/>
            <a:ext cx="8229600" cy="5078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3. La idea de negocio</a:t>
            </a:r>
          </a:p>
        </p:txBody>
      </p:sp>
      <p:sp>
        <p:nvSpPr>
          <p:cNvPr id="2" name="37 CuadroTexto">
            <a:extLst>
              <a:ext uri="{FF2B5EF4-FFF2-40B4-BE49-F238E27FC236}">
                <a16:creationId xmlns:a16="http://schemas.microsoft.com/office/drawing/2014/main" id="{AFDD2D9A-6E3C-C2B4-2817-E3E8D53248D0}"/>
              </a:ext>
            </a:extLst>
          </p:cNvPr>
          <p:cNvSpPr txBox="1"/>
          <p:nvPr/>
        </p:nvSpPr>
        <p:spPr>
          <a:xfrm>
            <a:off x="3755636" y="5414489"/>
            <a:ext cx="462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Indicadores sociales y medioambientales</a:t>
            </a:r>
          </a:p>
        </p:txBody>
      </p:sp>
      <p:sp>
        <p:nvSpPr>
          <p:cNvPr id="3" name="40 Rectángulo redondeado">
            <a:extLst>
              <a:ext uri="{FF2B5EF4-FFF2-40B4-BE49-F238E27FC236}">
                <a16:creationId xmlns:a16="http://schemas.microsoft.com/office/drawing/2014/main" id="{3D745C88-DCF6-6562-D5A0-E18B76082C08}"/>
              </a:ext>
            </a:extLst>
          </p:cNvPr>
          <p:cNvSpPr/>
          <p:nvPr/>
        </p:nvSpPr>
        <p:spPr>
          <a:xfrm>
            <a:off x="148256" y="5383629"/>
            <a:ext cx="2802419" cy="48277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Evaluación de acciones</a:t>
            </a:r>
            <a:endParaRPr lang="es-E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42 Flecha derecha">
            <a:extLst>
              <a:ext uri="{FF2B5EF4-FFF2-40B4-BE49-F238E27FC236}">
                <a16:creationId xmlns:a16="http://schemas.microsoft.com/office/drawing/2014/main" id="{EEAC968A-BBC5-01A2-3F07-9E78299DA640}"/>
              </a:ext>
            </a:extLst>
          </p:cNvPr>
          <p:cNvSpPr/>
          <p:nvPr/>
        </p:nvSpPr>
        <p:spPr>
          <a:xfrm>
            <a:off x="3064025" y="5529117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39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ECBCE03A-8D1E-6471-6AAB-0A2D01170926}"/>
              </a:ext>
            </a:extLst>
          </p:cNvPr>
          <p:cNvSpPr txBox="1"/>
          <p:nvPr/>
        </p:nvSpPr>
        <p:spPr>
          <a:xfrm>
            <a:off x="3686365" y="6219930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6" name="62 Imagen">
            <a:extLst>
              <a:ext uri="{FF2B5EF4-FFF2-40B4-BE49-F238E27FC236}">
                <a16:creationId xmlns:a16="http://schemas.microsoft.com/office/drawing/2014/main" id="{0E0CBB6C-44EB-C27C-871D-EB5ED67FCD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05000" y="6330714"/>
            <a:ext cx="287793" cy="361618"/>
          </a:xfrm>
          <a:prstGeom prst="rect">
            <a:avLst/>
          </a:prstGeom>
        </p:spPr>
      </p:pic>
      <p:sp>
        <p:nvSpPr>
          <p:cNvPr id="8" name="50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8B627C4-AF31-5104-0EB2-D696ED398136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1" name="53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03D8322-A57A-6829-9F1C-855907EB425D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01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 txBox="1">
            <a:spLocks/>
          </p:cNvSpPr>
          <p:nvPr/>
        </p:nvSpPr>
        <p:spPr>
          <a:xfrm>
            <a:off x="344728" y="42626"/>
            <a:ext cx="8229600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83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Amplía</a:t>
            </a:r>
            <a:r>
              <a:rPr lang="es-ES_tradnl" sz="8300" b="1" dirty="0"/>
              <a:t>: </a:t>
            </a:r>
            <a:r>
              <a:rPr lang="es-ES_tradnl" sz="67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“Sobre esa gran idea que usted dijo que tenía”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344728" y="1068242"/>
            <a:ext cx="8475744" cy="41549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s-ES_tradnl" sz="1600" dirty="0"/>
              <a:t>Emprendedores muertos antes de empezar </a:t>
            </a:r>
            <a:r>
              <a:rPr lang="es-ES_tradnl" sz="1600" dirty="0">
                <a:sym typeface="Wingdings" panose="05000000000000000000" pitchFamily="2" charset="2"/>
              </a:rPr>
              <a:t></a:t>
            </a:r>
            <a:r>
              <a:rPr lang="es-ES_tradnl" sz="1600" dirty="0"/>
              <a:t> “ He tenido una idea, no se la cuentes a nadie que como me la roben me muero” </a:t>
            </a:r>
            <a:r>
              <a:rPr lang="es-ES_tradnl" sz="1600" dirty="0">
                <a:solidFill>
                  <a:prstClr val="black"/>
                </a:solidFill>
                <a:sym typeface="Wingdings" panose="05000000000000000000" pitchFamily="2" charset="2"/>
              </a:rPr>
              <a:t> “Emprendedores </a:t>
            </a:r>
            <a:r>
              <a:rPr lang="es-ES_tradnl" sz="1600" dirty="0" err="1">
                <a:solidFill>
                  <a:prstClr val="black"/>
                </a:solidFill>
                <a:sym typeface="Wingdings" panose="05000000000000000000" pitchFamily="2" charset="2"/>
              </a:rPr>
              <a:t>Gollum</a:t>
            </a:r>
            <a:r>
              <a:rPr lang="es-ES_tradnl" sz="1600" dirty="0">
                <a:solidFill>
                  <a:prstClr val="black"/>
                </a:solidFill>
                <a:sym typeface="Wingdings" panose="05000000000000000000" pitchFamily="2" charset="2"/>
              </a:rPr>
              <a:t> (¡mi tesoro!)”</a:t>
            </a:r>
            <a:endParaRPr lang="es-ES_tradnl" sz="1600" dirty="0"/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s-ES_tradnl" sz="1600" dirty="0"/>
              <a:t>Lo importante no es la idea sino la forma de la idea, el éxito se debe a la forma en como ha sido hecha realidad (por ejemplo </a:t>
            </a:r>
            <a:r>
              <a:rPr lang="es-ES_tradnl" sz="1600" dirty="0" err="1"/>
              <a:t>Imaginarium</a:t>
            </a:r>
            <a:r>
              <a:rPr lang="es-ES_tradnl" sz="1600" dirty="0"/>
              <a:t>, </a:t>
            </a:r>
            <a:r>
              <a:rPr lang="es-ES_tradnl" sz="1600" dirty="0" err="1"/>
              <a:t>Fresh&amp;Co</a:t>
            </a:r>
            <a:r>
              <a:rPr lang="es-ES_tradnl" sz="1600" dirty="0"/>
              <a:t>).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s-ES_tradnl" sz="1600" dirty="0"/>
              <a:t> “Más vale una idea mediocre brillantemente implementada que una idea brillante mediocremente implementada.”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s-ES_tradnl" sz="1600" dirty="0"/>
              <a:t>Lo importante: No es </a:t>
            </a:r>
            <a:r>
              <a:rPr lang="es-ES_tradnl" sz="1600" i="1" dirty="0"/>
              <a:t>qué</a:t>
            </a:r>
            <a:r>
              <a:rPr lang="es-ES_tradnl" sz="1600" dirty="0"/>
              <a:t> el van a comprar, sino el </a:t>
            </a:r>
            <a:r>
              <a:rPr lang="es-ES_tradnl" sz="1600" i="1" dirty="0"/>
              <a:t>porqué</a:t>
            </a:r>
            <a:r>
              <a:rPr lang="es-ES_tradnl" sz="1600" dirty="0"/>
              <a:t> le van a comprar, y puede ser porque:</a:t>
            </a:r>
          </a:p>
          <a:p>
            <a:pPr lvl="0" algn="just">
              <a:defRPr/>
            </a:pPr>
            <a:r>
              <a:rPr lang="es-ES_tradnl" sz="1600" dirty="0"/>
              <a:t> </a:t>
            </a:r>
          </a:p>
          <a:p>
            <a:pPr marL="285750" lvl="0" indent="-285750" algn="just">
              <a:buFont typeface="Arial" charset="0"/>
              <a:buChar char="•"/>
              <a:defRPr/>
            </a:pPr>
            <a:r>
              <a:rPr lang="es-ES_tradnl" sz="1600" dirty="0"/>
              <a:t>Hace algo mejor.</a:t>
            </a:r>
          </a:p>
          <a:p>
            <a:pPr marL="285750" lvl="0" indent="-285750" algn="just">
              <a:buFont typeface="Arial" charset="0"/>
              <a:buChar char="•"/>
              <a:defRPr/>
            </a:pPr>
            <a:r>
              <a:rPr lang="es-ES_tradnl" sz="1600" dirty="0"/>
              <a:t>Hace algo igual que los demás pero más barato.</a:t>
            </a:r>
          </a:p>
          <a:p>
            <a:pPr marL="285750" lvl="0" indent="-285750" algn="just">
              <a:buFont typeface="Arial" charset="0"/>
              <a:buChar char="•"/>
              <a:defRPr/>
            </a:pPr>
            <a:endParaRPr lang="es-ES_tradnl" sz="1600" dirty="0"/>
          </a:p>
          <a:p>
            <a:pPr marL="285750" lvl="0" indent="-285750" algn="just">
              <a:buFont typeface="Wingdings" panose="05000000000000000000" pitchFamily="2" charset="2"/>
              <a:buChar char="Ø"/>
              <a:defRPr/>
            </a:pPr>
            <a:r>
              <a:rPr lang="es-ES_tradnl" sz="1600" dirty="0"/>
              <a:t>Si no puede responder en menos de 30 segundos difícilmente tendrá éxito, porque si no puede resumirlo en una frase tampoco va a entenderlo un cliente. </a:t>
            </a:r>
          </a:p>
        </p:txBody>
      </p:sp>
      <p:sp>
        <p:nvSpPr>
          <p:cNvPr id="15" name="14 CuadroTexto"/>
          <p:cNvSpPr txBox="1"/>
          <p:nvPr/>
        </p:nvSpPr>
        <p:spPr>
          <a:xfrm>
            <a:off x="344728" y="5570367"/>
            <a:ext cx="7066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i="1" dirty="0"/>
              <a:t>Fuente: Fernando Trias de Bes: Extracto de “El libro negro del emprendedor”. Ed. Urano.</a:t>
            </a:r>
            <a:endParaRPr lang="es-ES" sz="1400" i="1" u="sng" dirty="0"/>
          </a:p>
        </p:txBody>
      </p:sp>
      <p:sp>
        <p:nvSpPr>
          <p:cNvPr id="2" name="39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C21469BC-F4FE-9271-7366-35686312E260}"/>
              </a:ext>
            </a:extLst>
          </p:cNvPr>
          <p:cNvSpPr txBox="1"/>
          <p:nvPr/>
        </p:nvSpPr>
        <p:spPr>
          <a:xfrm>
            <a:off x="3686365" y="6219930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3" name="62 Imagen">
            <a:extLst>
              <a:ext uri="{FF2B5EF4-FFF2-40B4-BE49-F238E27FC236}">
                <a16:creationId xmlns:a16="http://schemas.microsoft.com/office/drawing/2014/main" id="{906440B9-1667-02D5-C07D-9D26B58693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05000" y="6330714"/>
            <a:ext cx="287793" cy="361618"/>
          </a:xfrm>
          <a:prstGeom prst="rect">
            <a:avLst/>
          </a:prstGeom>
        </p:spPr>
      </p:pic>
      <p:sp>
        <p:nvSpPr>
          <p:cNvPr id="4" name="50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72F23A2-BADB-F1F6-581E-D608D098A104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4968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1606</TotalTime>
  <Words>740</Words>
  <Application>Microsoft Office PowerPoint</Application>
  <PresentationFormat>Presentación en pantalla (4:3)</PresentationFormat>
  <Paragraphs>150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Tema de Office</vt:lpstr>
      <vt:lpstr>Presentación de PowerPoint</vt:lpstr>
      <vt:lpstr>CONTENIDOS</vt:lpstr>
      <vt:lpstr>RECUERDA</vt:lpstr>
      <vt:lpstr>Presentación de PowerPoint</vt:lpstr>
      <vt:lpstr>Presentación de PowerPoint</vt:lpstr>
      <vt:lpstr>Presentación de PowerPoint</vt:lpstr>
      <vt:lpstr>2. Estudio de cliente objetivo: el lienzo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TONI</dc:creator>
  <cp:lastModifiedBy>Luis Iranzo</cp:lastModifiedBy>
  <cp:revision>244</cp:revision>
  <dcterms:created xsi:type="dcterms:W3CDTF">2013-09-12T06:29:10Z</dcterms:created>
  <dcterms:modified xsi:type="dcterms:W3CDTF">2025-09-11T14:11:46Z</dcterms:modified>
</cp:coreProperties>
</file>