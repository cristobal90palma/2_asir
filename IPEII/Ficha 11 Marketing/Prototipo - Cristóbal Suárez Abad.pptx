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313E5-67A1-48E0-B746-021FEA7773A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C3694-C421-4D12-A6FC-1A5B28A74F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88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C3694-C421-4D12-A6FC-1A5B28A74F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77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C3694-C421-4D12-A6FC-1A5B28A74F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61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46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7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103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87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0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30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4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0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6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50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09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6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BA41EF5-748C-22D1-E2DC-C42A31032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3" b="6277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AD13EF-74FA-4D38-8F15-B51F09C96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583125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681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68705-B514-93AE-923C-83603521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01 | El Riesgo: ¿Qué Pasa si Pierde sus Datos?</a:t>
            </a:r>
            <a:br>
              <a:rPr lang="es-ES" dirty="0"/>
            </a:b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B66B9B-8E3F-5554-32EC-A348DA1B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3592842"/>
            <a:ext cx="5455920" cy="2343262"/>
          </a:xfrm>
        </p:spPr>
        <p:txBody>
          <a:bodyPr>
            <a:normAutofit lnSpcReduction="10000"/>
          </a:bodyPr>
          <a:lstStyle/>
          <a:p>
            <a:r>
              <a:rPr lang="es-ES" b="1" dirty="0"/>
              <a:t>Riesgos Comunes:</a:t>
            </a:r>
            <a:endParaRPr lang="es-ES" dirty="0"/>
          </a:p>
          <a:p>
            <a:r>
              <a:rPr lang="es-ES" dirty="0"/>
              <a:t>Ataques Informáticos y </a:t>
            </a:r>
            <a:r>
              <a:rPr lang="es-ES" dirty="0" err="1"/>
              <a:t>Ransomware</a:t>
            </a:r>
            <a:r>
              <a:rPr lang="es-ES" dirty="0"/>
              <a:t>.</a:t>
            </a:r>
          </a:p>
          <a:p>
            <a:r>
              <a:rPr lang="es-ES" dirty="0"/>
              <a:t>Robo de Hardware o Fallo de Equipos.</a:t>
            </a:r>
          </a:p>
          <a:p>
            <a:r>
              <a:rPr lang="es-ES" dirty="0"/>
              <a:t>Incendios, Inundaciones o Accidentes.</a:t>
            </a:r>
          </a:p>
          <a:p>
            <a:r>
              <a:rPr lang="es-ES" dirty="0"/>
              <a:t>Sanciones por Incumplimiento de LOPD.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1B9833B-9074-0DE1-CEE6-EBBF8692C64F}"/>
              </a:ext>
            </a:extLst>
          </p:cNvPr>
          <p:cNvSpPr txBox="1"/>
          <p:nvPr/>
        </p:nvSpPr>
        <p:spPr>
          <a:xfrm>
            <a:off x="660992" y="2064829"/>
            <a:ext cx="55763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Las PYMES manejan información crítica. Un ataque, un robo o un accidente no solo es una pérdida técnica, es </a:t>
            </a:r>
            <a:r>
              <a:rPr lang="es-ES" b="1" dirty="0"/>
              <a:t>una amenaza directa a la continuidad de su negocio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CBB0E3-91BB-D0C3-3F2A-CF44A079837C}"/>
              </a:ext>
            </a:extLst>
          </p:cNvPr>
          <p:cNvSpPr txBox="1"/>
          <p:nvPr/>
        </p:nvSpPr>
        <p:spPr>
          <a:xfrm>
            <a:off x="6863445" y="2930878"/>
            <a:ext cx="37587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Su Necesidad Básica</a:t>
            </a:r>
          </a:p>
          <a:p>
            <a:pPr>
              <a:buNone/>
            </a:pPr>
            <a:r>
              <a:rPr lang="es-ES" dirty="0"/>
              <a:t>Usted necesita </a:t>
            </a:r>
            <a:r>
              <a:rPr lang="es-ES" b="1" dirty="0"/>
              <a:t>salvaguardar los datos</a:t>
            </a:r>
            <a:r>
              <a:rPr lang="es-ES" dirty="0"/>
              <a:t> de sus servidores y puestos de trabajo de forma robusta y, crucialmente, </a:t>
            </a:r>
            <a:r>
              <a:rPr lang="es-ES" b="1" dirty="0"/>
              <a:t>cumplir con la estricta normativa de protección de datos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8111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E2F58-BF03-81B7-D831-E7DAF8D0E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02 | La Propuesta de Valor SBS: Calidad Alta, Precio Medio</a:t>
            </a:r>
            <a:br>
              <a:rPr lang="es-ES" dirty="0"/>
            </a:b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53003C-7435-F4E7-C60A-7920A2084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23" y="2633472"/>
            <a:ext cx="5455920" cy="91919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dirty="0"/>
              <a:t>Hemos diseñado nuestras soluciones pensando en la economía de la PYME, sin comprometer la seguridad que exige su negocio.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A99095-3157-A6BA-FA23-2B84406A0A74}"/>
              </a:ext>
            </a:extLst>
          </p:cNvPr>
          <p:cNvSpPr txBox="1"/>
          <p:nvPr/>
        </p:nvSpPr>
        <p:spPr>
          <a:xfrm>
            <a:off x="640079" y="3552669"/>
            <a:ext cx="6093500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El Eje de Nuestro Posicionamiento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Calidad Alta</a:t>
            </a:r>
            <a:r>
              <a:rPr lang="es-ES" dirty="0"/>
              <a:t>: Productos robustos y seguros, con diseño a medida.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Precio Medio</a:t>
            </a:r>
            <a:r>
              <a:rPr lang="es-ES" dirty="0"/>
              <a:t>: Tarifas competitivas que permiten una buena inversión sin grandes desembolsos.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Valor Percibido</a:t>
            </a:r>
            <a:r>
              <a:rPr lang="es-ES" dirty="0"/>
              <a:t>: Inversión inteligente: Máxima calidad al precio justo.</a:t>
            </a:r>
          </a:p>
          <a:p>
            <a:pPr>
              <a:spcBef>
                <a:spcPts val="1500"/>
              </a:spcBef>
              <a:buNone/>
            </a:pPr>
            <a:r>
              <a:rPr lang="es-ES" b="1" dirty="0">
                <a:effectLst/>
              </a:rPr>
              <a:t>Nos diferenciamos </a:t>
            </a:r>
            <a:r>
              <a:rPr lang="es-ES" dirty="0">
                <a:effectLst/>
              </a:rPr>
              <a:t>de las grandes corporaciones (AWS/Azure) ofreciendo un trato más cercano y soluciones 100% ajustadas a sus requisitos.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D2AAED5-56EE-E5CB-B01A-B0380FE1F23F}"/>
              </a:ext>
            </a:extLst>
          </p:cNvPr>
          <p:cNvSpPr txBox="1"/>
          <p:nvPr/>
        </p:nvSpPr>
        <p:spPr>
          <a:xfrm>
            <a:off x="6733579" y="2468881"/>
            <a:ext cx="5033700" cy="3993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Nuestros Productos y Servicios</a:t>
            </a:r>
          </a:p>
          <a:p>
            <a:pPr>
              <a:spcBef>
                <a:spcPts val="1125"/>
              </a:spcBef>
              <a:spcAft>
                <a:spcPts val="375"/>
              </a:spcAft>
              <a:buNone/>
            </a:pPr>
            <a:r>
              <a:rPr lang="es-ES" b="1" dirty="0">
                <a:effectLst/>
              </a:rPr>
              <a:t>1. Servicio de </a:t>
            </a:r>
            <a:r>
              <a:rPr lang="es-ES" b="1" dirty="0" err="1">
                <a:effectLst/>
              </a:rPr>
              <a:t>Backup</a:t>
            </a:r>
            <a:r>
              <a:rPr lang="es-ES" b="1" dirty="0">
                <a:effectLst/>
              </a:rPr>
              <a:t> en la Nube (Suscripción)</a:t>
            </a:r>
          </a:p>
          <a:p>
            <a:pPr>
              <a:buNone/>
            </a:pPr>
            <a:r>
              <a:rPr lang="es-ES" dirty="0">
                <a:effectLst/>
              </a:rPr>
              <a:t>Almacenamiento escalable para copias de seguridad en nuestros servidores. Tarifa ajustada a la capacidad y ancho de banda.</a:t>
            </a:r>
          </a:p>
          <a:p>
            <a:pPr>
              <a:spcBef>
                <a:spcPts val="1125"/>
              </a:spcBef>
              <a:spcAft>
                <a:spcPts val="375"/>
              </a:spcAft>
              <a:buNone/>
            </a:pPr>
            <a:r>
              <a:rPr lang="es-ES" b="1" dirty="0">
                <a:effectLst/>
              </a:rPr>
              <a:t>2. Servicio de Instalación "</a:t>
            </a:r>
            <a:r>
              <a:rPr lang="es-ES" b="1" dirty="0" err="1">
                <a:effectLst/>
              </a:rPr>
              <a:t>On</a:t>
            </a:r>
            <a:r>
              <a:rPr lang="es-ES" b="1" dirty="0">
                <a:effectLst/>
              </a:rPr>
              <a:t>-Site" (Proyecto)</a:t>
            </a:r>
          </a:p>
          <a:p>
            <a:pPr>
              <a:buNone/>
            </a:pPr>
            <a:r>
              <a:rPr lang="es-ES" dirty="0">
                <a:effectLst/>
              </a:rPr>
              <a:t>Asesoría e instalación de un servidor de copias de seguridad en sus propias instalaciones. Incluye diseño y montaje.</a:t>
            </a:r>
          </a:p>
          <a:p>
            <a:pPr>
              <a:spcBef>
                <a:spcPts val="1125"/>
              </a:spcBef>
              <a:spcAft>
                <a:spcPts val="375"/>
              </a:spcAft>
              <a:buNone/>
            </a:pPr>
            <a:r>
              <a:rPr lang="es-ES" b="1" dirty="0">
                <a:effectLst/>
              </a:rPr>
              <a:t>3. Soluciones Híbridas</a:t>
            </a:r>
          </a:p>
          <a:p>
            <a:pPr>
              <a:buNone/>
            </a:pPr>
            <a:r>
              <a:rPr lang="es-ES" dirty="0">
                <a:effectLst/>
              </a:rPr>
              <a:t>Combinación de Nube y </a:t>
            </a:r>
            <a:r>
              <a:rPr lang="es-ES" dirty="0" err="1">
                <a:effectLst/>
              </a:rPr>
              <a:t>On</a:t>
            </a:r>
            <a:r>
              <a:rPr lang="es-ES" dirty="0">
                <a:effectLst/>
              </a:rPr>
              <a:t>-Site para máxima redundancia y seguridad.</a:t>
            </a:r>
          </a:p>
        </p:txBody>
      </p:sp>
    </p:spTree>
    <p:extLst>
      <p:ext uri="{BB962C8B-B14F-4D97-AF65-F5344CB8AC3E}">
        <p14:creationId xmlns:p14="http://schemas.microsoft.com/office/powerpoint/2010/main" val="1966220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76C84-1B10-8C7E-3F1D-567F7480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03 | El Valor Añadido de SBS: Más Allá del </a:t>
            </a:r>
            <a:r>
              <a:rPr lang="es-ES" dirty="0" err="1"/>
              <a:t>Backup</a:t>
            </a:r>
            <a:br>
              <a:rPr lang="es-ES" dirty="0"/>
            </a:b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65321A-CA60-98C3-771D-BCC022696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588502"/>
            <a:ext cx="5131134" cy="328764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b="1" dirty="0"/>
              <a:t>Servicios Exclusivos Incluidos</a:t>
            </a:r>
          </a:p>
          <a:p>
            <a:r>
              <a:rPr lang="es-ES" dirty="0"/>
              <a:t>Asesoría LOPD: Le ayudamos a cumplir con la Ley de Protección de Datos. (Un servicio crucial para evitar sanciones).</a:t>
            </a:r>
          </a:p>
          <a:p>
            <a:r>
              <a:rPr lang="es-ES" b="1" dirty="0"/>
              <a:t>Encriptación </a:t>
            </a:r>
            <a:r>
              <a:rPr lang="es-ES" b="1" dirty="0" err="1"/>
              <a:t>On</a:t>
            </a:r>
            <a:r>
              <a:rPr lang="es-ES" b="1" dirty="0"/>
              <a:t>-Site</a:t>
            </a:r>
            <a:r>
              <a:rPr lang="es-ES" dirty="0"/>
              <a:t>: Servicio para prevenir el acceso a datos en caso de robo físico del hardware.</a:t>
            </a:r>
          </a:p>
          <a:p>
            <a:r>
              <a:rPr lang="es-ES" b="1" dirty="0"/>
              <a:t>Soporte Técnico 24 Horas (1er Año Gratis)</a:t>
            </a:r>
            <a:r>
              <a:rPr lang="es-ES" dirty="0"/>
              <a:t>: Asistencia inmediata cuando más lo necesita.</a:t>
            </a:r>
          </a:p>
          <a:p>
            <a:r>
              <a:rPr lang="es-ES" b="1" dirty="0"/>
              <a:t>Cursos de Formación</a:t>
            </a:r>
            <a:r>
              <a:rPr lang="es-ES" dirty="0"/>
              <a:t>: Capacitación para sus empleados en el uso y mantenimiento del software.</a:t>
            </a:r>
          </a:p>
          <a:p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F24688-11DA-0A14-741A-235A404FA3C4}"/>
              </a:ext>
            </a:extLst>
          </p:cNvPr>
          <p:cNvSpPr txBox="1"/>
          <p:nvPr/>
        </p:nvSpPr>
        <p:spPr>
          <a:xfrm>
            <a:off x="5771212" y="2588501"/>
            <a:ext cx="5951095" cy="310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>
                <a:effectLst/>
              </a:rPr>
              <a:t>Compromiso y Flexibilidad</a:t>
            </a:r>
          </a:p>
          <a:p>
            <a:pPr>
              <a:buNone/>
            </a:pPr>
            <a:r>
              <a:rPr lang="es-ES" b="1" dirty="0">
                <a:effectLst/>
              </a:rPr>
              <a:t>Garantías y Soporte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effectLst/>
              </a:rPr>
              <a:t>Garantía de 2 años</a:t>
            </a:r>
            <a:r>
              <a:rPr lang="es-ES" b="1" dirty="0"/>
              <a:t>:</a:t>
            </a:r>
            <a:r>
              <a:rPr lang="es-ES" dirty="0">
                <a:effectLst/>
              </a:rPr>
              <a:t> para instalaciones "</a:t>
            </a:r>
            <a:r>
              <a:rPr lang="es-ES" dirty="0" err="1">
                <a:effectLst/>
              </a:rPr>
              <a:t>on</a:t>
            </a:r>
            <a:r>
              <a:rPr lang="es-ES" dirty="0">
                <a:effectLst/>
              </a:rPr>
              <a:t>-site".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effectLst/>
              </a:rPr>
              <a:t>Soporte técnico escalable tras el primer año gratuito.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effectLst/>
              </a:rPr>
              <a:t>Financiación a plazos para proyectos de instalación.</a:t>
            </a:r>
          </a:p>
          <a:p>
            <a:pPr>
              <a:spcBef>
                <a:spcPts val="1875"/>
              </a:spcBef>
              <a:buNone/>
            </a:pPr>
            <a:r>
              <a:rPr lang="es-ES" b="1" dirty="0">
                <a:effectLst/>
              </a:rPr>
              <a:t>Nuestra Promoción "Gancho"</a:t>
            </a:r>
          </a:p>
          <a:p>
            <a:pPr>
              <a:buNone/>
            </a:pPr>
            <a:r>
              <a:rPr lang="es-ES" b="1" dirty="0">
                <a:effectLst/>
              </a:rPr>
              <a:t>Asesoría Inicial GRATUITA</a:t>
            </a:r>
            <a:r>
              <a:rPr lang="es-ES" dirty="0">
                <a:effectLst/>
              </a:rPr>
              <a:t>: Permítanos evaluar sus necesidades "</a:t>
            </a:r>
            <a:r>
              <a:rPr lang="es-ES" dirty="0" err="1">
                <a:effectLst/>
              </a:rPr>
              <a:t>on</a:t>
            </a:r>
            <a:r>
              <a:rPr lang="es-ES" dirty="0">
                <a:effectLst/>
              </a:rPr>
              <a:t>-site" a precio simbólico o nulo. Conozca nuestra calidad sin compromiso y descubra el alcance de su proyecto. </a:t>
            </a:r>
          </a:p>
        </p:txBody>
      </p:sp>
    </p:spTree>
    <p:extLst>
      <p:ext uri="{BB962C8B-B14F-4D97-AF65-F5344CB8AC3E}">
        <p14:creationId xmlns:p14="http://schemas.microsoft.com/office/powerpoint/2010/main" val="989645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BCE9C-05FD-46CB-10EB-7B746F570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04 | Relación a Largo Plazo: Su </a:t>
            </a:r>
            <a:r>
              <a:rPr lang="es-ES" dirty="0" err="1"/>
              <a:t>Partner</a:t>
            </a:r>
            <a:r>
              <a:rPr lang="es-ES" dirty="0"/>
              <a:t> de Confianza</a:t>
            </a:r>
            <a:br>
              <a:rPr lang="es-ES" dirty="0"/>
            </a:br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E487DCC-DA17-AA97-6612-70C3066DB628}"/>
              </a:ext>
            </a:extLst>
          </p:cNvPr>
          <p:cNvSpPr txBox="1"/>
          <p:nvPr/>
        </p:nvSpPr>
        <p:spPr>
          <a:xfrm>
            <a:off x="963119" y="2626642"/>
            <a:ext cx="5497642" cy="3136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>
                <a:effectLst/>
              </a:rPr>
              <a:t>Atención al Cliente</a:t>
            </a:r>
          </a:p>
          <a:p>
            <a:pPr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s-ES" b="1" dirty="0">
                <a:effectLst/>
              </a:rPr>
              <a:t> Soporte Técnico 24 horas.</a:t>
            </a:r>
          </a:p>
          <a:p>
            <a:pPr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s-ES" b="1" dirty="0">
                <a:effectLst/>
              </a:rPr>
              <a:t> Gestión profesional de reclamaciones y sugerencias.</a:t>
            </a:r>
          </a:p>
          <a:p>
            <a:pPr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s-ES" b="1" dirty="0">
                <a:effectLst/>
              </a:rPr>
              <a:t> Personal orientado a la satisfacción del cliente.</a:t>
            </a:r>
          </a:p>
          <a:p>
            <a:pPr>
              <a:spcBef>
                <a:spcPts val="1875"/>
              </a:spcBef>
              <a:buNone/>
            </a:pPr>
            <a:r>
              <a:rPr lang="es-ES" b="1" dirty="0">
                <a:effectLst/>
              </a:rPr>
              <a:t>Bonificaciones:</a:t>
            </a:r>
          </a:p>
          <a:p>
            <a:pPr>
              <a:buNone/>
            </a:pPr>
            <a:r>
              <a:rPr lang="es-ES" dirty="0"/>
              <a:t>Ofrecemos bonificaciones y descuentos (ej. meses gratuitos) a aquellos clientes que mantengan su fidelidad a la compañía a lo largo del tiempo.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2D4D689-7C71-2BD1-BBEB-FFA3DB66F70C}"/>
              </a:ext>
            </a:extLst>
          </p:cNvPr>
          <p:cNvSpPr txBox="1"/>
          <p:nvPr/>
        </p:nvSpPr>
        <p:spPr>
          <a:xfrm>
            <a:off x="6460760" y="2626642"/>
            <a:ext cx="50702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>
                <a:effectLst/>
              </a:rPr>
              <a:t>Próximos Pasos - ¡Comencemos!</a:t>
            </a:r>
          </a:p>
          <a:p>
            <a:pPr>
              <a:buNone/>
            </a:pPr>
            <a:r>
              <a:rPr lang="es-ES" dirty="0">
                <a:effectLst/>
              </a:rPr>
              <a:t>Le invitamos a dar el primer paso hacia una infraestructura más segura y robusta.</a:t>
            </a:r>
          </a:p>
          <a:p>
            <a:pPr>
              <a:buNone/>
            </a:pPr>
            <a:endParaRPr lang="es-E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effectLst/>
              </a:rPr>
              <a:t>Paso 1</a:t>
            </a:r>
            <a:r>
              <a:rPr lang="es-ES" dirty="0">
                <a:effectLst/>
              </a:rPr>
              <a:t>: Solicite su primera Asesoría de forma completamente gratuita..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effectLst/>
              </a:rPr>
              <a:t>Paso 2: Definamos la solución perfecta para su negocio (Nube, </a:t>
            </a:r>
            <a:r>
              <a:rPr lang="es-ES" dirty="0" err="1">
                <a:effectLst/>
              </a:rPr>
              <a:t>On</a:t>
            </a:r>
            <a:r>
              <a:rPr lang="es-ES" dirty="0">
                <a:effectLst/>
              </a:rPr>
              <a:t>-Site o Híbrida).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effectLst/>
              </a:rPr>
              <a:t>Paso 3: Implementación de la solución y capacitación de su equipo.</a:t>
            </a:r>
          </a:p>
        </p:txBody>
      </p:sp>
    </p:spTree>
    <p:extLst>
      <p:ext uri="{BB962C8B-B14F-4D97-AF65-F5344CB8AC3E}">
        <p14:creationId xmlns:p14="http://schemas.microsoft.com/office/powerpoint/2010/main" val="293205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4B8D6AA-6C6F-24F7-506A-0FACB6B61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20"/>
            <a:ext cx="12192000" cy="682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3691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579</Words>
  <Application>Microsoft Office PowerPoint</Application>
  <PresentationFormat>Panorámica</PresentationFormat>
  <Paragraphs>53</Paragraphs>
  <Slides>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Arial</vt:lpstr>
      <vt:lpstr>Grandview Display</vt:lpstr>
      <vt:lpstr>DashVTI</vt:lpstr>
      <vt:lpstr>Presentación de PowerPoint</vt:lpstr>
      <vt:lpstr>01 | El Riesgo: ¿Qué Pasa si Pierde sus Datos? </vt:lpstr>
      <vt:lpstr>02 | La Propuesta de Valor SBS: Calidad Alta, Precio Medio </vt:lpstr>
      <vt:lpstr>03 | El Valor Añadido de SBS: Más Allá del Backup </vt:lpstr>
      <vt:lpstr>04 | Relación a Largo Plazo: Su Partner de Confianza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Cristóbal Suárez Abad</cp:lastModifiedBy>
  <cp:revision>7</cp:revision>
  <dcterms:created xsi:type="dcterms:W3CDTF">2025-11-29T17:56:58Z</dcterms:created>
  <dcterms:modified xsi:type="dcterms:W3CDTF">2025-11-29T18:19:15Z</dcterms:modified>
</cp:coreProperties>
</file>