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0" r:id="rId5"/>
    <p:sldId id="261" r:id="rId6"/>
    <p:sldId id="262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4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9D91E7-D14C-444B-881D-633580AF1E84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18484C-552D-435C-8FD2-6CDB6363831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3531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18484C-552D-435C-8FD2-6CDB6363831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323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2F5C42-AA15-3D9D-B9EC-5AF0EA757E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C20405-E6BD-4A5B-ED39-F1DA9BD7A4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4399061-110B-9276-6CA6-BC045C7A9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2FD3E29-0357-6959-BF0D-780D66629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5E58397-3C26-6E19-AB7D-41614E758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28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593007-3601-E055-34D3-98530D31A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768B0F-AE0D-242C-9DFD-AAECF6DA5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C8FB9B-FB8C-BFAA-6A05-F8CA1F917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5E02D34-D8C3-3244-4447-562B46C07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E370F47-68CD-B1BF-2F28-8B033503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9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174706-AB99-7B66-5729-57FD71294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59D459-0D17-E756-9627-E41B54F5AB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9F21D30-F076-F809-ECF1-9A67E53D0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A688BDA-CD86-B24A-11F0-863EFD9AD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C4F911C-D229-4F15-3F68-5785C4A98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169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0B7157-886B-6DD9-65F9-4BFA1D339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F3F990-A61D-38DF-B45C-78CFCF5C25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1ABE318-9110-C5F3-A55E-E3E6B583B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3C66495-63A0-3316-BA8C-9CDAE8428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ACB447E-67CA-38A3-7D56-A66540306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623F629-BC71-9EAF-8E1C-87CE570D5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38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E44367-1461-1F63-CE9C-38E39C645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F3BCBDC-E645-2D82-518C-34CAB27FA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AE23C44-9A2E-107E-1024-3629D0EF5D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C82162A-1E2C-C4CF-1265-035B82B43A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16F9348-C2F8-77B6-A5B9-79BB2FF3C6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C46DCA9-5C49-5B44-8545-B3D72FDBD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53400F6-4E26-D40A-A1F3-A7F4D6184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92EB0C7C-E1BB-DB68-D6D0-08E44CE62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83435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D280059-7057-001D-C5DD-29D329F0E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1BAB13E-7B9B-4901-17FB-589CF9AE9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E607A033-E74F-4742-054F-54198D38B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6417F2F-5E10-A65F-FB74-DF6D6118F3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94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9CFF66F-4A16-45DF-97CE-3EFE8B6FD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012EC91-0899-FD09-F07C-0A2BAF0F4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AB7C754-D965-E8D6-231A-6C4702475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549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1EAA5F0-664F-2032-784A-94E8CBD3B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6022F02-DE3C-5708-AC7E-35C387988A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4C0982A-D8CA-7AFF-0068-7807D3DA5A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403DCE4-E7BD-D3EF-B0CA-0C62181997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CCCC380-47A8-2E99-CA20-CB896F38C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31F437B-4D74-46A3-4427-5E57D39CD8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442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2382F6-67F8-2E6E-E2EC-066498BAF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527FE816-39F3-BEEF-935A-38EC7FE5A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BDB290E-B3E1-2317-CC25-1A9728D68C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4EC3C07-93E1-2008-B6D8-B12B5E391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5B3A25E-B60E-CB24-101B-4F3FC8728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1213485-7A02-F86A-BCEC-DF412818A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4160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F609ED-E8DB-B24E-2934-22833058D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387975B-3CD1-0C27-AD03-CA0295539F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485DA30-1B2B-432D-614F-FE57BB9FA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4BE505-6C02-87D3-8E7E-2B61FFC33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39AC67-2497-CEE4-D0DA-F092C75A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768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3A68D1C-AB09-F593-898E-1C22BA9A3E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96211F5-CE0B-4EB9-36C4-01E3B7A310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B925910-059C-2B88-5CC7-C3F8EBA75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551C2A5-3730-AC09-A969-5F020EA13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0891D9-71F5-1B1E-5CDB-58166773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0195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553BACB-6240-6A53-469C-E95A79D6A2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642938D-0355-01BA-3372-D1A372ACE4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F44F0B-8C21-F204-2760-8B8B8299C9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BF89FF-1C37-4EDB-A77E-EBFC89B86AD7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CEA9304-D5E1-EE48-4CBA-8AD406FA24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C1F0FBC-8AF5-4117-5284-28947C410A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E5251E-5454-46F2-8362-2B7BB117CF1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724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9BE9724-C687-3436-87E7-B64BAA5F69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833" b="6277"/>
          <a:stretch>
            <a:fillRect/>
          </a:stretch>
        </p:blipFill>
        <p:spPr>
          <a:xfrm>
            <a:off x="1" y="1"/>
            <a:ext cx="12192000" cy="6857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0821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8E89E49-7927-3D1E-74E8-05C0BC73E4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520" y="1750269"/>
            <a:ext cx="9499684" cy="3796092"/>
          </a:xfrm>
        </p:spPr>
        <p:txBody>
          <a:bodyPr anchor="t">
            <a:normAutofit fontScale="92500"/>
          </a:bodyPr>
          <a:lstStyle/>
          <a:p>
            <a:r>
              <a:rPr lang="es-ES" sz="2600" dirty="0"/>
              <a:t>Actividad: Servicio de creación y gestión de copias de seguridad.</a:t>
            </a:r>
          </a:p>
          <a:p>
            <a:r>
              <a:rPr lang="es-ES" sz="2600" dirty="0"/>
              <a:t>Necesidad que cubre: hacer, almacenar y restaurar copias de seguridad.</a:t>
            </a:r>
          </a:p>
          <a:p>
            <a:r>
              <a:rPr lang="es-ES" sz="2600" dirty="0"/>
              <a:t>Clientes: PYMES (personal con poca o nula experiencia en la informática, buscan sistema fácil de usar y con buen soporte técnico).</a:t>
            </a:r>
          </a:p>
          <a:p>
            <a:r>
              <a:rPr lang="es-ES" sz="2600" dirty="0"/>
              <a:t>Propuesta de valor: Software sencillo de usar. Cursos de formación a clientes, servicio de almacenamiento en la nube, </a:t>
            </a:r>
            <a:r>
              <a:rPr lang="es-ES" sz="2600" dirty="0" err="1"/>
              <a:t>on</a:t>
            </a:r>
            <a:r>
              <a:rPr lang="es-ES" sz="2600" dirty="0"/>
              <a:t>-site o híbrido, primer año de soporte técnico gratuito, sin contrato de permanencia.</a:t>
            </a:r>
            <a:endParaRPr lang="en-US" sz="2600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ACDBD69-1AE0-68E9-983F-A2DFE69B1387}"/>
              </a:ext>
            </a:extLst>
          </p:cNvPr>
          <p:cNvSpPr txBox="1"/>
          <p:nvPr/>
        </p:nvSpPr>
        <p:spPr>
          <a:xfrm>
            <a:off x="858520" y="764152"/>
            <a:ext cx="60935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3200" b="1" dirty="0"/>
              <a:t>Características Principales:</a:t>
            </a: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3485149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2A927E-5B9D-C785-466A-22A6623D0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FE4A5B4-BE20-C71D-4FF5-9890EAAE5F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0334FCB0-AE5C-1C73-EB4B-914561941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BB0A94-C572-1D7F-AB57-1C04EF34D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648729-EC1C-92AA-5612-881A5588FC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9372" y="820878"/>
            <a:ext cx="11010041" cy="2800395"/>
          </a:xfrm>
        </p:spPr>
        <p:txBody>
          <a:bodyPr anchor="t">
            <a:normAutofit/>
          </a:bodyPr>
          <a:lstStyle/>
          <a:p>
            <a:r>
              <a:rPr lang="es-ES" sz="2600" b="1" dirty="0"/>
              <a:t>Macroentorno: </a:t>
            </a:r>
          </a:p>
          <a:p>
            <a:pPr lvl="1"/>
            <a:r>
              <a:rPr lang="es-ES" sz="2200" dirty="0"/>
              <a:t>Favorable. </a:t>
            </a:r>
          </a:p>
          <a:p>
            <a:pPr lvl="1"/>
            <a:r>
              <a:rPr lang="es-ES" sz="2200" dirty="0"/>
              <a:t>Estabilidad legislativa.</a:t>
            </a:r>
          </a:p>
          <a:p>
            <a:pPr lvl="1"/>
            <a:r>
              <a:rPr lang="es-ES" sz="2200" dirty="0"/>
              <a:t>Subvenciones (“Kit digital”, </a:t>
            </a:r>
            <a:r>
              <a:rPr lang="es-ES" sz="2200" dirty="0" err="1"/>
              <a:t>etc</a:t>
            </a:r>
            <a:r>
              <a:rPr lang="es-ES" sz="2200" dirty="0"/>
              <a:t>).</a:t>
            </a:r>
          </a:p>
          <a:p>
            <a:pPr lvl="1"/>
            <a:r>
              <a:rPr lang="es-ES" sz="2200" dirty="0"/>
              <a:t>No hay crisis en el sector.</a:t>
            </a:r>
          </a:p>
          <a:p>
            <a:pPr lvl="1"/>
            <a:r>
              <a:rPr lang="es-ES" sz="2200" dirty="0"/>
              <a:t>Avance constante en la tecnología dentro del sector (almacenamiento, ancho de banda, mejoras en compresión, </a:t>
            </a:r>
            <a:r>
              <a:rPr lang="es-ES" sz="2200" dirty="0" err="1"/>
              <a:t>deduplicación</a:t>
            </a:r>
            <a:r>
              <a:rPr lang="es-ES" sz="2200" dirty="0"/>
              <a:t>, </a:t>
            </a:r>
            <a:r>
              <a:rPr lang="es-ES" sz="2200" dirty="0" err="1"/>
              <a:t>etc</a:t>
            </a:r>
            <a:r>
              <a:rPr lang="es-ES" sz="2200" dirty="0"/>
              <a:t>).</a:t>
            </a:r>
            <a:endParaRPr lang="en-US" sz="2200" dirty="0"/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0518E4B-F245-786A-C0B4-7FBAF9656DFF}"/>
              </a:ext>
            </a:extLst>
          </p:cNvPr>
          <p:cNvSpPr txBox="1">
            <a:spLocks/>
          </p:cNvSpPr>
          <p:nvPr/>
        </p:nvSpPr>
        <p:spPr>
          <a:xfrm>
            <a:off x="641774" y="3583317"/>
            <a:ext cx="8592167" cy="280039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600" b="1" dirty="0"/>
              <a:t>Entorno sencillo/cambiante:</a:t>
            </a:r>
          </a:p>
          <a:p>
            <a:pPr lvl="1"/>
            <a:r>
              <a:rPr lang="es-ES" sz="2200" dirty="0"/>
              <a:t>Cambios frecuentes: a nivel técnico. No tanto a nivel legislativo.</a:t>
            </a:r>
          </a:p>
          <a:p>
            <a:pPr lvl="1"/>
            <a:r>
              <a:rPr lang="es-ES" sz="2200" dirty="0"/>
              <a:t>Requisito de conocimientos avanzados para operar dentro del sector. Constante actualización.</a:t>
            </a:r>
          </a:p>
          <a:p>
            <a:pPr lvl="1"/>
            <a:r>
              <a:rPr lang="es-ES" sz="2200" dirty="0"/>
              <a:t>Competencia intensa: grandes empresas (Precios reducidos), pequeñas empresas (servicio personalizado).</a:t>
            </a:r>
          </a:p>
        </p:txBody>
      </p:sp>
    </p:spTree>
    <p:extLst>
      <p:ext uri="{BB962C8B-B14F-4D97-AF65-F5344CB8AC3E}">
        <p14:creationId xmlns:p14="http://schemas.microsoft.com/office/powerpoint/2010/main" val="27719137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05333B-4E4B-CE0B-31DF-60A227559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D4D4E8-FD0A-9EB0-7E75-23D258782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109E783C-9612-CE26-F22F-4CC5DACA4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631D6E1-ED34-D35C-3350-FECA8B575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0AE0C2-704C-2E40-42BA-E2F2B8800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8520" y="766721"/>
            <a:ext cx="8360432" cy="2247414"/>
          </a:xfrm>
        </p:spPr>
        <p:txBody>
          <a:bodyPr anchor="t">
            <a:normAutofit/>
          </a:bodyPr>
          <a:lstStyle/>
          <a:p>
            <a:r>
              <a:rPr lang="es-ES" sz="2600" b="1" dirty="0"/>
              <a:t>Microentorno:</a:t>
            </a:r>
          </a:p>
          <a:p>
            <a:pPr lvl="1"/>
            <a:r>
              <a:rPr lang="es-ES" sz="2200" dirty="0"/>
              <a:t>Competencia alta (poco crecimiento y producto parecido).</a:t>
            </a:r>
          </a:p>
          <a:p>
            <a:pPr lvl="1"/>
            <a:r>
              <a:rPr lang="es-ES" sz="2200" dirty="0"/>
              <a:t>La entrada de nuevos competidores es posible con una inversión inicial básica.</a:t>
            </a:r>
          </a:p>
          <a:p>
            <a:pPr lvl="1"/>
            <a:r>
              <a:rPr lang="es-ES" sz="2200" dirty="0"/>
              <a:t>Hay pocos sustitutos directos del producto.</a:t>
            </a:r>
          </a:p>
          <a:p>
            <a:pPr marL="457200" lvl="1" indent="0">
              <a:buNone/>
            </a:pPr>
            <a:endParaRPr lang="es-ES" sz="1400" dirty="0"/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93EC2AD5-5A6F-497E-6366-DE091A6514FD}"/>
              </a:ext>
            </a:extLst>
          </p:cNvPr>
          <p:cNvSpPr txBox="1">
            <a:spLocks/>
          </p:cNvSpPr>
          <p:nvPr/>
        </p:nvSpPr>
        <p:spPr>
          <a:xfrm>
            <a:off x="858519" y="3014133"/>
            <a:ext cx="9124930" cy="2891991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600" b="1" dirty="0"/>
              <a:t>Competencia: En la provincia de Huelva.</a:t>
            </a:r>
          </a:p>
          <a:p>
            <a:pPr lvl="1"/>
            <a:r>
              <a:rPr lang="es-ES" sz="2200" dirty="0"/>
              <a:t>“</a:t>
            </a:r>
            <a:r>
              <a:rPr lang="es-ES" sz="2200" b="1" dirty="0"/>
              <a:t>Ábaco S&amp;M</a:t>
            </a:r>
            <a:r>
              <a:rPr lang="es-ES" sz="2200" dirty="0"/>
              <a:t>”: Ofrece servicio de copias de seguridad online.</a:t>
            </a:r>
          </a:p>
          <a:p>
            <a:pPr lvl="1"/>
            <a:r>
              <a:rPr lang="es-ES" sz="2200" dirty="0"/>
              <a:t>“</a:t>
            </a:r>
            <a:r>
              <a:rPr lang="es-ES" sz="2200" b="1" dirty="0" err="1"/>
              <a:t>Soportec</a:t>
            </a:r>
            <a:r>
              <a:rPr lang="es-ES" sz="2200" dirty="0"/>
              <a:t>”: Ofrece servicio de software en la nube: presencia digital en internet, sistemas de verificación al día con las últimas obligaciones legales y copias de seguridad.</a:t>
            </a:r>
          </a:p>
          <a:p>
            <a:pPr lvl="1"/>
            <a:r>
              <a:rPr lang="es-ES" sz="2200" dirty="0"/>
              <a:t>“</a:t>
            </a:r>
            <a:r>
              <a:rPr lang="es-ES" sz="2200" b="1" dirty="0" err="1"/>
              <a:t>OnuTech</a:t>
            </a:r>
            <a:r>
              <a:rPr lang="es-ES" sz="2200" dirty="0"/>
              <a:t>”: Ofrecen soluciones ofimáticas, mantenimiento informático, suministro de material, soluciones de Red, ciberseguridad y también de </a:t>
            </a:r>
            <a:r>
              <a:rPr lang="es-ES" sz="2200" dirty="0" err="1"/>
              <a:t>backup</a:t>
            </a:r>
            <a:r>
              <a:rPr lang="es-ES" sz="2200" dirty="0"/>
              <a:t> (no se especifica si es en la nube o local).</a:t>
            </a:r>
          </a:p>
          <a:p>
            <a:pPr lvl="1"/>
            <a:endParaRPr lang="es-ES" sz="1800" dirty="0"/>
          </a:p>
          <a:p>
            <a:pPr lvl="1"/>
            <a:endParaRPr lang="es-ES" sz="1000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s-ES" sz="1400" dirty="0"/>
          </a:p>
        </p:txBody>
      </p:sp>
    </p:spTree>
    <p:extLst>
      <p:ext uri="{BB962C8B-B14F-4D97-AF65-F5344CB8AC3E}">
        <p14:creationId xmlns:p14="http://schemas.microsoft.com/office/powerpoint/2010/main" val="989848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953B3-D8D4-28D2-1B9E-05149C1A5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AABB92C-12AB-2969-B78B-79CAB2273D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6001312"/>
              </p:ext>
            </p:extLst>
          </p:nvPr>
        </p:nvGraphicFramePr>
        <p:xfrm>
          <a:off x="1036546" y="643467"/>
          <a:ext cx="10118908" cy="5960442"/>
        </p:xfrm>
        <a:graphic>
          <a:graphicData uri="http://schemas.openxmlformats.org/drawingml/2006/table">
            <a:tbl>
              <a:tblPr firstRow="1" firstCol="1" bandRow="1"/>
              <a:tblGrid>
                <a:gridCol w="5051333">
                  <a:extLst>
                    <a:ext uri="{9D8B030D-6E8A-4147-A177-3AD203B41FA5}">
                      <a16:colId xmlns:a16="http://schemas.microsoft.com/office/drawing/2014/main" val="311199988"/>
                    </a:ext>
                  </a:extLst>
                </a:gridCol>
                <a:gridCol w="5067575">
                  <a:extLst>
                    <a:ext uri="{9D8B030D-6E8A-4147-A177-3AD203B41FA5}">
                      <a16:colId xmlns:a16="http://schemas.microsoft.com/office/drawing/2014/main" val="2689908988"/>
                    </a:ext>
                  </a:extLst>
                </a:gridCol>
              </a:tblGrid>
              <a:tr h="659486"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700" b="0" i="0" u="none" strike="noStrike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FACTORES INTERNOS</a:t>
                      </a:r>
                      <a:endParaRPr lang="en-US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35976" marR="135976" marT="67988" marB="67988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5516370"/>
                  </a:ext>
                </a:extLst>
              </a:tr>
              <a:tr h="48554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0" i="0" u="none" strike="noStrike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FORTALEZAS +</a:t>
                      </a:r>
                      <a:endParaRPr lang="en-US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DC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0" i="0" u="none" strike="noStrike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DEBILIDADES –</a:t>
                      </a:r>
                      <a:endParaRPr lang="en-US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268740"/>
                  </a:ext>
                </a:extLst>
              </a:tr>
              <a:tr h="1215289">
                <a:tc>
                  <a:txBody>
                    <a:bodyPr/>
                    <a:lstStyle/>
                    <a:p>
                      <a:pPr marL="285750" indent="-285750" algn="l" fontAlgn="ctr">
                        <a:lnSpc>
                          <a:spcPct val="115000"/>
                        </a:lnSpc>
                        <a:buClrTx/>
                        <a:buSzPts val="1100"/>
                        <a:buFont typeface="Courier New" panose="02070309020205020404" pitchFamily="49" charset="0"/>
                        <a:buChar char="o"/>
                      </a:pP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Ofrecemos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 un </a:t>
                      </a: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producto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 a </a:t>
                      </a: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medida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.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ctr">
                        <a:lnSpc>
                          <a:spcPct val="115000"/>
                        </a:lnSpc>
                        <a:buFont typeface="Courier New" panose="02070309020205020404" pitchFamily="49" charset="0"/>
                        <a:buChar char="o"/>
                      </a:pP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Muy </a:t>
                      </a: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buena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atención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 al </a:t>
                      </a: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cliente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.</a:t>
                      </a:r>
                      <a:endParaRPr lang="en-US" sz="2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ctr">
                        <a:lnSpc>
                          <a:spcPct val="115000"/>
                        </a:lnSpc>
                        <a:buFont typeface="Courier New" panose="02070309020205020404" pitchFamily="49" charset="0"/>
                        <a:buChar char="o"/>
                      </a:pP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Recursos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humanos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600" b="0" i="0" u="none" strike="noStrike" kern="100" dirty="0" err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cualificados</a:t>
                      </a:r>
                      <a:r>
                        <a:rPr lang="en-U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.</a:t>
                      </a:r>
                      <a:endParaRPr lang="en-US" sz="2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7472" indent="-347472" algn="l" fontAlgn="ctr">
                        <a:lnSpc>
                          <a:spcPct val="115000"/>
                        </a:lnSpc>
                        <a:buClrTx/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lang="es-E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Nuevo en el sector: desconocemos posibles clientes y carecemos de red de contactos.</a:t>
                      </a:r>
                      <a:endParaRPr lang="es-E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Con poca experiencia en las tecnologías necesarias para llevar a cabo las funciones de la empresa.</a:t>
                      </a:r>
                      <a:endParaRPr lang="es-ES" sz="2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1420440"/>
                  </a:ext>
                </a:extLst>
              </a:tr>
              <a:tr h="277052">
                <a:tc>
                  <a:txBody>
                    <a:bodyPr/>
                    <a:lstStyle/>
                    <a:p>
                      <a:pPr indent="100584" algn="l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200" b="0" i="0" u="none" strike="noStrike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s-ES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100584" algn="l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200" b="0" i="0" u="none" strike="noStrike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 </a:t>
                      </a:r>
                      <a:endParaRPr lang="es-ES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8207866"/>
                  </a:ext>
                </a:extLst>
              </a:tr>
              <a:tr h="659486">
                <a:tc gridSpan="2">
                  <a:txBody>
                    <a:bodyPr/>
                    <a:lstStyle/>
                    <a:p>
                      <a:pPr algn="ctr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700" b="0" i="0" u="none" strike="noStrike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FACTORES EXTERNOS</a:t>
                      </a:r>
                      <a:endParaRPr lang="en-US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35976" marR="135976" marT="67988" marB="67988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6846059"/>
                  </a:ext>
                </a:extLst>
              </a:tr>
              <a:tr h="485549">
                <a:tc>
                  <a:txBody>
                    <a:bodyPr/>
                    <a:lstStyle/>
                    <a:p>
                      <a:pPr algn="ctr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0" i="0" u="none" strike="noStrike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OPORTUNIDADES +</a:t>
                      </a:r>
                      <a:endParaRPr lang="en-US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F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400" b="0" i="0" u="none" strike="noStrike" kern="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AMENAZAS –</a:t>
                      </a:r>
                      <a:endParaRPr lang="en-US" sz="27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C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598625"/>
                  </a:ext>
                </a:extLst>
              </a:tr>
              <a:tr h="1788656">
                <a:tc>
                  <a:txBody>
                    <a:bodyPr/>
                    <a:lstStyle/>
                    <a:p>
                      <a:pPr marL="347472" indent="-347472" algn="l" fontAlgn="ctr">
                        <a:lnSpc>
                          <a:spcPct val="115000"/>
                        </a:lnSpc>
                        <a:buClrTx/>
                        <a:buSzPts val="1100"/>
                        <a:buFont typeface="Aptos" panose="020B0004020202020204" pitchFamily="34" charset="0"/>
                        <a:buChar char="-"/>
                      </a:pPr>
                      <a:r>
                        <a:rPr lang="es-E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Las empresas están obligadas a cumplir con la legislación y necesitan de nuestros servicios.</a:t>
                      </a:r>
                      <a:endParaRPr lang="es-E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ctr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Existe una gran cantidad de proveedores que nos puede permitir adquirir las herramientas necesarias a un precio económico.</a:t>
                      </a:r>
                      <a:endParaRPr lang="es-ES" sz="2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ctr">
                        <a:lnSpc>
                          <a:spcPct val="11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s-E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No hay barrera de entrada (solo cumplir la legislación)</a:t>
                      </a:r>
                      <a:endParaRPr lang="es-ES" sz="2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347472" indent="-347472" algn="l" fontAlgn="ctr">
                        <a:lnSpc>
                          <a:spcPct val="115000"/>
                        </a:lnSpc>
                        <a:buClrTx/>
                        <a:buSzPts val="1100"/>
                        <a:buFont typeface="Aptos" panose="020B0004020202020204" pitchFamily="34" charset="0"/>
                        <a:buChar char="-"/>
                      </a:pPr>
                      <a:r>
                        <a:rPr lang="es-E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Obligatoriedad de cumplir legislación en materia de protección de datos.</a:t>
                      </a:r>
                      <a:endParaRPr lang="es-E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  <a:p>
                      <a:pPr marL="347472" indent="-347472" algn="l" font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sz="1600" b="0" i="0" u="none" strike="noStrike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Calibri" panose="020F0502020204030204" pitchFamily="34" charset="0"/>
                        </a:rPr>
                        <a:t>Nivel de competencia muy alto.</a:t>
                      </a:r>
                      <a:endParaRPr lang="es-ES" sz="27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01982" marR="101982" marT="14164" marB="0" anchor="ctr">
                    <a:lnL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137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70138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884C96-1AA8-51D7-7395-B6672ECD9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6FF76B9-219D-4469-AF87-0236D2903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B88BD78-87E1-424D-B479-C37D8E41B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10964637" y="2358"/>
            <a:ext cx="1876653" cy="1766008"/>
            <a:chOff x="-648769" y="2358"/>
            <a:chExt cx="1876653" cy="1766008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C05EB894-9410-4B20-95E4-7A25101AB8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-415188" y="-231223"/>
              <a:ext cx="1409491" cy="1876653"/>
            </a:xfrm>
            <a:custGeom>
              <a:avLst/>
              <a:gdLst>
                <a:gd name="connsiteX0" fmla="*/ 0 w 1409491"/>
                <a:gd name="connsiteY0" fmla="*/ 643075 h 1876653"/>
                <a:gd name="connsiteX1" fmla="*/ 643075 w 1409491"/>
                <a:gd name="connsiteY1" fmla="*/ 0 h 1876653"/>
                <a:gd name="connsiteX2" fmla="*/ 1409491 w 1409491"/>
                <a:gd name="connsiteY2" fmla="*/ 0 h 1876653"/>
                <a:gd name="connsiteX3" fmla="*/ 1409491 w 1409491"/>
                <a:gd name="connsiteY3" fmla="*/ 1876653 h 1876653"/>
                <a:gd name="connsiteX4" fmla="*/ 1233578 w 1409491"/>
                <a:gd name="connsiteY4" fmla="*/ 1876653 h 18766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491" h="1876653">
                  <a:moveTo>
                    <a:pt x="0" y="643075"/>
                  </a:moveTo>
                  <a:lnTo>
                    <a:pt x="643075" y="0"/>
                  </a:lnTo>
                  <a:lnTo>
                    <a:pt x="1409491" y="0"/>
                  </a:lnTo>
                  <a:lnTo>
                    <a:pt x="1409491" y="1876653"/>
                  </a:lnTo>
                  <a:lnTo>
                    <a:pt x="1233578" y="1876653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66E38B6-B050-4340-8E8F-3A971DADC0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301285" y="128278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2E80C965-DB6D-4F81-9E9E-B027384D0B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700000">
            <a:off x="2737196" y="6033666"/>
            <a:ext cx="645368" cy="645368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633C5E46-DAC5-4661-9C87-22B08E2A51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43436" y="5721108"/>
            <a:ext cx="2261965" cy="1136891"/>
          </a:xfrm>
          <a:prstGeom prst="triangle">
            <a:avLst>
              <a:gd name="adj" fmla="val 50000"/>
            </a:avLst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44BA4A8C-7079-65D1-1DBD-3D3E6ABAF7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3007745"/>
              </p:ext>
            </p:extLst>
          </p:nvPr>
        </p:nvGraphicFramePr>
        <p:xfrm>
          <a:off x="643467" y="794589"/>
          <a:ext cx="10905067" cy="570776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448015">
                  <a:extLst>
                    <a:ext uri="{9D8B030D-6E8A-4147-A177-3AD203B41FA5}">
                      <a16:colId xmlns:a16="http://schemas.microsoft.com/office/drawing/2014/main" val="489380610"/>
                    </a:ext>
                  </a:extLst>
                </a:gridCol>
                <a:gridCol w="5457052">
                  <a:extLst>
                    <a:ext uri="{9D8B030D-6E8A-4147-A177-3AD203B41FA5}">
                      <a16:colId xmlns:a16="http://schemas.microsoft.com/office/drawing/2014/main" val="1505802390"/>
                    </a:ext>
                  </a:extLst>
                </a:gridCol>
              </a:tblGrid>
              <a:tr h="3066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600" kern="100">
                          <a:effectLst/>
                        </a:rPr>
                        <a:t>Debilidades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600" kern="100">
                          <a:effectLst/>
                        </a:rPr>
                        <a:t>Corregir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extLst>
                  <a:ext uri="{0D108BD9-81ED-4DB2-BD59-A6C34878D82A}">
                    <a16:rowId xmlns:a16="http://schemas.microsoft.com/office/drawing/2014/main" val="2874497720"/>
                  </a:ext>
                </a:extLst>
              </a:tr>
              <a:tr h="1040331"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Nuevo en el sector: desconocemos posibles clientes y carecemos de red de contactos.</a:t>
                      </a:r>
                      <a:endParaRPr lang="en-US" sz="1600" kern="100">
                        <a:effectLst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Con poca experiencia en las tecnologías necesarias para llevar a cabo las funciones de la empresa.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Calibri" panose="020F0502020204030204" pitchFamily="34" charset="0"/>
                      </a:endParaRPr>
                    </a:p>
                  </a:txBody>
                  <a:tcPr marL="89555" marR="89555" marT="0" marB="0"/>
                </a:tc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Podemos contratar servicios de asesoría, buscar un socio o contratar alguien con experiencia en el sector.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Calibri" panose="020F0502020204030204" pitchFamily="34" charset="0"/>
                      </a:endParaRPr>
                    </a:p>
                  </a:txBody>
                  <a:tcPr marL="89555" marR="89555" marT="0" marB="0"/>
                </a:tc>
                <a:extLst>
                  <a:ext uri="{0D108BD9-81ED-4DB2-BD59-A6C34878D82A}">
                    <a16:rowId xmlns:a16="http://schemas.microsoft.com/office/drawing/2014/main" val="466544558"/>
                  </a:ext>
                </a:extLst>
              </a:tr>
              <a:tr h="3066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600" kern="100">
                          <a:effectLst/>
                        </a:rPr>
                        <a:t>Amenazas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600" kern="100">
                          <a:effectLst/>
                        </a:rPr>
                        <a:t>Afrontar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extLst>
                  <a:ext uri="{0D108BD9-81ED-4DB2-BD59-A6C34878D82A}">
                    <a16:rowId xmlns:a16="http://schemas.microsoft.com/office/drawing/2014/main" val="2908648923"/>
                  </a:ext>
                </a:extLst>
              </a:tr>
              <a:tr h="1040331"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 dirty="0">
                          <a:effectLst/>
                        </a:rPr>
                        <a:t>Obligatoriedad de cumplir legislación en materia de protección de datos.</a:t>
                      </a:r>
                      <a:endParaRPr lang="en-US" sz="1600" kern="100" dirty="0">
                        <a:effectLst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 dirty="0">
                          <a:effectLst/>
                        </a:rPr>
                        <a:t>Nivel de competencia muy alto.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Calibri" panose="020F0502020204030204" pitchFamily="34" charset="0"/>
                      </a:endParaRPr>
                    </a:p>
                  </a:txBody>
                  <a:tcPr marL="89555" marR="89555" marT="0" marB="0"/>
                </a:tc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Estudiar la legislación, contratar servicio de consultoría legal, buscar la manera de cumplir la legislación.</a:t>
                      </a:r>
                      <a:endParaRPr lang="en-US" sz="1600" kern="100">
                        <a:effectLst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Investigar a la competencia y ver de que manera podemos diferenciarnos con respecto a ellos.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Calibri" panose="020F0502020204030204" pitchFamily="34" charset="0"/>
                      </a:endParaRPr>
                    </a:p>
                  </a:txBody>
                  <a:tcPr marL="89555" marR="89555" marT="0" marB="0"/>
                </a:tc>
                <a:extLst>
                  <a:ext uri="{0D108BD9-81ED-4DB2-BD59-A6C34878D82A}">
                    <a16:rowId xmlns:a16="http://schemas.microsoft.com/office/drawing/2014/main" val="3829702329"/>
                  </a:ext>
                </a:extLst>
              </a:tr>
              <a:tr h="3066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600" kern="100" dirty="0">
                          <a:effectLst/>
                        </a:rPr>
                        <a:t>Fortalezas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600" kern="100">
                          <a:effectLst/>
                        </a:rPr>
                        <a:t>Mantener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extLst>
                  <a:ext uri="{0D108BD9-81ED-4DB2-BD59-A6C34878D82A}">
                    <a16:rowId xmlns:a16="http://schemas.microsoft.com/office/drawing/2014/main" val="298521660"/>
                  </a:ext>
                </a:extLst>
              </a:tr>
              <a:tr h="285084"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 dirty="0">
                          <a:effectLst/>
                        </a:rPr>
                        <a:t>Ofrecemos un producto a medida.</a:t>
                      </a:r>
                    </a:p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 dirty="0">
                          <a:effectLst/>
                        </a:rPr>
                        <a:t>Muy buena atención al cliente.</a:t>
                      </a:r>
                    </a:p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 dirty="0">
                          <a:effectLst/>
                        </a:rPr>
                        <a:t>Recursos humanos cualificados.</a:t>
                      </a:r>
                    </a:p>
                  </a:txBody>
                  <a:tcPr marL="89555" marR="89555" marT="0" marB="0"/>
                </a:tc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Mantener el entusiasmo.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Calibri" panose="020F0502020204030204" pitchFamily="34" charset="0"/>
                      </a:endParaRPr>
                    </a:p>
                  </a:txBody>
                  <a:tcPr marL="89555" marR="89555" marT="0" marB="0"/>
                </a:tc>
                <a:extLst>
                  <a:ext uri="{0D108BD9-81ED-4DB2-BD59-A6C34878D82A}">
                    <a16:rowId xmlns:a16="http://schemas.microsoft.com/office/drawing/2014/main" val="3349061895"/>
                  </a:ext>
                </a:extLst>
              </a:tr>
              <a:tr h="3066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600" kern="100">
                          <a:effectLst/>
                        </a:rPr>
                        <a:t>Oportunidades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600" kern="100">
                          <a:effectLst/>
                        </a:rPr>
                        <a:t>Explotar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extLst>
                  <a:ext uri="{0D108BD9-81ED-4DB2-BD59-A6C34878D82A}">
                    <a16:rowId xmlns:a16="http://schemas.microsoft.com/office/drawing/2014/main" val="4124723088"/>
                  </a:ext>
                </a:extLst>
              </a:tr>
              <a:tr h="1676504"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Las empresas están obligadas a cumplir con la legislación y necesitan de nuestros servicios.</a:t>
                      </a:r>
                      <a:endParaRPr lang="en-US" sz="1600" kern="100">
                        <a:effectLst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Existe una gran cantidad de proveedores.</a:t>
                      </a:r>
                      <a:endParaRPr lang="en-US" sz="1600" kern="100">
                        <a:effectLst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>
                          <a:effectLst/>
                        </a:rPr>
                        <a:t>No hay barrera de entrada (solo cumplir la legislación).</a:t>
                      </a:r>
                      <a:endParaRPr lang="en-US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Calibri" panose="020F0502020204030204" pitchFamily="34" charset="0"/>
                      </a:endParaRPr>
                    </a:p>
                  </a:txBody>
                  <a:tcPr marL="89555" marR="89555" marT="0" marB="0"/>
                </a:tc>
                <a:tc>
                  <a:txBody>
                    <a:bodyPr/>
                    <a:lstStyle/>
                    <a:p>
                      <a:pPr marL="342900" lvl="0" indent="-342900">
                        <a:lnSpc>
                          <a:spcPct val="115000"/>
                        </a:lnSpc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 dirty="0">
                          <a:effectLst/>
                        </a:rPr>
                        <a:t>Anunciarnos como expertos en cumplimiento de legislación vigente.</a:t>
                      </a:r>
                      <a:endParaRPr lang="en-US" sz="1600" kern="100" dirty="0">
                        <a:effectLst/>
                      </a:endParaRPr>
                    </a:p>
                    <a:p>
                      <a:pPr marL="342900" lvl="0" indent="-342900">
                        <a:lnSpc>
                          <a:spcPct val="115000"/>
                        </a:lnSpc>
                        <a:spcAft>
                          <a:spcPts val="800"/>
                        </a:spcAft>
                        <a:buFont typeface="Aptos" panose="020B0004020202020204" pitchFamily="34" charset="0"/>
                        <a:buChar char="-"/>
                      </a:pPr>
                      <a:r>
                        <a:rPr lang="es-ES" sz="1400" kern="100" dirty="0">
                          <a:effectLst/>
                        </a:rPr>
                        <a:t>Al haber muchos proveedores podemos adquirir el material necesario a buen precio, y llegado el momento, para pedidos grandes, podríamos intentar negociar.</a:t>
                      </a:r>
                      <a:endParaRPr lang="en-US" sz="1600" kern="100" dirty="0">
                        <a:effectLst/>
                      </a:endParaRPr>
                    </a:p>
                    <a:p>
                      <a:pPr marL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s-ES" sz="1400" kern="100" dirty="0">
                          <a:effectLst/>
                        </a:rPr>
                        <a:t> </a:t>
                      </a:r>
                      <a:endParaRPr lang="en-US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9555" marR="89555" marT="0" marB="0"/>
                </a:tc>
                <a:extLst>
                  <a:ext uri="{0D108BD9-81ED-4DB2-BD59-A6C34878D82A}">
                    <a16:rowId xmlns:a16="http://schemas.microsoft.com/office/drawing/2014/main" val="10448142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5990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623</Words>
  <Application>Microsoft Office PowerPoint</Application>
  <PresentationFormat>Panorámica</PresentationFormat>
  <Paragraphs>68</Paragraphs>
  <Slides>6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Courier New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Cristóbal Suárez Abad</dc:creator>
  <cp:lastModifiedBy>Cristóbal Suárez Abad</cp:lastModifiedBy>
  <cp:revision>5</cp:revision>
  <dcterms:created xsi:type="dcterms:W3CDTF">2025-12-14T09:11:48Z</dcterms:created>
  <dcterms:modified xsi:type="dcterms:W3CDTF">2025-12-14T10:41:33Z</dcterms:modified>
</cp:coreProperties>
</file>