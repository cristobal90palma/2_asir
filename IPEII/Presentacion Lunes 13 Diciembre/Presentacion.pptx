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9D91E7-D14C-444B-881D-633580AF1E8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18484C-552D-435C-8FD2-6CDB636383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353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8484C-552D-435C-8FD2-6CDB636383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323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2F5C42-AA15-3D9D-B9EC-5AF0EA757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C20405-E6BD-4A5B-ED39-F1DA9BD7A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399061-110B-9276-6CA6-BC045C7A9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F89FF-1C37-4EDB-A77E-EBFC89B86AD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FD3E29-0357-6959-BF0D-780D66629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E58397-3C26-6E19-AB7D-41614E758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251E-5454-46F2-8362-2B7BB117CF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28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593007-3601-E055-34D3-98530D31A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768B0F-AE0D-242C-9DFD-AAECF6DA5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C8FB9B-FB8C-BFAA-6A05-F8CA1F917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F89FF-1C37-4EDB-A77E-EBFC89B86AD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E02D34-D8C3-3244-4447-562B46C07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370F47-68CD-B1BF-2F28-8B0335033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251E-5454-46F2-8362-2B7BB117CF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9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74706-AB99-7B66-5729-57FD71294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59D459-0D17-E756-9627-E41B54F5A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F21D30-F076-F809-ECF1-9A67E53D0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F89FF-1C37-4EDB-A77E-EBFC89B86AD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688BDA-CD86-B24A-11F0-863EFD9A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4F911C-D229-4F15-3F68-5785C4A98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251E-5454-46F2-8362-2B7BB117CF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69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0B7157-886B-6DD9-65F9-4BFA1D339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F3F990-A61D-38DF-B45C-78CFCF5C2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1ABE318-9110-C5F3-A55E-E3E6B583B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C66495-63A0-3316-BA8C-9CDAE8428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F89FF-1C37-4EDB-A77E-EBFC89B86AD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CB447E-67CA-38A3-7D56-A66540306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23F629-BC71-9EAF-8E1C-87CE570D5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251E-5454-46F2-8362-2B7BB117CF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38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44367-1461-1F63-CE9C-38E39C645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3BCBDC-E645-2D82-518C-34CAB27FA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E23C44-9A2E-107E-1024-3629D0EF5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C82162A-1E2C-C4CF-1265-035B82B43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16F9348-C2F8-77B6-A5B9-79BB2FF3C6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C46DCA9-5C49-5B44-8545-B3D72FDBD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F89FF-1C37-4EDB-A77E-EBFC89B86AD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53400F6-4E26-D40A-A1F3-A7F4D6184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2EB0C7C-E1BB-DB68-D6D0-08E44CE62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251E-5454-46F2-8362-2B7BB117CF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343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280059-7057-001D-C5DD-29D329F0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1BAB13E-7B9B-4901-17FB-589CF9AE9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F89FF-1C37-4EDB-A77E-EBFC89B86AD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607A033-E74F-4742-054F-54198D38B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6417F2F-5E10-A65F-FB74-DF6D6118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251E-5454-46F2-8362-2B7BB117CF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94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9CFF66F-4A16-45DF-97CE-3EFE8B6FD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F89FF-1C37-4EDB-A77E-EBFC89B86AD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012EC91-0899-FD09-F07C-0A2BAF0F4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AB7C754-D965-E8D6-231A-6C4702475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251E-5454-46F2-8362-2B7BB117CF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549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EAA5F0-664F-2032-784A-94E8CBD3B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022F02-DE3C-5708-AC7E-35C387988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C0982A-D8CA-7AFF-0068-7807D3DA5A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403DCE4-E7BD-D3EF-B0CA-0C621819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F89FF-1C37-4EDB-A77E-EBFC89B86AD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CCCC380-47A8-2E99-CA20-CB896F38C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1F437B-4D74-46A3-4427-5E57D39CD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251E-5454-46F2-8362-2B7BB117CF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442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382F6-67F8-2E6E-E2EC-066498BAF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27FE816-39F3-BEEF-935A-38EC7FE5A0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BDB290E-B3E1-2317-CC25-1A9728D68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4EC3C07-93E1-2008-B6D8-B12B5E391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F89FF-1C37-4EDB-A77E-EBFC89B86AD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B3A25E-B60E-CB24-101B-4F3FC8728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213485-7A02-F86A-BCEC-DF412818A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251E-5454-46F2-8362-2B7BB117CF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160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609ED-E8DB-B24E-2934-22833058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87975B-3CD1-0C27-AD03-CA0295539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85DA30-1B2B-432D-614F-FE57BB9F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F89FF-1C37-4EDB-A77E-EBFC89B86AD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4BE505-6C02-87D3-8E7E-2B61FFC33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39AC67-2497-CEE4-D0DA-F092C75A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251E-5454-46F2-8362-2B7BB117CF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68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3A68D1C-AB09-F593-898E-1C22BA9A3E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96211F5-CE0B-4EB9-36C4-01E3B7A310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925910-059C-2B88-5CC7-C3F8EBA75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F89FF-1C37-4EDB-A77E-EBFC89B86AD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51C2A5-3730-AC09-A969-5F020EA13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0891D9-71F5-1B1E-5CDB-58166773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5251E-5454-46F2-8362-2B7BB117CF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019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553BACB-6240-6A53-469C-E95A79D6A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42938D-0355-01BA-3372-D1A372ACE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44F0B-8C21-F204-2760-8B8B8299C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BF89FF-1C37-4EDB-A77E-EBFC89B86AD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EA9304-D5E1-EE48-4CBA-8AD406FA24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1F0FBC-8AF5-4117-5284-28947C410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E5251E-5454-46F2-8362-2B7BB117CF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24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9BE9724-C687-3436-87E7-B64BAA5F6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33" b="6277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082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E89E49-7927-3D1E-74E8-05C0BC73E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520" y="1750269"/>
            <a:ext cx="9499684" cy="3796092"/>
          </a:xfrm>
        </p:spPr>
        <p:txBody>
          <a:bodyPr anchor="t">
            <a:normAutofit fontScale="92500"/>
          </a:bodyPr>
          <a:lstStyle/>
          <a:p>
            <a:r>
              <a:rPr lang="es-ES" sz="2600" b="1" dirty="0"/>
              <a:t>Actividad</a:t>
            </a:r>
            <a:r>
              <a:rPr lang="es-ES" sz="2600" dirty="0"/>
              <a:t>: Servicio de creación y gestión de copias de seguridad.</a:t>
            </a:r>
          </a:p>
          <a:p>
            <a:r>
              <a:rPr lang="es-ES" sz="2600" b="1" dirty="0"/>
              <a:t>Necesidad que cubre</a:t>
            </a:r>
            <a:r>
              <a:rPr lang="es-ES" sz="2600" dirty="0"/>
              <a:t>: hacer, almacenar y restaurar copias de seguridad.</a:t>
            </a:r>
          </a:p>
          <a:p>
            <a:r>
              <a:rPr lang="es-ES" sz="2600" b="1" dirty="0"/>
              <a:t>Clientes</a:t>
            </a:r>
            <a:r>
              <a:rPr lang="es-ES" sz="2600" dirty="0"/>
              <a:t>: PYMES (personal con poca o nula experiencia en la informática, buscan sistema fácil de usar y con buen soporte técnico).</a:t>
            </a:r>
          </a:p>
          <a:p>
            <a:r>
              <a:rPr lang="es-ES" sz="2600" b="1" dirty="0"/>
              <a:t>Propuesta de valor</a:t>
            </a:r>
            <a:r>
              <a:rPr lang="es-ES" sz="2600" dirty="0"/>
              <a:t>: Software sencillo de usar. Cursos de formación a clientes, servicio de almacenamiento en la nube, </a:t>
            </a:r>
            <a:r>
              <a:rPr lang="es-ES" sz="2600" dirty="0" err="1"/>
              <a:t>on</a:t>
            </a:r>
            <a:r>
              <a:rPr lang="es-ES" sz="2600" dirty="0"/>
              <a:t>-site o híbrido, primer año de soporte técnico gratuito, sin contrato de permanencia.</a:t>
            </a:r>
            <a:endParaRPr lang="en-US" sz="2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ACDBD69-1AE0-68E9-983F-A2DFE69B1387}"/>
              </a:ext>
            </a:extLst>
          </p:cNvPr>
          <p:cNvSpPr txBox="1"/>
          <p:nvPr/>
        </p:nvSpPr>
        <p:spPr>
          <a:xfrm>
            <a:off x="858520" y="764152"/>
            <a:ext cx="6093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dirty="0"/>
              <a:t>Características Principales: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485149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2A927E-5B9D-C785-466A-22A6623D0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E4A5B4-BE20-C71D-4FF5-9890EAAE5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0334FCB0-AE5C-1C73-EB4B-914561941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B0A94-C572-1D7F-AB57-1C04EF34D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648729-EC1C-92AA-5612-881A5588F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372" y="820878"/>
            <a:ext cx="11010041" cy="2800395"/>
          </a:xfrm>
        </p:spPr>
        <p:txBody>
          <a:bodyPr anchor="t">
            <a:normAutofit/>
          </a:bodyPr>
          <a:lstStyle/>
          <a:p>
            <a:r>
              <a:rPr lang="es-ES" sz="2600" b="1" dirty="0"/>
              <a:t>Macroentorno: </a:t>
            </a:r>
          </a:p>
          <a:p>
            <a:pPr lvl="1"/>
            <a:r>
              <a:rPr lang="es-ES" sz="2200" dirty="0"/>
              <a:t>Favorable. </a:t>
            </a:r>
          </a:p>
          <a:p>
            <a:pPr lvl="1"/>
            <a:r>
              <a:rPr lang="es-ES" sz="2200" dirty="0"/>
              <a:t>Estabilidad legislativa.</a:t>
            </a:r>
          </a:p>
          <a:p>
            <a:pPr lvl="1"/>
            <a:r>
              <a:rPr lang="es-ES" sz="2200" dirty="0"/>
              <a:t>Subvenciones (“Kit digital”, </a:t>
            </a:r>
            <a:r>
              <a:rPr lang="es-ES" sz="2200" dirty="0" err="1"/>
              <a:t>etc</a:t>
            </a:r>
            <a:r>
              <a:rPr lang="es-ES" sz="2200" dirty="0"/>
              <a:t>).</a:t>
            </a:r>
          </a:p>
          <a:p>
            <a:pPr lvl="1"/>
            <a:r>
              <a:rPr lang="es-ES" sz="2200" dirty="0"/>
              <a:t>No hay crisis en el sector.</a:t>
            </a:r>
          </a:p>
          <a:p>
            <a:pPr lvl="1"/>
            <a:r>
              <a:rPr lang="es-ES" sz="2200" dirty="0"/>
              <a:t>Avance constante en la tecnología dentro del sector (almacenamiento, ancho de banda, mejoras en compresión, </a:t>
            </a:r>
            <a:r>
              <a:rPr lang="es-ES" sz="2200" dirty="0" err="1"/>
              <a:t>deduplicación</a:t>
            </a:r>
            <a:r>
              <a:rPr lang="es-ES" sz="2200" dirty="0"/>
              <a:t>, </a:t>
            </a:r>
            <a:r>
              <a:rPr lang="es-ES" sz="2200" dirty="0" err="1"/>
              <a:t>etc</a:t>
            </a:r>
            <a:r>
              <a:rPr lang="es-ES" sz="2200" dirty="0"/>
              <a:t>).</a:t>
            </a:r>
            <a:endParaRPr lang="en-US" sz="2200" dirty="0"/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10518E4B-F245-786A-C0B4-7FBAF9656DFF}"/>
              </a:ext>
            </a:extLst>
          </p:cNvPr>
          <p:cNvSpPr txBox="1">
            <a:spLocks/>
          </p:cNvSpPr>
          <p:nvPr/>
        </p:nvSpPr>
        <p:spPr>
          <a:xfrm>
            <a:off x="641774" y="3583317"/>
            <a:ext cx="8592167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600" b="1" dirty="0"/>
              <a:t>Entorno sencillo/cambiante:</a:t>
            </a:r>
          </a:p>
          <a:p>
            <a:pPr lvl="1"/>
            <a:r>
              <a:rPr lang="es-ES" sz="2200" b="1" dirty="0"/>
              <a:t>Cambios frecuentes</a:t>
            </a:r>
            <a:r>
              <a:rPr lang="es-ES" sz="2200" dirty="0"/>
              <a:t>: a nivel técnico. No tanto a nivel legislativo.</a:t>
            </a:r>
          </a:p>
          <a:p>
            <a:pPr lvl="1"/>
            <a:r>
              <a:rPr lang="es-ES" sz="2200" b="1" dirty="0"/>
              <a:t>Requisito</a:t>
            </a:r>
            <a:r>
              <a:rPr lang="es-ES" sz="2200" dirty="0"/>
              <a:t> de conocimientos avanzados para operar dentro del sector. Constante actualización.</a:t>
            </a:r>
          </a:p>
          <a:p>
            <a:pPr lvl="1"/>
            <a:r>
              <a:rPr lang="es-ES" sz="2200" b="1" dirty="0"/>
              <a:t>Competencia intensa</a:t>
            </a:r>
            <a:r>
              <a:rPr lang="es-ES" sz="2200" dirty="0"/>
              <a:t>: grandes empresas (Precios reducidos), pequeñas empresas (servicio personalizado).</a:t>
            </a:r>
          </a:p>
        </p:txBody>
      </p:sp>
    </p:spTree>
    <p:extLst>
      <p:ext uri="{BB962C8B-B14F-4D97-AF65-F5344CB8AC3E}">
        <p14:creationId xmlns:p14="http://schemas.microsoft.com/office/powerpoint/2010/main" val="2771913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5333B-4E4B-CE0B-31DF-60A227559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D4D4E8-FD0A-9EB0-7E75-23D258782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109E783C-9612-CE26-F22F-4CC5DACA4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31D6E1-ED34-D35C-3350-FECA8B575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0AE0C2-704C-2E40-42BA-E2F2B8800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520" y="766721"/>
            <a:ext cx="8360432" cy="2247414"/>
          </a:xfrm>
        </p:spPr>
        <p:txBody>
          <a:bodyPr anchor="t">
            <a:normAutofit/>
          </a:bodyPr>
          <a:lstStyle/>
          <a:p>
            <a:r>
              <a:rPr lang="es-ES" sz="2600" b="1" dirty="0"/>
              <a:t>Microentorno:</a:t>
            </a:r>
          </a:p>
          <a:p>
            <a:pPr lvl="1"/>
            <a:r>
              <a:rPr lang="es-ES" sz="2200" b="1" dirty="0"/>
              <a:t>Competencia alta </a:t>
            </a:r>
            <a:r>
              <a:rPr lang="es-ES" sz="2200" dirty="0"/>
              <a:t>(poco crecimiento y producto parecido).</a:t>
            </a:r>
          </a:p>
          <a:p>
            <a:pPr lvl="1"/>
            <a:r>
              <a:rPr lang="es-ES" sz="2200" dirty="0"/>
              <a:t>La </a:t>
            </a:r>
            <a:r>
              <a:rPr lang="es-ES" sz="2200" b="1" dirty="0"/>
              <a:t>entrada de nuevos competidores </a:t>
            </a:r>
            <a:r>
              <a:rPr lang="es-ES" sz="2200" dirty="0"/>
              <a:t>es posible con una inversión inicial básica.</a:t>
            </a:r>
          </a:p>
          <a:p>
            <a:pPr lvl="1"/>
            <a:r>
              <a:rPr lang="es-ES" sz="2200" dirty="0"/>
              <a:t>Hay </a:t>
            </a:r>
            <a:r>
              <a:rPr lang="es-ES" sz="2200" b="1" dirty="0"/>
              <a:t>pocos sustitutos </a:t>
            </a:r>
            <a:r>
              <a:rPr lang="es-ES" sz="2200" dirty="0"/>
              <a:t>directos del producto.</a:t>
            </a:r>
          </a:p>
          <a:p>
            <a:pPr marL="457200" lvl="1" indent="0">
              <a:buNone/>
            </a:pPr>
            <a:endParaRPr lang="es-ES" sz="1400" dirty="0"/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93EC2AD5-5A6F-497E-6366-DE091A6514FD}"/>
              </a:ext>
            </a:extLst>
          </p:cNvPr>
          <p:cNvSpPr txBox="1">
            <a:spLocks/>
          </p:cNvSpPr>
          <p:nvPr/>
        </p:nvSpPr>
        <p:spPr>
          <a:xfrm>
            <a:off x="858519" y="3014133"/>
            <a:ext cx="9124930" cy="289199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600" b="1" dirty="0"/>
              <a:t>Competencia: En la provincia de Huelva.</a:t>
            </a:r>
          </a:p>
          <a:p>
            <a:pPr lvl="1"/>
            <a:r>
              <a:rPr lang="es-ES" sz="2200" dirty="0"/>
              <a:t>“</a:t>
            </a:r>
            <a:r>
              <a:rPr lang="es-ES" sz="2200" b="1" dirty="0"/>
              <a:t>Ábaco S&amp;M</a:t>
            </a:r>
            <a:r>
              <a:rPr lang="es-ES" sz="2200" dirty="0"/>
              <a:t>”: Ofrece servicio de copias de seguridad online.</a:t>
            </a:r>
          </a:p>
          <a:p>
            <a:pPr lvl="1"/>
            <a:r>
              <a:rPr lang="es-ES" sz="2200" dirty="0"/>
              <a:t>“</a:t>
            </a:r>
            <a:r>
              <a:rPr lang="es-ES" sz="2200" b="1" dirty="0" err="1"/>
              <a:t>Soportec</a:t>
            </a:r>
            <a:r>
              <a:rPr lang="es-ES" sz="2200" dirty="0"/>
              <a:t>”: Ofrece servicio de software en la nube: presencia digital en internet, sistemas de verificación al día con las últimas obligaciones legales y copias de seguridad.</a:t>
            </a:r>
          </a:p>
          <a:p>
            <a:pPr lvl="1"/>
            <a:r>
              <a:rPr lang="es-ES" sz="2200" dirty="0"/>
              <a:t>“</a:t>
            </a:r>
            <a:r>
              <a:rPr lang="es-ES" sz="2200" b="1" dirty="0" err="1"/>
              <a:t>OnuTech</a:t>
            </a:r>
            <a:r>
              <a:rPr lang="es-ES" sz="2200" dirty="0"/>
              <a:t>”: Ofrecen soluciones ofimáticas, mantenimiento informático, suministro de material, soluciones de Red, ciberseguridad y también de </a:t>
            </a:r>
            <a:r>
              <a:rPr lang="es-ES" sz="2200" dirty="0" err="1"/>
              <a:t>backup</a:t>
            </a:r>
            <a:r>
              <a:rPr lang="es-ES" sz="2200" dirty="0"/>
              <a:t> (no se especifica si es en la nube o local).</a:t>
            </a:r>
          </a:p>
          <a:p>
            <a:pPr lvl="1"/>
            <a:endParaRPr lang="es-ES" sz="1800" dirty="0"/>
          </a:p>
          <a:p>
            <a:pPr lvl="1"/>
            <a:endParaRPr lang="es-ES" sz="10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98984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B953B3-D8D4-28D2-1B9E-05149C1A5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AABB92C-12AB-2969-B78B-79CAB2273D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747751"/>
              </p:ext>
            </p:extLst>
          </p:nvPr>
        </p:nvGraphicFramePr>
        <p:xfrm>
          <a:off x="1036546" y="643467"/>
          <a:ext cx="10118908" cy="5960442"/>
        </p:xfrm>
        <a:graphic>
          <a:graphicData uri="http://schemas.openxmlformats.org/drawingml/2006/table">
            <a:tbl>
              <a:tblPr firstRow="1" firstCol="1" bandRow="1"/>
              <a:tblGrid>
                <a:gridCol w="5051333">
                  <a:extLst>
                    <a:ext uri="{9D8B030D-6E8A-4147-A177-3AD203B41FA5}">
                      <a16:colId xmlns:a16="http://schemas.microsoft.com/office/drawing/2014/main" val="311199988"/>
                    </a:ext>
                  </a:extLst>
                </a:gridCol>
                <a:gridCol w="5067575">
                  <a:extLst>
                    <a:ext uri="{9D8B030D-6E8A-4147-A177-3AD203B41FA5}">
                      <a16:colId xmlns:a16="http://schemas.microsoft.com/office/drawing/2014/main" val="2689908988"/>
                    </a:ext>
                  </a:extLst>
                </a:gridCol>
              </a:tblGrid>
              <a:tr h="659486">
                <a:tc gridSpan="2"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7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FACTORES INTERNOS</a:t>
                      </a:r>
                      <a:endParaRPr lang="en-US" sz="2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976" marR="135976" marT="67988" marB="679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516370"/>
                  </a:ext>
                </a:extLst>
              </a:tr>
              <a:tr h="485549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FORTALEZAS +</a:t>
                      </a:r>
                      <a:endParaRPr lang="en-US" sz="2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1982" marR="101982" marT="14164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DC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0" i="0" u="none" strike="noStrike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DEBILIDADES –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1982" marR="101982" marT="14164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68740"/>
                  </a:ext>
                </a:extLst>
              </a:tr>
              <a:tr h="1215289">
                <a:tc>
                  <a:txBody>
                    <a:bodyPr/>
                    <a:lstStyle/>
                    <a:p>
                      <a:pPr marL="285750" indent="-285750" algn="l" fontAlgn="ctr">
                        <a:lnSpc>
                          <a:spcPct val="115000"/>
                        </a:lnSpc>
                        <a:buClrTx/>
                        <a:buSzPts val="1100"/>
                        <a:buFont typeface="Courier New" panose="02070309020205020404" pitchFamily="49" charset="0"/>
                        <a:buChar char="o"/>
                      </a:pPr>
                      <a:r>
                        <a:rPr lang="es-ES" sz="1600" b="0" i="0" u="none" strike="noStrike" kern="100" noProof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Ofrecemos un producto a medida.</a:t>
                      </a:r>
                      <a:endParaRPr lang="es-ES" sz="1600" b="0" i="0" u="none" strike="noStrike" noProof="0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347472" indent="-347472" algn="l" fontAlgn="ctr">
                        <a:lnSpc>
                          <a:spcPct val="115000"/>
                        </a:lnSpc>
                        <a:buFont typeface="Courier New" panose="02070309020205020404" pitchFamily="49" charset="0"/>
                        <a:buChar char="o"/>
                      </a:pPr>
                      <a:r>
                        <a:rPr lang="es-ES" sz="1600" b="0" i="0" u="none" strike="noStrike" kern="100" noProof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Muy buena atención al cliente.</a:t>
                      </a:r>
                      <a:endParaRPr lang="es-ES" sz="2700" b="0" i="0" u="none" strike="noStrike" noProof="0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347472" indent="-347472" algn="l" fontAlgn="ctr">
                        <a:lnSpc>
                          <a:spcPct val="115000"/>
                        </a:lnSpc>
                        <a:buFont typeface="Courier New" panose="02070309020205020404" pitchFamily="49" charset="0"/>
                        <a:buChar char="o"/>
                      </a:pPr>
                      <a:r>
                        <a:rPr lang="es-ES" sz="1600" b="0" i="0" u="none" strike="noStrike" kern="100" noProof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Recursos humanos cualificados.</a:t>
                      </a:r>
                      <a:endParaRPr lang="es-ES" sz="2700" b="0" i="0" u="none" strike="noStrike" noProof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1982" marR="101982" marT="14164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7472" indent="-347472" algn="l" fontAlgn="ctr">
                        <a:lnSpc>
                          <a:spcPct val="115000"/>
                        </a:lnSpc>
                        <a:buClrTx/>
                        <a:buSzPts val="1100"/>
                        <a:buFont typeface="Arial" panose="020B0604020202020204" pitchFamily="34" charset="0"/>
                        <a:buChar char="•"/>
                      </a:pPr>
                      <a:r>
                        <a:rPr lang="es-ES" sz="16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Nuevo en el sector: desconocemos posibles clientes y carecemos de red de contactos.</a:t>
                      </a:r>
                      <a:endParaRPr lang="es-E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347472" indent="-347472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sz="16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Con poca experiencia en las tecnologías necesarias para llevar a cabo las funciones de la empresa.</a:t>
                      </a:r>
                      <a:endParaRPr lang="es-ES" sz="2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1982" marR="101982" marT="14164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420440"/>
                  </a:ext>
                </a:extLst>
              </a:tr>
              <a:tr h="277052">
                <a:tc>
                  <a:txBody>
                    <a:bodyPr/>
                    <a:lstStyle/>
                    <a:p>
                      <a:pPr indent="100584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200" b="0" i="0" u="none" strike="noStrike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s-E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1982" marR="101982" marT="1416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00584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200" b="0" i="0" u="none" strike="noStrike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s-E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1982" marR="101982" marT="1416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207866"/>
                  </a:ext>
                </a:extLst>
              </a:tr>
              <a:tr h="659486">
                <a:tc gridSpan="2"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700" b="0" i="0" u="none" strike="noStrike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FACTORES EXTERNOS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976" marR="135976" marT="67988" marB="679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846059"/>
                  </a:ext>
                </a:extLst>
              </a:tr>
              <a:tr h="485549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0" i="0" u="none" strike="noStrike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OPORTUNIDADES +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1982" marR="101982" marT="14164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FD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0" i="0" u="none" strike="noStrike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AMENAZAS –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1982" marR="101982" marT="14164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C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598625"/>
                  </a:ext>
                </a:extLst>
              </a:tr>
              <a:tr h="1788656">
                <a:tc>
                  <a:txBody>
                    <a:bodyPr/>
                    <a:lstStyle/>
                    <a:p>
                      <a:pPr marL="347472" indent="-347472" algn="l" fontAlgn="ctr">
                        <a:lnSpc>
                          <a:spcPct val="115000"/>
                        </a:lnSpc>
                        <a:buClrTx/>
                        <a:buSzPts val="1100"/>
                        <a:buFont typeface="Aptos" panose="020B0004020202020204" pitchFamily="34" charset="0"/>
                        <a:buChar char="-"/>
                      </a:pPr>
                      <a:r>
                        <a:rPr lang="es-ES" sz="16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Las empresas están obligadas a cumplir con la legislación y necesitan de nuestros servicios.</a:t>
                      </a:r>
                      <a:endParaRPr lang="es-E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347472" indent="-347472" algn="l" fontAlgn="ctr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6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Existe una gran cantidad de proveedores que nos puede permitir adquirir las herramientas necesarias a un precio económico.</a:t>
                      </a:r>
                      <a:endParaRPr lang="es-ES" sz="2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347472" indent="-347472" algn="l" fontAlgn="ctr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6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No hay barrera de entrada (solo cumplir la legislación)</a:t>
                      </a:r>
                      <a:endParaRPr lang="es-ES" sz="2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1982" marR="101982" marT="14164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7472" indent="-347472" algn="l" fontAlgn="ctr">
                        <a:lnSpc>
                          <a:spcPct val="115000"/>
                        </a:lnSpc>
                        <a:buClrTx/>
                        <a:buSzPts val="1100"/>
                        <a:buFont typeface="Aptos" panose="020B0004020202020204" pitchFamily="34" charset="0"/>
                        <a:buChar char="-"/>
                      </a:pPr>
                      <a:r>
                        <a:rPr lang="es-ES" sz="16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Obligatoriedad de cumplir legislación en materia de protección de datos.</a:t>
                      </a:r>
                      <a:endParaRPr lang="es-E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347472" indent="-347472"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sz="16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Nivel de competencia muy alto.</a:t>
                      </a:r>
                      <a:endParaRPr lang="es-ES" sz="2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1982" marR="101982" marT="14164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137347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CF7C25A3-63B2-83EF-99D6-14E53C3CB0A5}"/>
              </a:ext>
            </a:extLst>
          </p:cNvPr>
          <p:cNvSpPr txBox="1"/>
          <p:nvPr/>
        </p:nvSpPr>
        <p:spPr>
          <a:xfrm>
            <a:off x="3045759" y="183438"/>
            <a:ext cx="6100482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b="1" i="0" u="none" strike="noStrike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DAFO</a:t>
            </a:r>
            <a:endParaRPr lang="en-US" sz="3200" b="1" i="0" u="none" strike="noStrike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013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884C96-1AA8-51D7-7395-B6672ECD9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4BA4A8C-7079-65D1-1DBD-3D3E6ABAF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007745"/>
              </p:ext>
            </p:extLst>
          </p:nvPr>
        </p:nvGraphicFramePr>
        <p:xfrm>
          <a:off x="643467" y="794589"/>
          <a:ext cx="10905067" cy="57077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48015">
                  <a:extLst>
                    <a:ext uri="{9D8B030D-6E8A-4147-A177-3AD203B41FA5}">
                      <a16:colId xmlns:a16="http://schemas.microsoft.com/office/drawing/2014/main" val="489380610"/>
                    </a:ext>
                  </a:extLst>
                </a:gridCol>
                <a:gridCol w="5457052">
                  <a:extLst>
                    <a:ext uri="{9D8B030D-6E8A-4147-A177-3AD203B41FA5}">
                      <a16:colId xmlns:a16="http://schemas.microsoft.com/office/drawing/2014/main" val="1505802390"/>
                    </a:ext>
                  </a:extLst>
                </a:gridCol>
              </a:tblGrid>
              <a:tr h="3066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kern="100">
                          <a:effectLst/>
                        </a:rPr>
                        <a:t>Debilidades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555" marR="895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kern="100">
                          <a:effectLst/>
                        </a:rPr>
                        <a:t>Corregir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555" marR="89555" marT="0" marB="0"/>
                </a:tc>
                <a:extLst>
                  <a:ext uri="{0D108BD9-81ED-4DB2-BD59-A6C34878D82A}">
                    <a16:rowId xmlns:a16="http://schemas.microsoft.com/office/drawing/2014/main" val="2874497720"/>
                  </a:ext>
                </a:extLst>
              </a:tr>
              <a:tr h="1040331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buFont typeface="Aptos" panose="020B0004020202020204" pitchFamily="34" charset="0"/>
                        <a:buChar char="-"/>
                      </a:pPr>
                      <a:r>
                        <a:rPr lang="es-ES" sz="1400" kern="100">
                          <a:effectLst/>
                        </a:rPr>
                        <a:t>Nuevo en el sector: desconocemos posibles clientes y carecemos de red de contactos.</a:t>
                      </a:r>
                      <a:endParaRPr lang="en-US" sz="1600" kern="10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buFont typeface="Aptos" panose="020B0004020202020204" pitchFamily="34" charset="0"/>
                        <a:buChar char="-"/>
                      </a:pPr>
                      <a:r>
                        <a:rPr lang="es-ES" sz="1400" kern="100">
                          <a:effectLst/>
                        </a:rPr>
                        <a:t>Con poca experiencia en las tecnologías necesarias para llevar a cabo las funciones de la empresa.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89555" marR="89555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ptos" panose="020B0004020202020204" pitchFamily="34" charset="0"/>
                        <a:buChar char="-"/>
                      </a:pPr>
                      <a:r>
                        <a:rPr lang="es-ES" sz="1400" kern="100">
                          <a:effectLst/>
                        </a:rPr>
                        <a:t>Podemos contratar servicios de asesoría, buscar un socio o contratar alguien con experiencia en el sector.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89555" marR="89555" marT="0" marB="0"/>
                </a:tc>
                <a:extLst>
                  <a:ext uri="{0D108BD9-81ED-4DB2-BD59-A6C34878D82A}">
                    <a16:rowId xmlns:a16="http://schemas.microsoft.com/office/drawing/2014/main" val="466544558"/>
                  </a:ext>
                </a:extLst>
              </a:tr>
              <a:tr h="3066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kern="100">
                          <a:effectLst/>
                        </a:rPr>
                        <a:t>Amenazas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555" marR="895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kern="100">
                          <a:effectLst/>
                        </a:rPr>
                        <a:t>Afrontar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555" marR="89555" marT="0" marB="0"/>
                </a:tc>
                <a:extLst>
                  <a:ext uri="{0D108BD9-81ED-4DB2-BD59-A6C34878D82A}">
                    <a16:rowId xmlns:a16="http://schemas.microsoft.com/office/drawing/2014/main" val="2908648923"/>
                  </a:ext>
                </a:extLst>
              </a:tr>
              <a:tr h="1040331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buFont typeface="Aptos" panose="020B0004020202020204" pitchFamily="34" charset="0"/>
                        <a:buChar char="-"/>
                      </a:pPr>
                      <a:r>
                        <a:rPr lang="es-ES" sz="1400" kern="100" dirty="0">
                          <a:effectLst/>
                        </a:rPr>
                        <a:t>Obligatoriedad de cumplir legislación en materia de protección de datos.</a:t>
                      </a:r>
                      <a:endParaRPr lang="en-US" sz="1600" kern="1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buFont typeface="Aptos" panose="020B0004020202020204" pitchFamily="34" charset="0"/>
                        <a:buChar char="-"/>
                      </a:pPr>
                      <a:r>
                        <a:rPr lang="es-ES" sz="1400" kern="100" dirty="0">
                          <a:effectLst/>
                        </a:rPr>
                        <a:t>Nivel de competencia muy alto.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89555" marR="89555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buFont typeface="Aptos" panose="020B0004020202020204" pitchFamily="34" charset="0"/>
                        <a:buChar char="-"/>
                      </a:pPr>
                      <a:r>
                        <a:rPr lang="es-ES" sz="1400" kern="100">
                          <a:effectLst/>
                        </a:rPr>
                        <a:t>Estudiar la legislación, contratar servicio de consultoría legal, buscar la manera de cumplir la legislación.</a:t>
                      </a:r>
                      <a:endParaRPr lang="en-US" sz="1600" kern="10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ptos" panose="020B0004020202020204" pitchFamily="34" charset="0"/>
                        <a:buChar char="-"/>
                      </a:pPr>
                      <a:r>
                        <a:rPr lang="es-ES" sz="1400" kern="100">
                          <a:effectLst/>
                        </a:rPr>
                        <a:t>Investigar a la competencia y ver de que manera podemos diferenciarnos con respecto a ellos.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89555" marR="89555" marT="0" marB="0"/>
                </a:tc>
                <a:extLst>
                  <a:ext uri="{0D108BD9-81ED-4DB2-BD59-A6C34878D82A}">
                    <a16:rowId xmlns:a16="http://schemas.microsoft.com/office/drawing/2014/main" val="3829702329"/>
                  </a:ext>
                </a:extLst>
              </a:tr>
              <a:tr h="3066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kern="100" dirty="0">
                          <a:effectLst/>
                        </a:rPr>
                        <a:t>Fortalezas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555" marR="895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kern="100">
                          <a:effectLst/>
                        </a:rPr>
                        <a:t>Mantener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555" marR="89555" marT="0" marB="0"/>
                </a:tc>
                <a:extLst>
                  <a:ext uri="{0D108BD9-81ED-4DB2-BD59-A6C34878D82A}">
                    <a16:rowId xmlns:a16="http://schemas.microsoft.com/office/drawing/2014/main" val="298521660"/>
                  </a:ext>
                </a:extLst>
              </a:tr>
              <a:tr h="285084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buFont typeface="Aptos" panose="020B0004020202020204" pitchFamily="34" charset="0"/>
                        <a:buChar char="-"/>
                      </a:pPr>
                      <a:r>
                        <a:rPr lang="es-ES" sz="1400" kern="100" dirty="0">
                          <a:effectLst/>
                        </a:rPr>
                        <a:t>Ofrecemos un producto a medida.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buFont typeface="Aptos" panose="020B0004020202020204" pitchFamily="34" charset="0"/>
                        <a:buChar char="-"/>
                      </a:pPr>
                      <a:r>
                        <a:rPr lang="es-ES" sz="1400" kern="100" dirty="0">
                          <a:effectLst/>
                        </a:rPr>
                        <a:t>Muy buena atención al cliente.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buFont typeface="Aptos" panose="020B0004020202020204" pitchFamily="34" charset="0"/>
                        <a:buChar char="-"/>
                      </a:pPr>
                      <a:r>
                        <a:rPr lang="es-ES" sz="1400" kern="100" dirty="0">
                          <a:effectLst/>
                        </a:rPr>
                        <a:t>Recursos humanos cualificados.</a:t>
                      </a:r>
                    </a:p>
                  </a:txBody>
                  <a:tcPr marL="89555" marR="89555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ptos" panose="020B0004020202020204" pitchFamily="34" charset="0"/>
                        <a:buChar char="-"/>
                      </a:pPr>
                      <a:r>
                        <a:rPr lang="es-ES" sz="1400" kern="100">
                          <a:effectLst/>
                        </a:rPr>
                        <a:t>Mantener el entusiasmo.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89555" marR="89555" marT="0" marB="0"/>
                </a:tc>
                <a:extLst>
                  <a:ext uri="{0D108BD9-81ED-4DB2-BD59-A6C34878D82A}">
                    <a16:rowId xmlns:a16="http://schemas.microsoft.com/office/drawing/2014/main" val="3349061895"/>
                  </a:ext>
                </a:extLst>
              </a:tr>
              <a:tr h="3066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kern="100">
                          <a:effectLst/>
                        </a:rPr>
                        <a:t>Oportunidades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555" marR="895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600" kern="100">
                          <a:effectLst/>
                        </a:rPr>
                        <a:t>Explotar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555" marR="89555" marT="0" marB="0"/>
                </a:tc>
                <a:extLst>
                  <a:ext uri="{0D108BD9-81ED-4DB2-BD59-A6C34878D82A}">
                    <a16:rowId xmlns:a16="http://schemas.microsoft.com/office/drawing/2014/main" val="4124723088"/>
                  </a:ext>
                </a:extLst>
              </a:tr>
              <a:tr h="1676504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buFont typeface="Aptos" panose="020B0004020202020204" pitchFamily="34" charset="0"/>
                        <a:buChar char="-"/>
                      </a:pPr>
                      <a:r>
                        <a:rPr lang="es-ES" sz="1400" kern="100">
                          <a:effectLst/>
                        </a:rPr>
                        <a:t>Las empresas están obligadas a cumplir con la legislación y necesitan de nuestros servicios.</a:t>
                      </a:r>
                      <a:endParaRPr lang="en-US" sz="1600" kern="10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buFont typeface="Aptos" panose="020B0004020202020204" pitchFamily="34" charset="0"/>
                        <a:buChar char="-"/>
                      </a:pPr>
                      <a:r>
                        <a:rPr lang="es-ES" sz="1400" kern="100">
                          <a:effectLst/>
                        </a:rPr>
                        <a:t>Existe una gran cantidad de proveedores.</a:t>
                      </a:r>
                      <a:endParaRPr lang="en-US" sz="1600" kern="10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buFont typeface="Aptos" panose="020B0004020202020204" pitchFamily="34" charset="0"/>
                        <a:buChar char="-"/>
                      </a:pPr>
                      <a:r>
                        <a:rPr lang="es-ES" sz="1400" kern="100">
                          <a:effectLst/>
                        </a:rPr>
                        <a:t>No hay barrera de entrada (solo cumplir la legislación).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89555" marR="89555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buFont typeface="Aptos" panose="020B0004020202020204" pitchFamily="34" charset="0"/>
                        <a:buChar char="-"/>
                      </a:pPr>
                      <a:r>
                        <a:rPr lang="es-ES" sz="1400" kern="100" dirty="0">
                          <a:effectLst/>
                        </a:rPr>
                        <a:t>Anunciarnos como expertos en cumplimiento de legislación vigente.</a:t>
                      </a:r>
                      <a:endParaRPr lang="en-US" sz="1600" kern="1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ptos" panose="020B0004020202020204" pitchFamily="34" charset="0"/>
                        <a:buChar char="-"/>
                      </a:pPr>
                      <a:r>
                        <a:rPr lang="es-ES" sz="1400" kern="100" dirty="0">
                          <a:effectLst/>
                        </a:rPr>
                        <a:t>Al haber muchos proveedores podemos adquirir el material necesario a buen precio, y llegado el momento, para pedidos grandes, podríamos intentar negociar.</a:t>
                      </a:r>
                      <a:endParaRPr lang="en-US" sz="1600" kern="100" dirty="0">
                        <a:effectLst/>
                      </a:endParaRPr>
                    </a:p>
                    <a:p>
                      <a:pPr marL="1397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kern="100" dirty="0">
                          <a:effectLst/>
                        </a:rPr>
                        <a:t> 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555" marR="89555" marT="0" marB="0"/>
                </a:tc>
                <a:extLst>
                  <a:ext uri="{0D108BD9-81ED-4DB2-BD59-A6C34878D82A}">
                    <a16:rowId xmlns:a16="http://schemas.microsoft.com/office/drawing/2014/main" val="1044814260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30492E9D-1BC1-A5B3-98CC-80965C2797EA}"/>
              </a:ext>
            </a:extLst>
          </p:cNvPr>
          <p:cNvSpPr txBox="1"/>
          <p:nvPr/>
        </p:nvSpPr>
        <p:spPr>
          <a:xfrm>
            <a:off x="3045759" y="67974"/>
            <a:ext cx="6100482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b="1" i="0" u="none" strike="noStrike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CAME</a:t>
            </a:r>
            <a:endParaRPr lang="en-US" sz="3200" b="1" i="0" u="none" strike="noStrike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99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960C00-9AC5-0F74-17EB-414BE55C8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492DE7-0597-9833-95A5-36CFAF76B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B18D4BB6-D99E-AB65-7ADC-6F3504EC9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1BAD11-7BDA-3C04-33CE-3BFE3DB01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42B23C-18F3-54EA-2D67-8AF0C9490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520" y="766721"/>
            <a:ext cx="8360432" cy="1429632"/>
          </a:xfrm>
        </p:spPr>
        <p:txBody>
          <a:bodyPr anchor="t">
            <a:normAutofit/>
          </a:bodyPr>
          <a:lstStyle/>
          <a:p>
            <a:r>
              <a:rPr lang="es-ES" sz="2600" b="1" dirty="0"/>
              <a:t>Posicionamiento:</a:t>
            </a:r>
          </a:p>
          <a:p>
            <a:pPr lvl="1"/>
            <a:r>
              <a:rPr lang="es-ES" sz="1800" b="1" dirty="0"/>
              <a:t>Calidad: Alta.</a:t>
            </a:r>
          </a:p>
          <a:p>
            <a:pPr lvl="1"/>
            <a:r>
              <a:rPr lang="es-ES" sz="1800" b="1" dirty="0"/>
              <a:t>Precio: Medio.</a:t>
            </a:r>
          </a:p>
          <a:p>
            <a:pPr lvl="1"/>
            <a:r>
              <a:rPr lang="es-ES" sz="1800" b="1" dirty="0"/>
              <a:t>Valor percibido: Gran producto a buen precio.</a:t>
            </a:r>
            <a:endParaRPr lang="es-ES" sz="1800" dirty="0"/>
          </a:p>
          <a:p>
            <a:pPr marL="457200" lvl="1" indent="0">
              <a:buNone/>
            </a:pPr>
            <a:endParaRPr lang="es-ES" sz="1400" dirty="0"/>
          </a:p>
        </p:txBody>
      </p:sp>
      <p:pic>
        <p:nvPicPr>
          <p:cNvPr id="7" name="Imagen 6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7A477596-EF35-2E9D-EA4F-5E141A0A5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398" y="2473072"/>
            <a:ext cx="5363882" cy="348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072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75B671-E098-AEF2-D68F-9AA52A7CD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CB72465-3C16-BE89-CCCC-33EE3B7EF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E4AFB50D-30B7-1EC7-C699-E7CD8DC3F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6EF4E4-3A73-067C-8783-6098C9724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A4A2E2-5EDA-3C1D-D335-3A7B64470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500" y="838465"/>
            <a:ext cx="10515600" cy="2711559"/>
          </a:xfrm>
        </p:spPr>
        <p:txBody>
          <a:bodyPr>
            <a:normAutofit/>
          </a:bodyPr>
          <a:lstStyle/>
          <a:p>
            <a:r>
              <a:rPr lang="es-ES" b="1" dirty="0"/>
              <a:t>Producto:</a:t>
            </a:r>
          </a:p>
          <a:p>
            <a:pPr lvl="1"/>
            <a:r>
              <a:rPr lang="es-ES" b="1" dirty="0"/>
              <a:t>Marca</a:t>
            </a:r>
            <a:r>
              <a:rPr lang="es-ES" dirty="0"/>
              <a:t>: “SBS”: Soluciones de </a:t>
            </a:r>
            <a:r>
              <a:rPr lang="es-ES" dirty="0" err="1"/>
              <a:t>BackUp</a:t>
            </a:r>
            <a:r>
              <a:rPr lang="es-ES" dirty="0"/>
              <a:t> Suarez.</a:t>
            </a:r>
          </a:p>
          <a:p>
            <a:pPr lvl="1"/>
            <a:r>
              <a:rPr lang="es-ES" b="1" dirty="0"/>
              <a:t>Servicios</a:t>
            </a:r>
            <a:r>
              <a:rPr lang="es-ES" dirty="0"/>
              <a:t>: en la nube, </a:t>
            </a:r>
            <a:r>
              <a:rPr lang="es-ES" dirty="0" err="1"/>
              <a:t>on</a:t>
            </a:r>
            <a:r>
              <a:rPr lang="es-ES" dirty="0"/>
              <a:t>-site e híbrida.</a:t>
            </a:r>
          </a:p>
          <a:p>
            <a:pPr lvl="1"/>
            <a:r>
              <a:rPr lang="es-ES" b="1" dirty="0"/>
              <a:t>Añadidos</a:t>
            </a:r>
            <a:r>
              <a:rPr lang="es-ES" dirty="0"/>
              <a:t>:</a:t>
            </a:r>
          </a:p>
          <a:p>
            <a:pPr lvl="2"/>
            <a:r>
              <a:rPr lang="es-ES" dirty="0"/>
              <a:t>Servicio de encriptación.</a:t>
            </a:r>
          </a:p>
          <a:p>
            <a:pPr lvl="2"/>
            <a:r>
              <a:rPr lang="es-ES" dirty="0"/>
              <a:t>Servicio de asesoría LOPD.</a:t>
            </a:r>
          </a:p>
          <a:p>
            <a:pPr lvl="2"/>
            <a:r>
              <a:rPr lang="es-ES" dirty="0"/>
              <a:t>Cursos para el uso y mantenimiento de los servicios.</a:t>
            </a: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EB292999-4729-C535-2E81-0295B38CBA65}"/>
              </a:ext>
            </a:extLst>
          </p:cNvPr>
          <p:cNvSpPr txBox="1">
            <a:spLocks/>
          </p:cNvSpPr>
          <p:nvPr/>
        </p:nvSpPr>
        <p:spPr>
          <a:xfrm>
            <a:off x="710994" y="3427216"/>
            <a:ext cx="10515600" cy="2711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b="1" dirty="0"/>
              <a:t>Ampliado</a:t>
            </a:r>
            <a:r>
              <a:rPr lang="es-ES" dirty="0"/>
              <a:t>:</a:t>
            </a:r>
          </a:p>
          <a:p>
            <a:pPr lvl="2"/>
            <a:r>
              <a:rPr lang="es-ES" dirty="0"/>
              <a:t>Garantía 2 años.</a:t>
            </a:r>
          </a:p>
          <a:p>
            <a:pPr lvl="2"/>
            <a:r>
              <a:rPr lang="es-ES" dirty="0"/>
              <a:t>Soporte técnico (1 año gratis).</a:t>
            </a:r>
          </a:p>
          <a:p>
            <a:pPr lvl="2"/>
            <a:r>
              <a:rPr lang="es-ES" dirty="0"/>
              <a:t>Financiación a plazos.</a:t>
            </a:r>
          </a:p>
        </p:txBody>
      </p:sp>
      <p:pic>
        <p:nvPicPr>
          <p:cNvPr id="13" name="Imagen 12" descr="Dibujo en blanco y negro&#10;&#10;El contenido generado por IA puede ser incorrecto.">
            <a:extLst>
              <a:ext uri="{FF2B5EF4-FFF2-40B4-BE49-F238E27FC236}">
                <a16:creationId xmlns:a16="http://schemas.microsoft.com/office/drawing/2014/main" id="{4B581BD4-7EBC-BBA9-B3C3-E86020D08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393" y="973380"/>
            <a:ext cx="1523303" cy="255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440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B754BD-AABD-7A66-90C2-38F5DEB80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2600A5-B485-C6AF-0113-E4CA6086E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884418E-7796-2631-3443-D167DE9C6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0106DD-02FA-32A5-291A-91B53F75E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F32F5F-8F24-78D5-9D38-2AFFE67DE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500" y="838466"/>
            <a:ext cx="10515600" cy="927582"/>
          </a:xfrm>
        </p:spPr>
        <p:txBody>
          <a:bodyPr>
            <a:normAutofit/>
          </a:bodyPr>
          <a:lstStyle/>
          <a:p>
            <a:r>
              <a:rPr lang="es-ES" b="1" dirty="0"/>
              <a:t>Fase de vida del producto:</a:t>
            </a:r>
          </a:p>
          <a:p>
            <a:pPr lvl="1"/>
            <a:r>
              <a:rPr lang="es-ES" b="1" dirty="0"/>
              <a:t>Maduro</a:t>
            </a:r>
            <a:r>
              <a:rPr lang="es-ES" dirty="0"/>
              <a:t>: Es un producto vaca.</a:t>
            </a:r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D9B7CAAC-E3ED-9972-CDD7-325CD4417B94}"/>
              </a:ext>
            </a:extLst>
          </p:cNvPr>
          <p:cNvSpPr txBox="1">
            <a:spLocks/>
          </p:cNvSpPr>
          <p:nvPr/>
        </p:nvSpPr>
        <p:spPr>
          <a:xfrm>
            <a:off x="836500" y="1781440"/>
            <a:ext cx="10515600" cy="38573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Estrategia de precios:</a:t>
            </a:r>
          </a:p>
          <a:p>
            <a:pPr lvl="1"/>
            <a:r>
              <a:rPr lang="es-ES" b="1" dirty="0"/>
              <a:t>E. Penetración: </a:t>
            </a:r>
            <a:r>
              <a:rPr lang="es-ES" dirty="0"/>
              <a:t>(Nube) =&gt; Suscripción inicial gratuita (primer mes o 100 GB).</a:t>
            </a:r>
          </a:p>
          <a:p>
            <a:pPr lvl="1"/>
            <a:r>
              <a:rPr lang="es-ES" b="1" dirty="0"/>
              <a:t>E. Precio Gancho</a:t>
            </a:r>
            <a:r>
              <a:rPr lang="es-ES" dirty="0"/>
              <a:t>: Asesoría inicial gratuita o a precio simbólico.</a:t>
            </a:r>
          </a:p>
          <a:p>
            <a:pPr lvl="1"/>
            <a:r>
              <a:rPr lang="es-ES" b="1" dirty="0"/>
              <a:t>E. Precio Psicológico:</a:t>
            </a:r>
            <a:r>
              <a:rPr lang="es-ES" dirty="0"/>
              <a:t> Servicio en la nube (39,95€/mes). Soporte técnico 599€ al año.</a:t>
            </a:r>
          </a:p>
          <a:p>
            <a:pPr lvl="1"/>
            <a:r>
              <a:rPr lang="es-ES" b="1" dirty="0"/>
              <a:t>E. Precio Descremado: </a:t>
            </a:r>
            <a:r>
              <a:rPr lang="es-ES" dirty="0"/>
              <a:t>El software/hardware más nuevo se cobrará más caro.</a:t>
            </a:r>
          </a:p>
          <a:p>
            <a:pPr lvl="1"/>
            <a:r>
              <a:rPr lang="es-ES" b="1" dirty="0"/>
              <a:t>E. Precio Prestigio:</a:t>
            </a:r>
            <a:r>
              <a:rPr lang="es-ES" dirty="0"/>
              <a:t> (Premium =&gt; mayor velocidad, seguridad, asistencia 24 horas garantizada, garantía de 5 años, </a:t>
            </a:r>
            <a:r>
              <a:rPr lang="es-ES" dirty="0" err="1"/>
              <a:t>etc</a:t>
            </a:r>
            <a:r>
              <a:rPr lang="es-ES" dirty="0"/>
              <a:t>).</a:t>
            </a:r>
          </a:p>
          <a:p>
            <a:pPr lvl="1"/>
            <a:r>
              <a:rPr lang="es-ES" b="1" dirty="0"/>
              <a:t>E. Descuentos:</a:t>
            </a:r>
            <a:r>
              <a:rPr lang="es-ES" dirty="0"/>
              <a:t> Rebajas durante Black Friday y </a:t>
            </a:r>
            <a:r>
              <a:rPr lang="es-ES" dirty="0" err="1"/>
              <a:t>Cyber-Monday</a:t>
            </a:r>
            <a:r>
              <a:rPr lang="es-ES" dirty="0"/>
              <a:t>.</a:t>
            </a:r>
          </a:p>
          <a:p>
            <a:pPr lvl="1"/>
            <a:r>
              <a:rPr lang="es-ES" b="1" dirty="0"/>
              <a:t>P. Paquete:</a:t>
            </a:r>
            <a:r>
              <a:rPr lang="es-ES" dirty="0"/>
              <a:t> Descuento si se elige solución híbrida.</a:t>
            </a:r>
          </a:p>
          <a:p>
            <a:pPr lvl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06381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4ED3F4-8273-AB1D-743D-B4C06294C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980FDB0-FB2A-8D4E-F8E9-FF456D7F7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6D136FA7-9DB8-5C2A-7CB1-AC2BAF41DB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4ABD72-D828-48E4-708A-D110688FA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36ED80-7BC5-DD38-C3BC-E4B67C5FA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500" y="838466"/>
            <a:ext cx="10515600" cy="2335040"/>
          </a:xfrm>
        </p:spPr>
        <p:txBody>
          <a:bodyPr>
            <a:normAutofit fontScale="92500"/>
          </a:bodyPr>
          <a:lstStyle/>
          <a:p>
            <a:r>
              <a:rPr lang="es-ES" b="1" dirty="0"/>
              <a:t>Promoción:</a:t>
            </a:r>
          </a:p>
          <a:p>
            <a:pPr lvl="1"/>
            <a:r>
              <a:rPr lang="es-ES" b="1" dirty="0"/>
              <a:t>“SEO” (</a:t>
            </a:r>
            <a:r>
              <a:rPr lang="es-ES" b="1" dirty="0" err="1"/>
              <a:t>Search</a:t>
            </a:r>
            <a:r>
              <a:rPr lang="es-ES" b="1" dirty="0"/>
              <a:t> </a:t>
            </a:r>
            <a:r>
              <a:rPr lang="es-ES" b="1" dirty="0" err="1"/>
              <a:t>engine</a:t>
            </a:r>
            <a:r>
              <a:rPr lang="es-ES" b="1" dirty="0"/>
              <a:t> </a:t>
            </a:r>
            <a:r>
              <a:rPr lang="es-ES" b="1" dirty="0" err="1"/>
              <a:t>optimization</a:t>
            </a:r>
            <a:r>
              <a:rPr lang="es-ES" b="1" dirty="0"/>
              <a:t>)</a:t>
            </a:r>
          </a:p>
          <a:p>
            <a:pPr lvl="1"/>
            <a:r>
              <a:rPr lang="es-ES" b="1" dirty="0"/>
              <a:t>Publirreportajes.</a:t>
            </a:r>
          </a:p>
          <a:p>
            <a:pPr lvl="1"/>
            <a:r>
              <a:rPr lang="es-ES" b="1" dirty="0"/>
              <a:t>Evitar </a:t>
            </a:r>
            <a:r>
              <a:rPr lang="es-ES" b="1" dirty="0" err="1"/>
              <a:t>Mailing</a:t>
            </a:r>
            <a:r>
              <a:rPr lang="es-ES" b="1" dirty="0"/>
              <a:t> =&gt; </a:t>
            </a:r>
            <a:r>
              <a:rPr lang="es-ES" dirty="0"/>
              <a:t>Se percibe como SPAM.</a:t>
            </a:r>
          </a:p>
          <a:p>
            <a:pPr lvl="1"/>
            <a:r>
              <a:rPr lang="es-ES" b="1" dirty="0"/>
              <a:t>Bonificaciones: </a:t>
            </a:r>
            <a:r>
              <a:rPr lang="es-ES" dirty="0"/>
              <a:t>Premiar fidelidad de los clientes.</a:t>
            </a:r>
          </a:p>
          <a:p>
            <a:pPr lvl="1"/>
            <a:r>
              <a:rPr lang="es-ES" b="1" dirty="0"/>
              <a:t>Relaciones públicas: </a:t>
            </a:r>
            <a:r>
              <a:rPr lang="es-ES" dirty="0"/>
              <a:t>Talleres formación y equipamiento centros educativos.</a:t>
            </a:r>
          </a:p>
          <a:p>
            <a:pPr lvl="1"/>
            <a:endParaRPr lang="es-ES" b="1" dirty="0"/>
          </a:p>
          <a:p>
            <a:pPr lvl="1"/>
            <a:endParaRPr lang="es-ES" dirty="0"/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A50167C5-D9E4-CBFF-EECC-19F5475BEA47}"/>
              </a:ext>
            </a:extLst>
          </p:cNvPr>
          <p:cNvSpPr txBox="1">
            <a:spLocks/>
          </p:cNvSpPr>
          <p:nvPr/>
        </p:nvSpPr>
        <p:spPr>
          <a:xfrm>
            <a:off x="836500" y="3173506"/>
            <a:ext cx="9338441" cy="23350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600" b="1" dirty="0"/>
              <a:t>Atención al Cliente:</a:t>
            </a:r>
          </a:p>
          <a:p>
            <a:pPr lvl="1"/>
            <a:r>
              <a:rPr lang="es-ES" sz="2200" b="1" dirty="0"/>
              <a:t>24 horas =&gt; En apoyo al servicio técnico 24 horas.</a:t>
            </a:r>
          </a:p>
          <a:p>
            <a:pPr lvl="1"/>
            <a:r>
              <a:rPr lang="es-ES" sz="2200" b="1" dirty="0"/>
              <a:t>Servicio Postventa: </a:t>
            </a:r>
          </a:p>
          <a:p>
            <a:pPr lvl="2"/>
            <a:r>
              <a:rPr lang="es-ES" sz="1800" dirty="0"/>
              <a:t>Soporte técnico.</a:t>
            </a:r>
          </a:p>
          <a:p>
            <a:pPr lvl="2"/>
            <a:r>
              <a:rPr lang="es-ES" sz="1800" dirty="0"/>
              <a:t>Gestión de garantías.</a:t>
            </a:r>
          </a:p>
          <a:p>
            <a:pPr lvl="2"/>
            <a:r>
              <a:rPr lang="es-ES" sz="1800" dirty="0"/>
              <a:t>Atención a reclamaciones.</a:t>
            </a:r>
          </a:p>
          <a:p>
            <a:pPr lvl="2"/>
            <a:r>
              <a:rPr lang="es-ES" sz="1800" dirty="0"/>
              <a:t>Capacitación (cursos).</a:t>
            </a:r>
          </a:p>
          <a:p>
            <a:pPr lvl="2"/>
            <a:r>
              <a:rPr lang="es-ES" sz="1800" dirty="0"/>
              <a:t>Seguimiento de la compra para resolver dudas, incidencias y mantener una relación activa.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14314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923</Words>
  <Application>Microsoft Office PowerPoint</Application>
  <PresentationFormat>Panorámica</PresentationFormat>
  <Paragraphs>109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Cristóbal Suárez Abad</dc:creator>
  <cp:lastModifiedBy>UsuarioASIR</cp:lastModifiedBy>
  <cp:revision>11</cp:revision>
  <dcterms:created xsi:type="dcterms:W3CDTF">2025-12-14T09:11:48Z</dcterms:created>
  <dcterms:modified xsi:type="dcterms:W3CDTF">2025-12-15T08:41:50Z</dcterms:modified>
</cp:coreProperties>
</file>