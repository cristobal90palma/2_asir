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0E34C-72CB-4048-98D9-021AE477E4B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E5CF2-0A63-4EE5-964A-DCA70C4249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E5CF2-0A63-4EE5-964A-DCA70C4249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4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08C9D-40C3-7756-DF63-B8F4B0691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242F1D-2935-078B-15D5-266B9910D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921E6A-9BF9-704B-31F6-75AB15D0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ADAAD6-5B6F-ACF6-BF34-7DE57663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55AC3-5ADB-CA2B-6A19-DE280B41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72261-7C4E-ECA8-E391-6EFCBB62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E51885-AACA-CF57-FA27-9969F9E2B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A9D997-C2E5-092F-1C45-00A1B891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538BD7-0E08-2583-886A-6E8F1797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1611F-8658-8885-6324-B1737A0D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F1642-F6A9-4AB1-B327-9825EA97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656922-E665-7E7C-7B06-C89C875B7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BD98FD-586C-7059-003F-BE41EA69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E7A46D-B94C-0BE0-9CF6-368A9F6C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FD2CBB-1EB5-EA90-66EF-B5DFD2BE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5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E4E36-89ED-4E9E-B839-AC95CBC5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B274B-2962-B082-5F87-2B48AF363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17FA56-AE33-240B-D7B8-459A25979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BA1C48-0423-B971-04DB-D8CA97F1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A2178C-6B2B-F6E6-BE73-ECB719AD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76FA8B-4694-4AF6-C176-AD6E58CB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4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F905-F1BC-09FD-7BF1-5452E9FC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890894-2751-C00B-3626-03827DF0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AABC6A-8E0B-62C9-98A3-65872FC9D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052825-1A2D-962E-285C-747870E31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C27BDF-FF19-20CA-E185-85873E529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6BA291-0E36-BB26-5149-DB704C01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FA7599-8F4F-9B19-9B59-A334D3EF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CD77AF-60E3-C644-328D-041EA969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66C1C-A5C0-FDFA-3B0C-EE711D15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ED678-76E0-E048-1860-9B719B38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528A93-B260-07BF-B08D-1E46542B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520D05-C870-D067-A2BC-12D3DDBB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0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908548-FBCA-7F94-4F76-7E5B27B8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D7FEB-4D49-3364-8583-76080078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C49E84-655B-6D93-7724-07FB6724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7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721C3-8C55-80A1-8B6F-B6290E5A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8C872F-256F-1DFE-711A-0C32D969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B49138-2644-B660-1BEB-AE398480D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9DBD8E-1B6A-09BE-0D0F-0C9946A9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D64895-7823-70D2-6FB9-7D2325FE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0F74C2-5EE1-A12F-31A1-BA87573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6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142CB-84FA-D35C-988F-BF1C7F09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947B5B-77F3-0BD9-915E-92686546B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B16650-8057-0AE1-10E4-DC887C492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FFF29C-ADF2-0378-C2C8-55F4035B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3309C1-D9B9-0675-5A18-A4E88FD6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15758-3FB7-6BCD-999C-643C426C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44BA8-54AB-4B5C-FAD5-69B9C270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C584CC-7D9F-5F7D-980B-0D05B31AB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B8D7BF-1C6C-4FFE-9056-0E429890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823F65-E592-96BB-78A6-A35C9156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FF5FCD-D758-8381-0F0F-0BB9F8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0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BBF62C-AAE4-70CF-3A08-0613DF8CB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37756B-C936-22C0-685E-D25EA8F53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59A0B4-79A0-7B28-AC1F-37A9747C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35203-F8BF-7F89-518B-2B5645AC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3814B0-80EE-1E73-580E-620AEEA5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8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B4BDED-CB66-1832-FF72-E402EE1E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792162-1FC5-4107-ED1F-D43972F36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56C017-1F3B-5FB1-369C-E330BE244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901F-6500-416D-B6AE-41EFA669EA9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6220AF-D69F-501F-38E5-DBABE3E22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FE1BD4-2E3A-F0E4-D1A4-C7C2CEFE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D7758-E27E-4D8A-A844-8F7843ED704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FD20C7B-219B-5ADC-5AE6-D7E90C113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8784" y="3931821"/>
            <a:ext cx="3764186" cy="1655762"/>
          </a:xfrm>
        </p:spPr>
        <p:txBody>
          <a:bodyPr/>
          <a:lstStyle/>
          <a:p>
            <a:r>
              <a:rPr lang="es-ES" dirty="0"/>
              <a:t>Cristóbal Suárez Abad</a:t>
            </a:r>
            <a:endParaRPr lang="en-US" dirty="0"/>
          </a:p>
        </p:txBody>
      </p:sp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AB163A2-4336-C958-E2BD-208F73A6C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90" y="882324"/>
            <a:ext cx="11948619" cy="50933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787CB5-2B4C-9973-6C42-7F3F917FC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5355" y="432816"/>
            <a:ext cx="6791044" cy="2306637"/>
          </a:xfrm>
        </p:spPr>
        <p:txBody>
          <a:bodyPr>
            <a:no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Solución de captura y despliegue de sistemas operativos en múltiples equipos basado en FOG Project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5E448AA-5336-BA9D-AB52-921040C56B7F}"/>
              </a:ext>
            </a:extLst>
          </p:cNvPr>
          <p:cNvSpPr txBox="1">
            <a:spLocks/>
          </p:cNvSpPr>
          <p:nvPr/>
        </p:nvSpPr>
        <p:spPr>
          <a:xfrm>
            <a:off x="8384168" y="4228976"/>
            <a:ext cx="3764186" cy="13586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1800" dirty="0">
                <a:solidFill>
                  <a:schemeClr val="bg1"/>
                </a:solidFill>
              </a:rPr>
              <a:t>Cristóbal Suárez Abad</a:t>
            </a:r>
          </a:p>
          <a:p>
            <a:pPr algn="r"/>
            <a:r>
              <a:rPr lang="es-ES" sz="1800" dirty="0">
                <a:solidFill>
                  <a:schemeClr val="bg1"/>
                </a:solidFill>
              </a:rPr>
              <a:t>Proyecto </a:t>
            </a:r>
            <a:r>
              <a:rPr lang="es-ES" sz="1800" dirty="0" err="1">
                <a:solidFill>
                  <a:schemeClr val="bg1"/>
                </a:solidFill>
              </a:rPr>
              <a:t>Intermodular</a:t>
            </a:r>
            <a:r>
              <a:rPr lang="es-ES" sz="1800" dirty="0">
                <a:solidFill>
                  <a:schemeClr val="bg1"/>
                </a:solidFill>
              </a:rPr>
              <a:t> de Administración de Sistemas Informáticos en Red</a:t>
            </a:r>
          </a:p>
          <a:p>
            <a:pPr algn="r"/>
            <a:r>
              <a:rPr lang="es-ES" sz="1800" dirty="0">
                <a:solidFill>
                  <a:schemeClr val="bg1"/>
                </a:solidFill>
              </a:rPr>
              <a:t>2º ASIR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58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5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7DACF5-59CA-4072-64AD-04DB9ACD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>
            <a:normAutofit/>
          </a:bodyPr>
          <a:lstStyle/>
          <a:p>
            <a:r>
              <a:rPr lang="en-US" dirty="0" err="1"/>
              <a:t>Necesidad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C0868-F544-7FF4-EAB8-8BB80FCD5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543298" cy="3973337"/>
          </a:xfrm>
        </p:spPr>
        <p:txBody>
          <a:bodyPr>
            <a:normAutofit/>
          </a:bodyPr>
          <a:lstStyle/>
          <a:p>
            <a:r>
              <a:rPr lang="es-ES" sz="2400" b="1" dirty="0"/>
              <a:t>Solución actual</a:t>
            </a:r>
            <a:r>
              <a:rPr lang="es-ES" sz="2400" dirty="0"/>
              <a:t>: misma </a:t>
            </a:r>
            <a:r>
              <a:rPr lang="es-ES" sz="2400" dirty="0" err="1"/>
              <a:t>subnet</a:t>
            </a:r>
            <a:r>
              <a:rPr lang="es-ES" sz="2400" dirty="0"/>
              <a:t>, fallos con </a:t>
            </a:r>
            <a:r>
              <a:rPr lang="es-ES" sz="2400" dirty="0" err="1"/>
              <a:t>multicast</a:t>
            </a:r>
            <a:r>
              <a:rPr lang="es-ES" sz="2400" dirty="0"/>
              <a:t>, sin </a:t>
            </a:r>
            <a:r>
              <a:rPr lang="es-ES" sz="2400" dirty="0" err="1"/>
              <a:t>WakeOnLAN</a:t>
            </a:r>
            <a:endParaRPr lang="es-ES" sz="2400" dirty="0"/>
          </a:p>
          <a:p>
            <a:r>
              <a:rPr lang="es-ES" sz="2400" b="1" dirty="0"/>
              <a:t>Necesitamos:</a:t>
            </a:r>
            <a:r>
              <a:rPr lang="es-ES" sz="2400" dirty="0"/>
              <a:t> sistema centralizado y automatizado para capturar y desplegar imágenes de equipos de forma rápida y estándar.</a:t>
            </a:r>
            <a:endParaRPr lang="en-US" sz="2400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548D93C3-5DF7-EB3A-51BB-BBA3AF2DF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41" y="314428"/>
            <a:ext cx="1597114" cy="2265409"/>
          </a:xfrm>
          <a:prstGeom prst="rect">
            <a:avLst/>
          </a:prstGeom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C8168F92-BFC6-4729-16E5-C152F578F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12" y="4454254"/>
            <a:ext cx="1414462" cy="1414462"/>
          </a:xfrm>
          <a:prstGeom prst="rect">
            <a:avLst/>
          </a:prstGeom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1E149768-6B64-B600-4D62-0DA54E21D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994" y="4454254"/>
            <a:ext cx="1414462" cy="1414462"/>
          </a:xfrm>
          <a:prstGeom prst="rect">
            <a:avLst/>
          </a:prstGeom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6A6B756A-E8CF-B79D-9766-67D002D66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6" y="4454254"/>
            <a:ext cx="1414462" cy="1414462"/>
          </a:xfrm>
          <a:prstGeom prst="rect">
            <a:avLst/>
          </a:prstGeom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B3B1D0EF-7F06-29B3-0856-2F3F7D0E42A6}"/>
              </a:ext>
            </a:extLst>
          </p:cNvPr>
          <p:cNvSpPr/>
          <p:nvPr/>
        </p:nvSpPr>
        <p:spPr>
          <a:xfrm>
            <a:off x="8056450" y="3251591"/>
            <a:ext cx="689547" cy="120266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5F8493-D062-7CA8-D546-343B14A5AAE0}"/>
              </a:ext>
            </a:extLst>
          </p:cNvPr>
          <p:cNvSpPr txBox="1"/>
          <p:nvPr/>
        </p:nvSpPr>
        <p:spPr>
          <a:xfrm>
            <a:off x="7300007" y="2880860"/>
            <a:ext cx="2634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Despliegue de S.O.</a:t>
            </a:r>
            <a:endParaRPr lang="en-US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BEA4F6-C002-9B35-B518-3CE8A4DB44E8}"/>
              </a:ext>
            </a:extLst>
          </p:cNvPr>
          <p:cNvSpPr txBox="1"/>
          <p:nvPr/>
        </p:nvSpPr>
        <p:spPr>
          <a:xfrm>
            <a:off x="6944453" y="6131052"/>
            <a:ext cx="2913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/>
              <a:t>Error de arranque con PXE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835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8B3A4-5F09-5294-2D10-30D479A8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B83D5-336C-594E-DF27-6867B8F7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1" y="5515695"/>
            <a:ext cx="2669498" cy="1325563"/>
          </a:xfrm>
        </p:spPr>
        <p:txBody>
          <a:bodyPr/>
          <a:lstStyle/>
          <a:p>
            <a:r>
              <a:rPr lang="en-US" b="1" dirty="0" err="1"/>
              <a:t>Propuesta</a:t>
            </a:r>
            <a:endParaRPr lang="en-US" b="1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2F1B0F8-0607-EA42-CDF7-1D05F33ED879}"/>
              </a:ext>
            </a:extLst>
          </p:cNvPr>
          <p:cNvSpPr/>
          <p:nvPr/>
        </p:nvSpPr>
        <p:spPr>
          <a:xfrm>
            <a:off x="129915" y="133974"/>
            <a:ext cx="5521378" cy="40170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E7C831-1E86-6449-3750-A5F98360F3A5}"/>
              </a:ext>
            </a:extLst>
          </p:cNvPr>
          <p:cNvSpPr txBox="1"/>
          <p:nvPr/>
        </p:nvSpPr>
        <p:spPr>
          <a:xfrm>
            <a:off x="1969957" y="305088"/>
            <a:ext cx="2168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Servidor FOG</a:t>
            </a:r>
            <a:endParaRPr lang="en-US" sz="24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EEA55E-B122-4E0B-925E-40D6C39454F5}"/>
              </a:ext>
            </a:extLst>
          </p:cNvPr>
          <p:cNvSpPr/>
          <p:nvPr/>
        </p:nvSpPr>
        <p:spPr>
          <a:xfrm>
            <a:off x="3000529" y="1078969"/>
            <a:ext cx="2276009" cy="2862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Repositorio de imágenes (S.O.)</a:t>
            </a:r>
            <a:endParaRPr lang="en-U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9742C7-E7DA-1E6E-DA82-1CD46066B294}"/>
              </a:ext>
            </a:extLst>
          </p:cNvPr>
          <p:cNvSpPr/>
          <p:nvPr/>
        </p:nvSpPr>
        <p:spPr>
          <a:xfrm>
            <a:off x="543386" y="1078969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Servicio Web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(Apache, PHP)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8C0B75-75D7-0D53-A4D1-122FB83DE645}"/>
              </a:ext>
            </a:extLst>
          </p:cNvPr>
          <p:cNvSpPr/>
          <p:nvPr/>
        </p:nvSpPr>
        <p:spPr>
          <a:xfrm>
            <a:off x="543386" y="1722518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Base de datos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(Inventario, </a:t>
            </a:r>
            <a:r>
              <a:rPr lang="es-ES" dirty="0" err="1">
                <a:solidFill>
                  <a:schemeClr val="tx1"/>
                </a:solidFill>
              </a:rPr>
              <a:t>MACs</a:t>
            </a:r>
            <a:r>
              <a:rPr lang="es-ES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479919A-0E3B-FEC3-99CC-7AD50F39B031}"/>
              </a:ext>
            </a:extLst>
          </p:cNvPr>
          <p:cNvSpPr/>
          <p:nvPr/>
        </p:nvSpPr>
        <p:spPr>
          <a:xfrm>
            <a:off x="543386" y="2470968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Servidor TFTP-PXE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C0ECEE2-5074-122D-D58C-781D9F5E5476}"/>
              </a:ext>
            </a:extLst>
          </p:cNvPr>
          <p:cNvSpPr/>
          <p:nvPr/>
        </p:nvSpPr>
        <p:spPr>
          <a:xfrm>
            <a:off x="543386" y="3175836"/>
            <a:ext cx="2276008" cy="7655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Scripts 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Post-</a:t>
            </a:r>
            <a:r>
              <a:rPr lang="es-ES" dirty="0" err="1">
                <a:solidFill>
                  <a:schemeClr val="tx1"/>
                </a:solidFill>
              </a:rPr>
              <a:t>Despligue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BBC052BB-6511-709D-3CE5-7D50067BD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5" y="5069811"/>
            <a:ext cx="1568877" cy="156887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9008072-2DF6-F45A-8055-3E8ADBCEDD64}"/>
              </a:ext>
            </a:extLst>
          </p:cNvPr>
          <p:cNvSpPr txBox="1"/>
          <p:nvPr/>
        </p:nvSpPr>
        <p:spPr>
          <a:xfrm>
            <a:off x="908312" y="5448845"/>
            <a:ext cx="91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PC Prueba</a:t>
            </a:r>
            <a:endParaRPr lang="en-US" sz="1600" b="1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7800924-230C-9DC1-BEFF-9DF24953961C}"/>
              </a:ext>
            </a:extLst>
          </p:cNvPr>
          <p:cNvCxnSpPr/>
          <p:nvPr/>
        </p:nvCxnSpPr>
        <p:spPr>
          <a:xfrm>
            <a:off x="1289154" y="4272197"/>
            <a:ext cx="0" cy="797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05150BB4-D03B-1446-17F3-D34E3018574B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969957" y="3941347"/>
            <a:ext cx="2168577" cy="17998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862DB97-DA08-D3D1-51F0-74703EFD1067}"/>
              </a:ext>
            </a:extLst>
          </p:cNvPr>
          <p:cNvSpPr txBox="1"/>
          <p:nvPr/>
        </p:nvSpPr>
        <p:spPr>
          <a:xfrm>
            <a:off x="1681390" y="4607130"/>
            <a:ext cx="2162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Captura de Imagen</a:t>
            </a:r>
            <a:endParaRPr lang="en-US" b="1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0A3EA41-750B-7DD3-E063-3198DC46124B}"/>
              </a:ext>
            </a:extLst>
          </p:cNvPr>
          <p:cNvSpPr/>
          <p:nvPr/>
        </p:nvSpPr>
        <p:spPr>
          <a:xfrm>
            <a:off x="8538148" y="305088"/>
            <a:ext cx="3367790" cy="25192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b="1" dirty="0" err="1">
                <a:solidFill>
                  <a:schemeClr val="tx1"/>
                </a:solidFill>
              </a:rPr>
              <a:t>Subnet</a:t>
            </a:r>
            <a:r>
              <a:rPr lang="es-ES" b="1" dirty="0">
                <a:solidFill>
                  <a:schemeClr val="tx1"/>
                </a:solidFill>
              </a:rPr>
              <a:t> 172.16.40.0/24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1DA80A8A-5469-F462-B00F-3B5425FCC0E6}"/>
              </a:ext>
            </a:extLst>
          </p:cNvPr>
          <p:cNvSpPr/>
          <p:nvPr/>
        </p:nvSpPr>
        <p:spPr>
          <a:xfrm>
            <a:off x="8538148" y="3056650"/>
            <a:ext cx="3367790" cy="25192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b="1" dirty="0" err="1">
                <a:solidFill>
                  <a:schemeClr val="tx1"/>
                </a:solidFill>
              </a:rPr>
              <a:t>Subnet</a:t>
            </a:r>
            <a:r>
              <a:rPr lang="es-ES" b="1" dirty="0">
                <a:solidFill>
                  <a:schemeClr val="tx1"/>
                </a:solidFill>
              </a:rPr>
              <a:t> 172.16.20.0/24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33" name="Imagen 32" descr="Forma&#10;&#10;El contenido generado por IA puede ser incorrecto.">
            <a:extLst>
              <a:ext uri="{FF2B5EF4-FFF2-40B4-BE49-F238E27FC236}">
                <a16:creationId xmlns:a16="http://schemas.microsoft.com/office/drawing/2014/main" id="{ABD596CC-D9F8-FC1C-8838-26CB5C1F9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452" y="1371810"/>
            <a:ext cx="1465288" cy="1465288"/>
          </a:xfrm>
          <a:prstGeom prst="rect">
            <a:avLst/>
          </a:prstGeom>
        </p:spPr>
      </p:pic>
      <p:pic>
        <p:nvPicPr>
          <p:cNvPr id="36" name="Imagen 35" descr="Forma&#10;&#10;El contenido generado por IA puede ser incorrecto.">
            <a:extLst>
              <a:ext uri="{FF2B5EF4-FFF2-40B4-BE49-F238E27FC236}">
                <a16:creationId xmlns:a16="http://schemas.microsoft.com/office/drawing/2014/main" id="{562900CB-A6FC-743E-A3DA-06513A13C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043" y="1382006"/>
            <a:ext cx="1465288" cy="1465288"/>
          </a:xfrm>
          <a:prstGeom prst="rect">
            <a:avLst/>
          </a:prstGeom>
        </p:spPr>
      </p:pic>
      <p:pic>
        <p:nvPicPr>
          <p:cNvPr id="37" name="Imagen 36" descr="Forma&#10;&#10;El contenido generado por IA puede ser incorrecto.">
            <a:extLst>
              <a:ext uri="{FF2B5EF4-FFF2-40B4-BE49-F238E27FC236}">
                <a16:creationId xmlns:a16="http://schemas.microsoft.com/office/drawing/2014/main" id="{D3BA5200-E6FD-B6B8-A391-62994DF3C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975" y="4050407"/>
            <a:ext cx="1465288" cy="1465288"/>
          </a:xfrm>
          <a:prstGeom prst="rect">
            <a:avLst/>
          </a:prstGeom>
        </p:spPr>
      </p:pic>
      <p:pic>
        <p:nvPicPr>
          <p:cNvPr id="38" name="Imagen 37" descr="Forma&#10;&#10;El contenido generado por IA puede ser incorrecto.">
            <a:extLst>
              <a:ext uri="{FF2B5EF4-FFF2-40B4-BE49-F238E27FC236}">
                <a16:creationId xmlns:a16="http://schemas.microsoft.com/office/drawing/2014/main" id="{7D63C6E1-8E11-9E16-1DF4-0C60BAB2A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566" y="4060603"/>
            <a:ext cx="1465288" cy="1465288"/>
          </a:xfrm>
          <a:prstGeom prst="rect">
            <a:avLst/>
          </a:prstGeom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31F67F5-095D-ED82-74A2-B83AA8F92686}"/>
              </a:ext>
            </a:extLst>
          </p:cNvPr>
          <p:cNvCxnSpPr/>
          <p:nvPr/>
        </p:nvCxnSpPr>
        <p:spPr>
          <a:xfrm>
            <a:off x="5771213" y="1722518"/>
            <a:ext cx="2766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7BDBA11E-2E91-C302-EB80-77154C696188}"/>
              </a:ext>
            </a:extLst>
          </p:cNvPr>
          <p:cNvCxnSpPr>
            <a:endCxn id="31" idx="1"/>
          </p:cNvCxnSpPr>
          <p:nvPr/>
        </p:nvCxnSpPr>
        <p:spPr>
          <a:xfrm>
            <a:off x="5771213" y="2763809"/>
            <a:ext cx="2766935" cy="15524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C382D03-26BD-0BFE-8358-24DC3A64EC29}"/>
              </a:ext>
            </a:extLst>
          </p:cNvPr>
          <p:cNvSpPr txBox="1"/>
          <p:nvPr/>
        </p:nvSpPr>
        <p:spPr>
          <a:xfrm>
            <a:off x="5904252" y="1197340"/>
            <a:ext cx="276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Despliegue de imagen</a:t>
            </a:r>
            <a:endParaRPr lang="en-US" b="1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68AFAC8-0F2C-2D41-0E8F-61E236D98502}"/>
              </a:ext>
            </a:extLst>
          </p:cNvPr>
          <p:cNvSpPr txBox="1"/>
          <p:nvPr/>
        </p:nvSpPr>
        <p:spPr>
          <a:xfrm>
            <a:off x="5880517" y="1983008"/>
            <a:ext cx="264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PXE, </a:t>
            </a:r>
            <a:r>
              <a:rPr lang="es-ES" b="1" dirty="0" err="1"/>
              <a:t>Multicast</a:t>
            </a:r>
            <a:r>
              <a:rPr lang="es-ES" b="1" dirty="0"/>
              <a:t>, </a:t>
            </a:r>
            <a:r>
              <a:rPr lang="es-ES" b="1" dirty="0" err="1"/>
              <a:t>WakeOnLAN</a:t>
            </a:r>
            <a:endParaRPr lang="en-US" b="1" dirty="0"/>
          </a:p>
        </p:txBody>
      </p:sp>
      <p:pic>
        <p:nvPicPr>
          <p:cNvPr id="48" name="Imagen 47" descr="Texto&#10;&#10;El contenido generado por IA puede ser incorrecto.">
            <a:extLst>
              <a:ext uri="{FF2B5EF4-FFF2-40B4-BE49-F238E27FC236}">
                <a16:creationId xmlns:a16="http://schemas.microsoft.com/office/drawing/2014/main" id="{6C32972D-7D1C-25BC-2067-25004C23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35" y="5272381"/>
            <a:ext cx="1568877" cy="156887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84FD50C0-0556-EBB2-6098-9D45FA7B9111}"/>
              </a:ext>
            </a:extLst>
          </p:cNvPr>
          <p:cNvSpPr txBox="1"/>
          <p:nvPr/>
        </p:nvSpPr>
        <p:spPr>
          <a:xfrm>
            <a:off x="6144717" y="5500299"/>
            <a:ext cx="100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/>
              <a:t>Admin</a:t>
            </a:r>
            <a:r>
              <a:rPr lang="es-ES" sz="1600" b="1" dirty="0"/>
              <a:t> –</a:t>
            </a:r>
          </a:p>
          <a:p>
            <a:r>
              <a:rPr lang="es-ES" sz="1600" b="1" dirty="0"/>
              <a:t>Servicio Web</a:t>
            </a:r>
            <a:endParaRPr lang="en-US" sz="1600" b="1" dirty="0"/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F73760C3-D4F9-2B38-E489-DF53435E5CFB}"/>
              </a:ext>
            </a:extLst>
          </p:cNvPr>
          <p:cNvCxnSpPr>
            <a:cxnSpLocks/>
            <a:stCxn id="6" idx="2"/>
            <a:endCxn id="48" idx="0"/>
          </p:cNvCxnSpPr>
          <p:nvPr/>
        </p:nvCxnSpPr>
        <p:spPr>
          <a:xfrm rot="16200000" flipH="1">
            <a:off x="4612137" y="3467744"/>
            <a:ext cx="1331034" cy="227824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6C92887-AAF7-162F-4BE0-0A58E8F38DD7}"/>
              </a:ext>
            </a:extLst>
          </p:cNvPr>
          <p:cNvSpPr txBox="1"/>
          <p:nvPr/>
        </p:nvSpPr>
        <p:spPr>
          <a:xfrm>
            <a:off x="4688120" y="4903048"/>
            <a:ext cx="178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Administración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199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EB1D6-24C7-AC87-68B3-A44E23A0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B78C83-0A96-CB25-4633-F0AB3961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Requerimientos clave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930635F2-47BD-97B7-2A2F-D01BB055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600"/>
              <a:t>Captura de imágenes desde equipos de referencia (Equipo físico o VM).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/>
              <a:t>Almacenamiento y gestión de las imágenes en un repositorio centralizado.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/>
              <a:t>Despliegue masivo de imágenes a equipos mediante PXE, localizados en </a:t>
            </a:r>
            <a:r>
              <a:rPr lang="es-ES" sz="2600" err="1"/>
              <a:t>subnets</a:t>
            </a:r>
            <a:r>
              <a:rPr lang="es-ES" sz="2600"/>
              <a:t> diferentes a la del servidor central.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/>
              <a:t>Base de datos con </a:t>
            </a:r>
            <a:r>
              <a:rPr lang="es-ES" sz="2600" err="1"/>
              <a:t>MACs</a:t>
            </a:r>
            <a:r>
              <a:rPr lang="es-ES" sz="2600"/>
              <a:t> de los equipos para poder llevar a cabo encendidos </a:t>
            </a:r>
            <a:r>
              <a:rPr lang="es-ES" sz="2600" err="1"/>
              <a:t>WakeOnLan</a:t>
            </a:r>
            <a:r>
              <a:rPr lang="es-ES" sz="260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/>
              <a:t>Integración de mecanismos de automatización </a:t>
            </a:r>
            <a:r>
              <a:rPr lang="es-ES" sz="2600" err="1"/>
              <a:t>post-despliegue</a:t>
            </a:r>
            <a:r>
              <a:rPr lang="es-ES" sz="2600"/>
              <a:t> (scripts).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93394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C9C14-3D6D-C182-856E-67E5AA21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9A48BA-55E2-D5BB-1059-98049A800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Estructura de trabajo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1AEF9-C450-60DC-3CE5-9AECE1860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72" y="591344"/>
            <a:ext cx="7826608" cy="5585619"/>
          </a:xfrm>
        </p:spPr>
        <p:txBody>
          <a:bodyPr anchor="ctr">
            <a:normAutofit/>
          </a:bodyPr>
          <a:lstStyle/>
          <a:p>
            <a:pPr lvl="1"/>
            <a:r>
              <a:rPr lang="es-ES" dirty="0"/>
              <a:t>Git:</a:t>
            </a:r>
          </a:p>
          <a:p>
            <a:pPr lvl="2"/>
            <a:r>
              <a:rPr lang="es-ES" dirty="0"/>
              <a:t>“</a:t>
            </a:r>
            <a:r>
              <a:rPr lang="es-ES" dirty="0" err="1"/>
              <a:t>main</a:t>
            </a:r>
            <a:r>
              <a:rPr lang="es-ES" dirty="0"/>
              <a:t>”: para entregas finales y versiones estables.</a:t>
            </a:r>
          </a:p>
          <a:p>
            <a:pPr lvl="2"/>
            <a:r>
              <a:rPr lang="es-ES" dirty="0"/>
              <a:t>“</a:t>
            </a:r>
            <a:r>
              <a:rPr lang="es-ES" dirty="0" err="1"/>
              <a:t>dev</a:t>
            </a:r>
            <a:r>
              <a:rPr lang="es-ES" dirty="0"/>
              <a:t>”: en curos o periodo de prueba.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Sistema “Kanban”:  </a:t>
            </a:r>
            <a:r>
              <a:rPr lang="es-ES" dirty="0"/>
              <a:t>“cosas que hacer”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”haciendo”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“terminado”.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Buenas prácticas y estándares internos:</a:t>
            </a:r>
          </a:p>
          <a:p>
            <a:pPr lvl="2"/>
            <a:r>
              <a:rPr lang="es-ES" dirty="0"/>
              <a:t>Seguridad:  SSH (limite de sesiones), contraseñas seguras, etc.</a:t>
            </a:r>
          </a:p>
          <a:p>
            <a:pPr lvl="2"/>
            <a:r>
              <a:rPr lang="es-ES" dirty="0"/>
              <a:t>Copias de seguridad: documentación y configuraciones clave.</a:t>
            </a:r>
          </a:p>
          <a:p>
            <a:pPr lvl="2"/>
            <a:r>
              <a:rPr lang="es-ES" dirty="0"/>
              <a:t>Realizar validación previa antes de subir a “</a:t>
            </a:r>
            <a:r>
              <a:rPr lang="es-ES" dirty="0" err="1"/>
              <a:t>main</a:t>
            </a:r>
            <a:r>
              <a:rPr lang="es-ES" dirty="0"/>
              <a:t>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12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B9DC6-8571-E833-D88B-A0B4BCE4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186DD0-DEE3-5F49-C6E3-98B81764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Cronograma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7857B48E-AE96-514C-0379-7E61B5CA8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24242"/>
            <a:ext cx="11548872" cy="320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54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279</Words>
  <Application>Microsoft Office PowerPoint</Application>
  <PresentationFormat>Panorámica</PresentationFormat>
  <Paragraphs>48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Tema de Office</vt:lpstr>
      <vt:lpstr>Solución de captura y despliegue de sistemas operativos en múltiples equipos basado en FOG Project</vt:lpstr>
      <vt:lpstr>Necesidad</vt:lpstr>
      <vt:lpstr>Propuesta</vt:lpstr>
      <vt:lpstr>Requerimientos clave</vt:lpstr>
      <vt:lpstr>Estructura de trabajo</vt:lpstr>
      <vt:lpstr>Cronograma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18</cp:revision>
  <dcterms:created xsi:type="dcterms:W3CDTF">2025-11-22T21:50:14Z</dcterms:created>
  <dcterms:modified xsi:type="dcterms:W3CDTF">2025-11-23T10:21:52Z</dcterms:modified>
</cp:coreProperties>
</file>