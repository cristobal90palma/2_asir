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0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2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3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77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14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56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8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6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5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97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1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02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EFC66C0C-8E71-1D49-CA9B-5B766637C9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A759D6-5318-4521-C5BC-39F08A557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32032"/>
            <a:ext cx="6900839" cy="2736390"/>
          </a:xfrm>
        </p:spPr>
        <p:txBody>
          <a:bodyPr anchor="t"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Análisis de Riesgos en Contextos Reales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3377C9-8B55-2D5F-B9E6-1B7C55B26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6565" y="4201721"/>
            <a:ext cx="4986084" cy="1949813"/>
          </a:xfrm>
        </p:spPr>
        <p:txBody>
          <a:bodyPr anchor="b">
            <a:normAutofit/>
          </a:bodyPr>
          <a:lstStyle/>
          <a:p>
            <a:pPr algn="r"/>
            <a:r>
              <a:rPr lang="es-ES" dirty="0">
                <a:solidFill>
                  <a:srgbClr val="FFFFFF"/>
                </a:solidFill>
              </a:rPr>
              <a:t>Cristóbal Suárez Abad</a:t>
            </a:r>
          </a:p>
          <a:p>
            <a:pPr algn="r"/>
            <a:r>
              <a:rPr lang="es-ES" dirty="0">
                <a:solidFill>
                  <a:srgbClr val="FFFFFF"/>
                </a:solidFill>
              </a:rPr>
              <a:t>Seguridad y Alta Disponibilidad</a:t>
            </a:r>
          </a:p>
          <a:p>
            <a:pPr algn="r"/>
            <a:r>
              <a:rPr lang="es-ES" dirty="0">
                <a:solidFill>
                  <a:srgbClr val="FFFFFF"/>
                </a:solidFill>
              </a:rPr>
              <a:t>2º ASIR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26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237C6-115E-B196-EF1B-A2B54984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21AC99-6E69-59FD-51A0-F237F307E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5810B8-826B-00C0-1A6C-83D6571F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6FB99BAE-04CA-5ECA-7FC5-CDFFD132B6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3B14B9F1-0DC5-BA2B-BD11-FC7F88897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6565" y="4201721"/>
            <a:ext cx="4986084" cy="1949813"/>
          </a:xfrm>
        </p:spPr>
        <p:txBody>
          <a:bodyPr anchor="b">
            <a:normAutofit fontScale="92500" lnSpcReduction="20000"/>
          </a:bodyPr>
          <a:lstStyle/>
          <a:p>
            <a:pPr algn="r"/>
            <a:r>
              <a:rPr lang="es-ES" sz="2600" dirty="0">
                <a:solidFill>
                  <a:schemeClr val="bg1"/>
                </a:solidFill>
              </a:rPr>
              <a:t>Los alumnos son nuevos en el campo de la informática y no deberían representar una amenaza (al menos de manera intencionada), aunque si pueden provocar daños por desconocimiento. </a:t>
            </a:r>
            <a:endParaRPr lang="en-US" sz="2600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9FBB2E-EED4-931F-C575-94E2617F0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5AE6B7-1E6D-2CC3-460A-2310E2199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ítulo 5">
            <a:extLst>
              <a:ext uri="{FF2B5EF4-FFF2-40B4-BE49-F238E27FC236}">
                <a16:creationId xmlns:a16="http://schemas.microsoft.com/office/drawing/2014/main" id="{8E299319-1546-3829-7A8E-9F7B23EE6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06460"/>
            <a:ext cx="7687039" cy="2531555"/>
          </a:xfrm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Contexto: Clase de Informática para Principiantes impartida en dependencias del Ayuntamiento.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996E4-BFF5-DBFF-1EFE-BD0B025C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ADFEC6-6BB4-82D9-6573-9D216EB6A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31CCCB-BC3F-6D2A-53DC-1AB318BF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660B799B-E5DE-479F-2EB8-2D05F2ED93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DB848D-7140-7F45-3AD2-968C4B753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50F309-37F9-533A-A12C-64D6474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ítulo 5">
            <a:extLst>
              <a:ext uri="{FF2B5EF4-FFF2-40B4-BE49-F238E27FC236}">
                <a16:creationId xmlns:a16="http://schemas.microsoft.com/office/drawing/2014/main" id="{2315AEEA-F3BD-E4B5-730D-DA62E11F4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06460"/>
            <a:ext cx="7687039" cy="2531555"/>
          </a:xfrm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Vulnerabilidades:</a:t>
            </a:r>
            <a:br>
              <a:rPr lang="es-ES" sz="2800" dirty="0">
                <a:solidFill>
                  <a:schemeClr val="bg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92CDAB-165A-312A-2DA3-6A2292F701E4}"/>
              </a:ext>
            </a:extLst>
          </p:cNvPr>
          <p:cNvSpPr txBox="1"/>
          <p:nvPr/>
        </p:nvSpPr>
        <p:spPr>
          <a:xfrm>
            <a:off x="479552" y="1297832"/>
            <a:ext cx="998358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s-ES" sz="2600" dirty="0">
                <a:solidFill>
                  <a:schemeClr val="bg1"/>
                </a:solidFill>
              </a:rPr>
              <a:t>Configuración de equipos: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solidFill>
                  <a:schemeClr val="bg1"/>
                </a:solidFill>
              </a:rPr>
              <a:t>Cuentas de </a:t>
            </a:r>
            <a:r>
              <a:rPr lang="en-US" sz="2600" dirty="0" err="1">
                <a:solidFill>
                  <a:schemeClr val="bg1"/>
                </a:solidFill>
              </a:rPr>
              <a:t>Administrador</a:t>
            </a:r>
            <a:r>
              <a:rPr lang="en-US" sz="2600" dirty="0">
                <a:solidFill>
                  <a:schemeClr val="bg1"/>
                </a:solidFill>
              </a:rPr>
              <a:t> al </a:t>
            </a:r>
            <a:r>
              <a:rPr lang="en-US" sz="2600" dirty="0" err="1">
                <a:solidFill>
                  <a:schemeClr val="bg1"/>
                </a:solidFill>
              </a:rPr>
              <a:t>alcance</a:t>
            </a:r>
            <a:r>
              <a:rPr lang="en-US" sz="2600" dirty="0">
                <a:solidFill>
                  <a:schemeClr val="bg1"/>
                </a:solidFill>
              </a:rPr>
              <a:t> de </a:t>
            </a:r>
            <a:r>
              <a:rPr lang="en-US" sz="2600" dirty="0" err="1">
                <a:solidFill>
                  <a:schemeClr val="bg1"/>
                </a:solidFill>
              </a:rPr>
              <a:t>cualquier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usuario</a:t>
            </a:r>
            <a:r>
              <a:rPr lang="en-US" sz="2600" dirty="0">
                <a:solidFill>
                  <a:schemeClr val="bg1"/>
                </a:solidFill>
              </a:rPr>
              <a:t> (</a:t>
            </a:r>
            <a:r>
              <a:rPr lang="en-US" sz="2600" dirty="0" err="1">
                <a:solidFill>
                  <a:schemeClr val="bg1"/>
                </a:solidFill>
              </a:rPr>
              <a:t>instalación</a:t>
            </a:r>
            <a:r>
              <a:rPr lang="en-US" sz="2600" dirty="0">
                <a:solidFill>
                  <a:schemeClr val="bg1"/>
                </a:solidFill>
              </a:rPr>
              <a:t> de software no </a:t>
            </a:r>
            <a:r>
              <a:rPr lang="en-US" sz="2600" dirty="0" err="1">
                <a:solidFill>
                  <a:schemeClr val="bg1"/>
                </a:solidFill>
              </a:rPr>
              <a:t>autorizado</a:t>
            </a:r>
            <a:r>
              <a:rPr lang="en-US" sz="2600" dirty="0">
                <a:solidFill>
                  <a:schemeClr val="bg1"/>
                </a:solidFill>
              </a:rPr>
              <a:t>, </a:t>
            </a:r>
            <a:r>
              <a:rPr lang="en-US" sz="2600" dirty="0" err="1">
                <a:solidFill>
                  <a:schemeClr val="bg1"/>
                </a:solidFill>
              </a:rPr>
              <a:t>etc</a:t>
            </a:r>
            <a:r>
              <a:rPr lang="en-US" sz="2600" dirty="0">
                <a:solidFill>
                  <a:schemeClr val="bg1"/>
                </a:solidFill>
              </a:rPr>
              <a:t>).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solidFill>
                  <a:schemeClr val="bg1"/>
                </a:solidFill>
              </a:rPr>
              <a:t>Firewall </a:t>
            </a:r>
            <a:r>
              <a:rPr lang="en-US" sz="2600" dirty="0" err="1">
                <a:solidFill>
                  <a:schemeClr val="bg1"/>
                </a:solidFill>
              </a:rPr>
              <a:t>abierto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solidFill>
                  <a:schemeClr val="bg1"/>
                </a:solidFill>
              </a:rPr>
              <a:t>S.O. y </a:t>
            </a:r>
            <a:r>
              <a:rPr lang="en-US" sz="2600" dirty="0" err="1">
                <a:solidFill>
                  <a:schemeClr val="bg1"/>
                </a:solidFill>
              </a:rPr>
              <a:t>programas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obsoletos</a:t>
            </a:r>
            <a:r>
              <a:rPr lang="en-US" sz="2600" dirty="0">
                <a:solidFill>
                  <a:schemeClr val="bg1"/>
                </a:solidFill>
              </a:rPr>
              <a:t>/</a:t>
            </a:r>
            <a:r>
              <a:rPr lang="en-US" sz="2600" dirty="0" err="1">
                <a:solidFill>
                  <a:schemeClr val="bg1"/>
                </a:solidFill>
              </a:rPr>
              <a:t>desactualizados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solidFill>
                  <a:schemeClr val="bg1"/>
                </a:solidFill>
              </a:rPr>
              <a:t>Falta de antivirus.</a:t>
            </a:r>
          </a:p>
          <a:p>
            <a:r>
              <a:rPr lang="es-ES" sz="2800" dirty="0">
                <a:solidFill>
                  <a:schemeClr val="bg1"/>
                </a:solidFill>
              </a:rPr>
              <a:t>2. Accesibilidad a elementos físicos:</a:t>
            </a:r>
          </a:p>
          <a:p>
            <a:pPr marL="457200" indent="-457200">
              <a:buFontTx/>
              <a:buChar char="-"/>
            </a:pPr>
            <a:r>
              <a:rPr lang="es-ES" sz="2800" dirty="0">
                <a:solidFill>
                  <a:schemeClr val="bg1"/>
                </a:solidFill>
              </a:rPr>
              <a:t>Puertos: USB y Ethernet.</a:t>
            </a:r>
          </a:p>
          <a:p>
            <a:pPr marL="457200" indent="-457200">
              <a:buFontTx/>
              <a:buChar char="-"/>
            </a:pPr>
            <a:r>
              <a:rPr lang="es-ES" sz="2800" dirty="0">
                <a:solidFill>
                  <a:schemeClr val="bg1"/>
                </a:solidFill>
              </a:rPr>
              <a:t>Equipo informático sin sistemas de seguridad físico (candados y cerraduras)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6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56354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450F9-B43A-2EB0-6E17-8A48BEC8C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2D8D7D-2264-0418-65EA-1A1B8BB33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6544BF-A130-364C-138B-E2B33518D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3CC4342E-8504-1B55-3289-725BF99A32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AD9B47-6B9D-5291-247E-F49038382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E63F39-8DA8-93ED-6077-CDA6E089E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ítulo 5">
            <a:extLst>
              <a:ext uri="{FF2B5EF4-FFF2-40B4-BE49-F238E27FC236}">
                <a16:creationId xmlns:a16="http://schemas.microsoft.com/office/drawing/2014/main" id="{D518F315-BBA9-8A9D-ACBE-C9A21F744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06460"/>
            <a:ext cx="7687039" cy="2531555"/>
          </a:xfrm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Vulnerabilidades:</a:t>
            </a:r>
            <a:br>
              <a:rPr lang="es-ES" sz="2800" dirty="0">
                <a:solidFill>
                  <a:schemeClr val="bg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DB84D2-1D41-6851-53E9-62F677C95964}"/>
              </a:ext>
            </a:extLst>
          </p:cNvPr>
          <p:cNvSpPr txBox="1"/>
          <p:nvPr/>
        </p:nvSpPr>
        <p:spPr>
          <a:xfrm>
            <a:off x="479552" y="1297832"/>
            <a:ext cx="99835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3. Falta de concienciación de los usuarios: 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Los alumnos son presa fácil de fraudes de ingeniería social.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Desconocen riesgos de malware y la necesidad de contraseñas seguras para sus cuentas.</a:t>
            </a:r>
          </a:p>
          <a:p>
            <a:r>
              <a:rPr lang="es-ES" sz="2600" dirty="0">
                <a:solidFill>
                  <a:schemeClr val="bg1"/>
                </a:solidFill>
              </a:rPr>
              <a:t>4. Red compartida: </a:t>
            </a:r>
          </a:p>
          <a:p>
            <a:r>
              <a:rPr lang="es-ES" sz="2600" dirty="0">
                <a:solidFill>
                  <a:schemeClr val="bg1"/>
                </a:solidFill>
              </a:rPr>
              <a:t>- La red </a:t>
            </a:r>
            <a:r>
              <a:rPr lang="es-ES" sz="2600" dirty="0" err="1">
                <a:solidFill>
                  <a:schemeClr val="bg1"/>
                </a:solidFill>
              </a:rPr>
              <a:t>WiFi</a:t>
            </a:r>
            <a:r>
              <a:rPr lang="es-ES" sz="2600" dirty="0">
                <a:solidFill>
                  <a:schemeClr val="bg1"/>
                </a:solidFill>
              </a:rPr>
              <a:t> o cableada es la misma que usa el personal municipal para otras tareas, sin segmentación.</a:t>
            </a:r>
          </a:p>
          <a:p>
            <a:pPr marL="457200" indent="-457200">
              <a:buFontTx/>
              <a:buChar char="-"/>
            </a:pPr>
            <a:endParaRPr lang="en-US" sz="26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0624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1AED1-994D-8B28-6B3B-E275632E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514938-540D-BA29-45C4-A5BF42906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E68054-C01B-A639-F6C0-8DA1160EF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387FBC9A-42FE-426F-6868-E9222DF179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6479D6-344D-E868-9DE7-242C3A965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83B912-6EB0-39F3-3C1F-8D2CC322F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ítulo 5">
            <a:extLst>
              <a:ext uri="{FF2B5EF4-FFF2-40B4-BE49-F238E27FC236}">
                <a16:creationId xmlns:a16="http://schemas.microsoft.com/office/drawing/2014/main" id="{25EAD524-E9AB-0BC3-A9DA-0CDFA8E53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06460"/>
            <a:ext cx="7687039" cy="2531555"/>
          </a:xfrm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Amenazas:</a:t>
            </a:r>
            <a:br>
              <a:rPr lang="es-ES" sz="2800" dirty="0">
                <a:solidFill>
                  <a:schemeClr val="bg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75AA2D-4FB7-9D22-101B-702B09710BE2}"/>
              </a:ext>
            </a:extLst>
          </p:cNvPr>
          <p:cNvSpPr txBox="1"/>
          <p:nvPr/>
        </p:nvSpPr>
        <p:spPr>
          <a:xfrm>
            <a:off x="479552" y="1297832"/>
            <a:ext cx="9983582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s-ES" sz="2600" dirty="0">
                <a:solidFill>
                  <a:schemeClr val="bg1"/>
                </a:solidFill>
              </a:rPr>
              <a:t>Amenaza Externa: 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Atacante aprovecha fallos de seguridad en </a:t>
            </a:r>
            <a:r>
              <a:rPr lang="es-ES" sz="2600" dirty="0" err="1">
                <a:solidFill>
                  <a:schemeClr val="bg1"/>
                </a:solidFill>
              </a:rPr>
              <a:t>PCs</a:t>
            </a:r>
            <a:r>
              <a:rPr lang="es-ES" sz="2600" dirty="0">
                <a:solidFill>
                  <a:schemeClr val="bg1"/>
                </a:solidFill>
              </a:rPr>
              <a:t> del aula y falta de firewall para acceder a la red interna del Ayuntamiento.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Robo de material fuera del horario lectivo.</a:t>
            </a:r>
          </a:p>
          <a:p>
            <a:pPr marL="514350" indent="-514350">
              <a:buAutoNum type="arabicPeriod" startAt="2"/>
            </a:pPr>
            <a:r>
              <a:rPr lang="es-ES" sz="2600" dirty="0">
                <a:solidFill>
                  <a:schemeClr val="bg1"/>
                </a:solidFill>
              </a:rPr>
              <a:t>Amenaza Interna: </a:t>
            </a:r>
          </a:p>
          <a:p>
            <a:pPr marL="457200" indent="-457200">
              <a:buFontTx/>
              <a:buChar char="-"/>
            </a:pPr>
            <a:r>
              <a:rPr lang="es-ES" sz="2600" dirty="0" err="1">
                <a:solidFill>
                  <a:schemeClr val="bg1"/>
                </a:solidFill>
              </a:rPr>
              <a:t>USBs</a:t>
            </a:r>
            <a:r>
              <a:rPr lang="es-ES" sz="2600" dirty="0">
                <a:solidFill>
                  <a:schemeClr val="bg1"/>
                </a:solidFill>
              </a:rPr>
              <a:t> con software malicioso, conexión de un equipo no autorizado.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Robo de material durante las clases.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Alumno “aventajado” se mete donde no debe.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Robo de contraseñas de compañeros.</a:t>
            </a:r>
          </a:p>
          <a:p>
            <a:pPr marL="514350" indent="-514350">
              <a:buAutoNum type="arabicPeriod"/>
            </a:pPr>
            <a:endParaRPr lang="es-ES" sz="26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6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4762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63C1A-115A-3892-7F7F-A8768FB6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395002-9469-50EA-E3DA-BD0F373CF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AF0193-E8DC-C4E9-EB9E-88A876830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B437D04E-15C3-34B1-7232-F1F3DB502A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83E38A-99B0-0D89-C681-A7E675057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B23CFB-D677-C34A-AFC3-98E310CF7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ítulo 5">
            <a:extLst>
              <a:ext uri="{FF2B5EF4-FFF2-40B4-BE49-F238E27FC236}">
                <a16:creationId xmlns:a16="http://schemas.microsoft.com/office/drawing/2014/main" id="{141E9253-6445-733A-CF3D-ED268D218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06460"/>
            <a:ext cx="7687039" cy="2531555"/>
          </a:xfrm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Contramedidas:</a:t>
            </a:r>
            <a:br>
              <a:rPr lang="es-ES" sz="2800" dirty="0">
                <a:solidFill>
                  <a:schemeClr val="bg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5688F2-2378-B0E3-3930-1C1815F5A53F}"/>
              </a:ext>
            </a:extLst>
          </p:cNvPr>
          <p:cNvSpPr txBox="1"/>
          <p:nvPr/>
        </p:nvSpPr>
        <p:spPr>
          <a:xfrm>
            <a:off x="479552" y="1297832"/>
            <a:ext cx="998358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s-ES" sz="2600" dirty="0">
                <a:solidFill>
                  <a:schemeClr val="bg1"/>
                </a:solidFill>
              </a:rPr>
              <a:t>Configuración de Equipos:</a:t>
            </a:r>
          </a:p>
          <a:p>
            <a:pPr marL="457200" indent="-457200">
              <a:buFontTx/>
              <a:buChar char="-"/>
            </a:pPr>
            <a:r>
              <a:rPr lang="en-US" sz="2600" dirty="0" err="1">
                <a:solidFill>
                  <a:schemeClr val="bg1"/>
                </a:solidFill>
              </a:rPr>
              <a:t>Perfiles</a:t>
            </a:r>
            <a:r>
              <a:rPr lang="en-US" sz="2600" dirty="0">
                <a:solidFill>
                  <a:schemeClr val="bg1"/>
                </a:solidFill>
              </a:rPr>
              <a:t> de </a:t>
            </a:r>
            <a:r>
              <a:rPr lang="en-US" sz="2600" dirty="0" err="1">
                <a:solidFill>
                  <a:schemeClr val="bg1"/>
                </a:solidFill>
              </a:rPr>
              <a:t>usuarios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restringidos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solidFill>
                  <a:schemeClr val="bg1"/>
                </a:solidFill>
              </a:rPr>
              <a:t>Cuentas de </a:t>
            </a:r>
            <a:r>
              <a:rPr lang="en-US" sz="2600" dirty="0" err="1">
                <a:solidFill>
                  <a:schemeClr val="bg1"/>
                </a:solidFill>
              </a:rPr>
              <a:t>correo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exclusivas</a:t>
            </a:r>
            <a:r>
              <a:rPr lang="en-US" sz="2600" dirty="0">
                <a:solidFill>
                  <a:schemeClr val="bg1"/>
                </a:solidFill>
              </a:rPr>
              <a:t> para </a:t>
            </a:r>
            <a:r>
              <a:rPr lang="en-US" sz="2600" dirty="0" err="1">
                <a:solidFill>
                  <a:schemeClr val="bg1"/>
                </a:solidFill>
              </a:rPr>
              <a:t>el</a:t>
            </a:r>
            <a:r>
              <a:rPr lang="en-US" sz="2600" dirty="0">
                <a:solidFill>
                  <a:schemeClr val="bg1"/>
                </a:solidFill>
              </a:rPr>
              <a:t> aula.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Software de control de aula y listas de permiso.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solidFill>
                  <a:schemeClr val="bg1"/>
                </a:solidFill>
              </a:rPr>
              <a:t>Configuración de equipos de Red: Firewall, </a:t>
            </a:r>
            <a:r>
              <a:rPr lang="es-ES" sz="2600" dirty="0" err="1">
                <a:solidFill>
                  <a:schemeClr val="bg1"/>
                </a:solidFill>
              </a:rPr>
              <a:t>VLANs</a:t>
            </a:r>
            <a:r>
              <a:rPr lang="es-ES" sz="2600" dirty="0">
                <a:solidFill>
                  <a:schemeClr val="bg1"/>
                </a:solidFill>
              </a:rPr>
              <a:t>, Switches (DTP, Port-Security y </a:t>
            </a:r>
            <a:r>
              <a:rPr lang="en-US" sz="2800" dirty="0">
                <a:solidFill>
                  <a:schemeClr val="bg1"/>
                </a:solidFill>
              </a:rPr>
              <a:t>Spanning-Tree).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solidFill>
                  <a:schemeClr val="bg1"/>
                </a:solidFill>
              </a:rPr>
              <a:t>Programación</a:t>
            </a:r>
            <a:r>
              <a:rPr lang="en-US" sz="2800" dirty="0">
                <a:solidFill>
                  <a:schemeClr val="bg1"/>
                </a:solidFill>
              </a:rPr>
              <a:t> de </a:t>
            </a:r>
            <a:r>
              <a:rPr lang="en-US" sz="2800" dirty="0" err="1">
                <a:solidFill>
                  <a:schemeClr val="bg1"/>
                </a:solidFill>
              </a:rPr>
              <a:t>actualizaciones</a:t>
            </a:r>
            <a:r>
              <a:rPr lang="en-US" sz="2800" dirty="0">
                <a:solidFill>
                  <a:schemeClr val="bg1"/>
                </a:solidFill>
              </a:rPr>
              <a:t> (S.O. y software).</a:t>
            </a:r>
          </a:p>
        </p:txBody>
      </p:sp>
    </p:spTree>
    <p:extLst>
      <p:ext uri="{BB962C8B-B14F-4D97-AF65-F5344CB8AC3E}">
        <p14:creationId xmlns:p14="http://schemas.microsoft.com/office/powerpoint/2010/main" val="3159294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7D534-8A34-8027-D457-A204AC72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C71C52-D206-5393-C278-37876C47A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FD3F10-CA99-9CC7-C610-6E8EDCFB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66767CE9-EE49-F9EA-33B7-857A217D42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33F8C9-98E4-E3D2-CDE9-39B7273F5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3FCCD2-906D-DD61-4D02-DFFA42968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ítulo 5">
            <a:extLst>
              <a:ext uri="{FF2B5EF4-FFF2-40B4-BE49-F238E27FC236}">
                <a16:creationId xmlns:a16="http://schemas.microsoft.com/office/drawing/2014/main" id="{B8B9E88C-667C-7121-3766-624651FED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06460"/>
            <a:ext cx="7687039" cy="2531555"/>
          </a:xfrm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Contramedidas:</a:t>
            </a:r>
            <a:br>
              <a:rPr lang="es-ES" sz="2800" dirty="0">
                <a:solidFill>
                  <a:schemeClr val="bg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36B4D5-4ACF-DC45-9F51-219A957AF8B9}"/>
              </a:ext>
            </a:extLst>
          </p:cNvPr>
          <p:cNvSpPr txBox="1"/>
          <p:nvPr/>
        </p:nvSpPr>
        <p:spPr>
          <a:xfrm>
            <a:off x="479552" y="1297832"/>
            <a:ext cx="9983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</a:rPr>
              <a:t>2. Seguridad Física:</a:t>
            </a:r>
          </a:p>
          <a:p>
            <a:pPr marL="457200" indent="-457200">
              <a:buFontTx/>
              <a:buChar char="-"/>
            </a:pPr>
            <a:r>
              <a:rPr lang="es-ES" sz="2800" dirty="0">
                <a:solidFill>
                  <a:schemeClr val="bg1"/>
                </a:solidFill>
              </a:rPr>
              <a:t>Bloqueo de puertos (Ethernet y USB) a nivel físico y lógico.</a:t>
            </a:r>
          </a:p>
          <a:p>
            <a:pPr marL="457200" indent="-457200">
              <a:buFontTx/>
              <a:buChar char="-"/>
            </a:pPr>
            <a:r>
              <a:rPr lang="es-ES" sz="2800" dirty="0">
                <a:solidFill>
                  <a:schemeClr val="bg1"/>
                </a:solidFill>
              </a:rPr>
              <a:t>Cajas de ordenador con agujero para candado.</a:t>
            </a:r>
          </a:p>
          <a:p>
            <a:pPr marL="457200" indent="-457200">
              <a:buFontTx/>
              <a:buChar char="-"/>
            </a:pPr>
            <a:r>
              <a:rPr lang="es-ES" sz="2800" dirty="0">
                <a:solidFill>
                  <a:schemeClr val="bg1"/>
                </a:solidFill>
              </a:rPr>
              <a:t>Seguridad en las instalaciones.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Imagen 2" descr="Una imagen de un videojuego&#10;&#10;El contenido generado por IA puede ser incorrecto.">
            <a:extLst>
              <a:ext uri="{FF2B5EF4-FFF2-40B4-BE49-F238E27FC236}">
                <a16:creationId xmlns:a16="http://schemas.microsoft.com/office/drawing/2014/main" id="{0E8B763A-0424-1793-771F-13CCE5D35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56" y="3147780"/>
            <a:ext cx="4563112" cy="3096057"/>
          </a:xfrm>
          <a:prstGeom prst="rect">
            <a:avLst/>
          </a:prstGeom>
        </p:spPr>
      </p:pic>
      <p:pic>
        <p:nvPicPr>
          <p:cNvPr id="8" name="Imagen 7" descr="Una pantalla de un celular&#10;&#10;El contenido generado por IA puede ser incorrecto.">
            <a:extLst>
              <a:ext uri="{FF2B5EF4-FFF2-40B4-BE49-F238E27FC236}">
                <a16:creationId xmlns:a16="http://schemas.microsoft.com/office/drawing/2014/main" id="{1D84228B-5AAE-B83B-D5E5-E7869B3AE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223" y="2888055"/>
            <a:ext cx="3448531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65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42560-94AA-ED87-B2EA-F9B935BE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38719FF-7B5A-1BCB-48B4-2400898C6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852956-7C95-46B8-E8BA-07797B75B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5717E756-6C89-AFD2-D795-48C4BAA2AE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28EBCD-5F2A-5299-697C-8B328F40A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FD3485-4BD4-2155-9663-FC710057B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ítulo 5">
            <a:extLst>
              <a:ext uri="{FF2B5EF4-FFF2-40B4-BE49-F238E27FC236}">
                <a16:creationId xmlns:a16="http://schemas.microsoft.com/office/drawing/2014/main" id="{33C457CC-C196-F9B3-34D9-8DFAC0665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06460"/>
            <a:ext cx="7687039" cy="2531555"/>
          </a:xfrm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Gestión del Riesgo</a:t>
            </a:r>
            <a:br>
              <a:rPr lang="es-ES" sz="2800" dirty="0">
                <a:solidFill>
                  <a:schemeClr val="bg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A63876-6C68-4D77-2103-BCBC4BE0CAD1}"/>
              </a:ext>
            </a:extLst>
          </p:cNvPr>
          <p:cNvSpPr txBox="1"/>
          <p:nvPr/>
        </p:nvSpPr>
        <p:spPr>
          <a:xfrm>
            <a:off x="479552" y="1297832"/>
            <a:ext cx="99835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Se evita el riesgo lo máximo posible en puntos como el bloqueo de puertos (USB y Ethernet).</a:t>
            </a:r>
          </a:p>
          <a:p>
            <a:endParaRPr lang="es-ES" sz="2600" dirty="0">
              <a:solidFill>
                <a:schemeClr val="bg1"/>
              </a:solidFill>
            </a:endParaRPr>
          </a:p>
          <a:p>
            <a:r>
              <a:rPr lang="es-ES" sz="2600" dirty="0">
                <a:solidFill>
                  <a:schemeClr val="bg1"/>
                </a:solidFill>
              </a:rPr>
              <a:t>También se debe evitar la vulneración de los correos personales de los alumnos.</a:t>
            </a:r>
          </a:p>
          <a:p>
            <a:endParaRPr lang="es-ES" sz="2600" dirty="0">
              <a:solidFill>
                <a:schemeClr val="bg1"/>
              </a:solidFill>
            </a:endParaRPr>
          </a:p>
          <a:p>
            <a:r>
              <a:rPr lang="es-ES" sz="2600" dirty="0">
                <a:solidFill>
                  <a:schemeClr val="bg1"/>
                </a:solidFill>
              </a:rPr>
              <a:t>Y uno de los puntos más importantes es hacer lo posible para que el aula no se convierta en una zona vulnerable desde la que se ataque a la red interna del Ayuntamiento.</a:t>
            </a:r>
            <a:endParaRPr 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424281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434</Words>
  <Application>Microsoft Office PowerPoint</Application>
  <PresentationFormat>Panorámica</PresentationFormat>
  <Paragraphs>49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Seaford</vt:lpstr>
      <vt:lpstr>LevelVTI</vt:lpstr>
      <vt:lpstr>Análisis de Riesgos en Contextos Reales</vt:lpstr>
      <vt:lpstr>Contexto: Clase de Informática para Principiantes impartida en dependencias del Ayuntamiento.  </vt:lpstr>
      <vt:lpstr>Vulnerabilidades:  </vt:lpstr>
      <vt:lpstr>Vulnerabilidades:  </vt:lpstr>
      <vt:lpstr>Amenazas:  </vt:lpstr>
      <vt:lpstr>Contramedidas:  </vt:lpstr>
      <vt:lpstr>Contramedidas:  </vt:lpstr>
      <vt:lpstr>Gestión del Riesgo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Cristóbal Suárez Abad</cp:lastModifiedBy>
  <cp:revision>25</cp:revision>
  <dcterms:created xsi:type="dcterms:W3CDTF">2025-09-24T15:52:29Z</dcterms:created>
  <dcterms:modified xsi:type="dcterms:W3CDTF">2025-09-24T16:39:16Z</dcterms:modified>
</cp:coreProperties>
</file>